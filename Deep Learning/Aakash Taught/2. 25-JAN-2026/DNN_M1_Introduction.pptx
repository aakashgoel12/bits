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presentation.xml" ContentType="application/vnd.openxmlformats-officedocument.presentationml.presentation.main+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19.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3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45762B-F1F0-45C2-B724-29F2601AAB78}">
  <a:tblStyle styleId="{E845762B-F1F0-45C2-B724-29F2601AAB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83" autoAdjust="0"/>
  </p:normalViewPr>
  <p:slideViewPr>
    <p:cSldViewPr snapToGrid="0">
      <p:cViewPr varScale="1">
        <p:scale>
          <a:sx n="99" d="100"/>
          <a:sy n="99" d="100"/>
        </p:scale>
        <p:origin x="92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44d658b016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44d658b01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44d658b016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44d658b01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44d658b016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44d658b016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each topic in 1 or 2 sentences.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44d658b016_0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44d658b016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text book is freely available for download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9986dc008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9986dc008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44d658b016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44d658b016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 the students to follow Canvas announcements for updates. Instruct that the IC will be responsible for answering all queries regarding the course.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47e828212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7e828212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44d658b016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44d658b016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Iterate that the IC will be responsible for answering all queries regarding the course.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4d658b016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4d658b016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44d658b016_0_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44d658b016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9986dc008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9986dc008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9986dc008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9986dc008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9986dc0089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9986dc008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44d658b016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44d658b016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44d658b016_0_4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44d658b016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44d658b016_0_4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44d658b016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the amount of data grows, traditional learning algo do not give better performance. Larger (means deeper) the NN, better the performance, as the amount of data grows.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4d658b016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44d658b016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 reading for the students</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44d658b016_0_4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44d658b016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44d658b016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44d658b016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Speech recognition using DNN. explain wake word like Alexa, Siri recognition where speech is the input and the app is responding to the query.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44d658b016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44d658b016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Translation of text from natural language to another where the input is textual and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44d658b016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44d658b016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and recognizing various objects in an image. The input is image. OBJECT RECOGNITION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44d658b016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44d658b016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 object recognition or object with in object.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44d658b016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44d658b016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gaming, the DNN out perform the champions. We started with DeepBlue for chess and moved on to AlphaGo.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44d658b016_0_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44d658b016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Recently Chatgpt making waves using its language models for dialogues.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986dc0089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986dc008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44d658b016_0_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44d658b016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Highlight that the input for each of the above are unstructured data like images, text, and web stream clicks. It also involves, looking for a pattern</a:t>
            </a:r>
            <a:endParaRPr/>
          </a:p>
          <a:p>
            <a:pPr marL="0" lvl="0" indent="0" algn="l" rtl="0">
              <a:spcBef>
                <a:spcPts val="0"/>
              </a:spcBef>
              <a:spcAft>
                <a:spcPts val="0"/>
              </a:spcAft>
              <a:buClr>
                <a:schemeClr val="dk1"/>
              </a:buClr>
              <a:buSzPts val="1100"/>
              <a:buFont typeface="Arial"/>
              <a:buNone/>
            </a:pPr>
            <a:r>
              <a:rPr lang="en"/>
              <a:t>that changes over time, and we need our programs to adapt. The relationship (say between pixels, and abstract categories) may be too complicated,</a:t>
            </a: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44d658b016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44d658b016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44d658b016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44d658b016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 to section 1.2. Each point is elaborated in the next slides.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4d658b016_0_3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44d658b016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We need the right data. – The data they handle might include bias (from multiple sources) which the model can capture, this can result in undesired consequences. </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4d658b016_0_4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44d658b016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44d658b016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44d658b016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Wake word is Alexa, Hey Siri, Hey Google,</a:t>
            </a:r>
            <a:endParaRPr/>
          </a:p>
          <a:p>
            <a:pPr marL="0" lvl="0" indent="0" algn="l" rtl="0">
              <a:spcBef>
                <a:spcPts val="0"/>
              </a:spcBef>
              <a:spcAft>
                <a:spcPts val="0"/>
              </a:spcAft>
              <a:buNone/>
            </a:pPr>
            <a:r>
              <a:rPr lang="en"/>
              <a:t>Another example of face recognition where input is image and output is again yes/no. Finger print recognition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44d658b016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44d658b016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take any function for which higher is better, and turn it into a new function that is qualitatively identical but for which lower is better by flipping the sign.  </a:t>
            </a:r>
            <a:endParaRPr/>
          </a:p>
          <a:p>
            <a:pPr marL="0" lvl="0" indent="0" algn="l" rtl="0">
              <a:spcBef>
                <a:spcPts val="0"/>
              </a:spcBef>
              <a:spcAft>
                <a:spcPts val="0"/>
              </a:spcAft>
              <a:buNone/>
            </a:pPr>
            <a:r>
              <a:rPr lang="en"/>
              <a:t> squared error is the square of the difference between the prediction and the ground-truth.</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44d658b016_0_4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44d658b016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44d658b016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44d658b016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we will typically want to split the available data into two partitions: the training dataset (or training set, for fitting model parameters) and the test dataset (or test set, which is held out for evaluation), reporting how the model performs on both of them. </a:t>
            </a:r>
            <a:endParaRPr/>
          </a:p>
          <a:p>
            <a:pPr marL="0" lvl="0" indent="0" algn="l" rtl="0">
              <a:spcBef>
                <a:spcPts val="0"/>
              </a:spcBef>
              <a:spcAft>
                <a:spcPts val="0"/>
              </a:spcAft>
              <a:buClr>
                <a:schemeClr val="dk1"/>
              </a:buClr>
              <a:buSzPts val="1100"/>
              <a:buFont typeface="Arial"/>
              <a:buNone/>
            </a:pPr>
            <a:r>
              <a:rPr lang="en"/>
              <a:t>You could think of training performance as being like a studentʼs scores on practice exams used to prepare for some real final exam. Even if the results are encouraging, that does not guarantee success on the final exam. In other words, the test performance can deviate significantly from the training performance.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44d658b016_0_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44d658b016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9986dc0089_0_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9986dc0089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9986dc0089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9986dc0089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986dc0089_0_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986dc0089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44d658b016_0_4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44d658b016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44d658b016_0_4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44d658b016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GAN – generative adversarial networks</a:t>
            </a:r>
            <a:endParaRPr/>
          </a:p>
          <a:p>
            <a:pPr marL="0" lvl="0" indent="0" algn="l" rtl="0">
              <a:spcBef>
                <a:spcPts val="0"/>
              </a:spcBef>
              <a:spcAft>
                <a:spcPts val="0"/>
              </a:spcAft>
              <a:buNone/>
            </a:pPr>
            <a:r>
              <a:rPr lang="en"/>
              <a:t>Supervised learning is explained in the subsequent slides.</a:t>
            </a:r>
            <a:endParaRPr/>
          </a:p>
          <a:p>
            <a:pPr marL="0" lvl="0" indent="0" algn="l" rtl="0">
              <a:spcBef>
                <a:spcPts val="0"/>
              </a:spcBef>
              <a:spcAft>
                <a:spcPts val="0"/>
              </a:spcAft>
              <a:buNone/>
            </a:pPr>
            <a:r>
              <a:rPr lang="en"/>
              <a:t>Reinforcement Learning is out of scope of this course.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44d658b016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44d658b016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44d658b016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44d658b016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44d658b016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44d658b01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d2l.ai/chapter_introduction/index.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deeplearningbook.or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mailto:seetha.p@pilani.bits-pilani.ac.i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2684575" y="2504025"/>
            <a:ext cx="6020700" cy="79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rPr>
              <a:t>Deep Neural Network</a:t>
            </a:r>
            <a:endParaRPr>
              <a:solidFill>
                <a:schemeClr val="lt1"/>
              </a:solidFill>
            </a:endParaRPr>
          </a:p>
        </p:txBody>
      </p:sp>
      <p:sp>
        <p:nvSpPr>
          <p:cNvPr id="56" name="Google Shape;56;p13"/>
          <p:cNvSpPr txBox="1">
            <a:spLocks noGrp="1"/>
          </p:cNvSpPr>
          <p:nvPr>
            <p:ph type="subTitle" idx="1"/>
          </p:nvPr>
        </p:nvSpPr>
        <p:spPr>
          <a:xfrm>
            <a:off x="2884075" y="3296625"/>
            <a:ext cx="6020700" cy="5121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
                <a:solidFill>
                  <a:schemeClr val="lt1"/>
                </a:solidFill>
              </a:rPr>
              <a:t>AIML Module 1</a:t>
            </a:r>
            <a:endParaRPr>
              <a:solidFill>
                <a:schemeClr val="lt1"/>
              </a:solidFill>
            </a:endParaRPr>
          </a:p>
        </p:txBody>
      </p:sp>
      <p:sp>
        <p:nvSpPr>
          <p:cNvPr id="57" name="Google Shape;57;p13"/>
          <p:cNvSpPr txBox="1"/>
          <p:nvPr/>
        </p:nvSpPr>
        <p:spPr>
          <a:xfrm>
            <a:off x="5316175" y="3737325"/>
            <a:ext cx="3389100" cy="923299"/>
          </a:xfrm>
          <a:prstGeom prst="rect">
            <a:avLst/>
          </a:prstGeom>
          <a:noFill/>
          <a:ln>
            <a:noFill/>
          </a:ln>
        </p:spPr>
        <p:txBody>
          <a:bodyPr spcFirstLastPara="1" wrap="square" lIns="91425" tIns="91425" rIns="91425" bIns="91425" anchor="t" anchorCtr="0">
            <a:spAutoFit/>
          </a:bodyPr>
          <a:lstStyle/>
          <a:p>
            <a:pPr marL="0" lvl="0" indent="0" algn="r" rtl="0">
              <a:lnSpc>
                <a:spcPct val="150000"/>
              </a:lnSpc>
              <a:spcBef>
                <a:spcPts val="0"/>
              </a:spcBef>
              <a:spcAft>
                <a:spcPts val="0"/>
              </a:spcAft>
              <a:buNone/>
            </a:pPr>
            <a:r>
              <a:rPr lang="en" sz="1600" dirty="0">
                <a:solidFill>
                  <a:schemeClr val="lt1"/>
                </a:solidFill>
              </a:rPr>
              <a:t>S. </a:t>
            </a:r>
            <a:r>
              <a:rPr lang="en" sz="1600">
                <a:solidFill>
                  <a:schemeClr val="lt1"/>
                </a:solidFill>
              </a:rPr>
              <a:t>Vishali</a:t>
            </a:r>
            <a:endParaRPr sz="1600" dirty="0">
              <a:solidFill>
                <a:schemeClr val="lt1"/>
              </a:solidFill>
            </a:endParaRPr>
          </a:p>
          <a:p>
            <a:pPr marL="0" lvl="0" indent="0" algn="r" rtl="0">
              <a:lnSpc>
                <a:spcPct val="150000"/>
              </a:lnSpc>
              <a:spcBef>
                <a:spcPts val="0"/>
              </a:spcBef>
              <a:spcAft>
                <a:spcPts val="0"/>
              </a:spcAft>
              <a:buNone/>
            </a:pPr>
            <a:r>
              <a:rPr lang="en" sz="1600" dirty="0">
                <a:solidFill>
                  <a:schemeClr val="lt1"/>
                </a:solidFill>
              </a:rPr>
              <a:t>BITS Pilani</a:t>
            </a:r>
            <a:endParaRPr sz="1600"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1714500" y="1448675"/>
            <a:ext cx="5688300" cy="1541700"/>
          </a:xfrm>
          <a:prstGeom prst="rect">
            <a:avLst/>
          </a:prstGeom>
        </p:spPr>
        <p:txBody>
          <a:bodyPr spcFirstLastPara="1" wrap="square" lIns="91425" tIns="91425" rIns="91425" bIns="91425" anchor="ctr" anchorCtr="0">
            <a:normAutofit/>
          </a:bodyPr>
          <a:lstStyle/>
          <a:p>
            <a:pPr marL="0" lvl="0" indent="0" algn="just" rtl="0">
              <a:lnSpc>
                <a:spcPct val="115000"/>
              </a:lnSpc>
              <a:spcBef>
                <a:spcPts val="0"/>
              </a:spcBef>
              <a:spcAft>
                <a:spcPts val="1200"/>
              </a:spcAft>
              <a:buNone/>
            </a:pPr>
            <a:r>
              <a:rPr lang="en" sz="1800">
                <a:solidFill>
                  <a:schemeClr val="dk2"/>
                </a:solidFill>
              </a:rPr>
              <a:t>The author of this deck, Prof. Seetha Parameswaran, is gratefully acknowledging the authors who made their course materials freely available online.</a:t>
            </a:r>
            <a:endParaRPr sz="1800">
              <a:solidFill>
                <a:schemeClr val="dk2"/>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Course Logistics</a:t>
            </a:r>
            <a:endParaRPr/>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Learn…. (Module Structure)</a:t>
            </a:r>
            <a:endParaRPr/>
          </a:p>
        </p:txBody>
      </p:sp>
      <p:sp>
        <p:nvSpPr>
          <p:cNvPr id="75" name="Google Shape;75;p1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Deep learning - What, Why, where</a:t>
            </a:r>
            <a:endParaRPr/>
          </a:p>
          <a:p>
            <a:pPr marL="457200" lvl="0" indent="-355600" algn="l" rtl="0">
              <a:spcBef>
                <a:spcPts val="0"/>
              </a:spcBef>
              <a:spcAft>
                <a:spcPts val="0"/>
              </a:spcAft>
              <a:buSzPts val="2000"/>
              <a:buAutoNum type="arabicPeriod"/>
            </a:pPr>
            <a:r>
              <a:rPr lang="en"/>
              <a:t>Artificial Neuron and Perceptron</a:t>
            </a:r>
            <a:endParaRPr/>
          </a:p>
          <a:p>
            <a:pPr marL="457200" lvl="0" indent="-355600" algn="l" rtl="0">
              <a:spcBef>
                <a:spcPts val="0"/>
              </a:spcBef>
              <a:spcAft>
                <a:spcPts val="0"/>
              </a:spcAft>
              <a:buSzPts val="2000"/>
              <a:buAutoNum type="arabicPeriod"/>
            </a:pPr>
            <a:r>
              <a:rPr lang="en"/>
              <a:t>Linear Neural Network for Regression</a:t>
            </a:r>
            <a:endParaRPr/>
          </a:p>
          <a:p>
            <a:pPr marL="457200" lvl="0" indent="-355600" algn="l" rtl="0">
              <a:spcBef>
                <a:spcPts val="0"/>
              </a:spcBef>
              <a:spcAft>
                <a:spcPts val="0"/>
              </a:spcAft>
              <a:buSzPts val="2000"/>
              <a:buAutoNum type="arabicPeriod"/>
            </a:pPr>
            <a:r>
              <a:rPr lang="en"/>
              <a:t>Linear Neural Network for Classification</a:t>
            </a:r>
            <a:endParaRPr/>
          </a:p>
          <a:p>
            <a:pPr marL="457200" lvl="0" indent="-355600" algn="l" rtl="0">
              <a:spcBef>
                <a:spcPts val="0"/>
              </a:spcBef>
              <a:spcAft>
                <a:spcPts val="0"/>
              </a:spcAft>
              <a:buSzPts val="2000"/>
              <a:buAutoNum type="arabicPeriod"/>
            </a:pPr>
            <a:r>
              <a:rPr lang="en"/>
              <a:t>Deep Feedforward Neural Network</a:t>
            </a:r>
            <a:endParaRPr/>
          </a:p>
          <a:p>
            <a:pPr marL="457200" lvl="0" indent="-355600" algn="l" rtl="0">
              <a:spcBef>
                <a:spcPts val="0"/>
              </a:spcBef>
              <a:spcAft>
                <a:spcPts val="0"/>
              </a:spcAft>
              <a:buSzPts val="2000"/>
              <a:buAutoNum type="arabicPeriod"/>
            </a:pPr>
            <a:r>
              <a:rPr lang="en"/>
              <a:t>Convolutional Neural Network</a:t>
            </a:r>
            <a:endParaRPr/>
          </a:p>
          <a:p>
            <a:pPr marL="457200" lvl="0" indent="-355600" algn="l" rtl="0">
              <a:spcBef>
                <a:spcPts val="0"/>
              </a:spcBef>
              <a:spcAft>
                <a:spcPts val="0"/>
              </a:spcAft>
              <a:buSzPts val="2000"/>
              <a:buAutoNum type="arabicPeriod"/>
            </a:pPr>
            <a:r>
              <a:rPr lang="en"/>
              <a:t>Recurrent Neural Networks</a:t>
            </a:r>
            <a:endParaRPr/>
          </a:p>
          <a:p>
            <a:pPr marL="457200" lvl="0" indent="-355600" algn="l" rtl="0">
              <a:spcBef>
                <a:spcPts val="0"/>
              </a:spcBef>
              <a:spcAft>
                <a:spcPts val="0"/>
              </a:spcAft>
              <a:buSzPts val="2000"/>
              <a:buAutoNum type="arabicPeriod"/>
            </a:pPr>
            <a:r>
              <a:rPr lang="en"/>
              <a:t>Attention Mechanism</a:t>
            </a:r>
            <a:endParaRPr/>
          </a:p>
          <a:p>
            <a:pPr marL="457200" lvl="0" indent="-355600" algn="l" rtl="0">
              <a:spcBef>
                <a:spcPts val="0"/>
              </a:spcBef>
              <a:spcAft>
                <a:spcPts val="0"/>
              </a:spcAft>
              <a:buSzPts val="2000"/>
              <a:buAutoNum type="arabicPeriod"/>
            </a:pPr>
            <a:r>
              <a:rPr lang="en"/>
              <a:t>Transformer</a:t>
            </a:r>
            <a:endParaRPr/>
          </a:p>
          <a:p>
            <a:pPr marL="457200" lvl="0" indent="-355600" algn="l" rtl="0">
              <a:spcBef>
                <a:spcPts val="0"/>
              </a:spcBef>
              <a:spcAft>
                <a:spcPts val="0"/>
              </a:spcAft>
              <a:buSzPts val="2000"/>
              <a:buAutoNum type="arabicPeriod"/>
            </a:pPr>
            <a:r>
              <a:rPr lang="en"/>
              <a:t>Optimization of Deep models</a:t>
            </a:r>
            <a:endParaRPr/>
          </a:p>
          <a:p>
            <a:pPr marL="457200" lvl="0" indent="-355600" algn="l" rtl="0">
              <a:spcBef>
                <a:spcPts val="0"/>
              </a:spcBef>
              <a:spcAft>
                <a:spcPts val="0"/>
              </a:spcAft>
              <a:buSzPts val="2000"/>
              <a:buAutoNum type="arabicPeriod"/>
            </a:pPr>
            <a:r>
              <a:rPr lang="en"/>
              <a:t>Regularization for Deep models</a:t>
            </a:r>
            <a:endParaRPr/>
          </a:p>
        </p:txBody>
      </p:sp>
      <p:sp>
        <p:nvSpPr>
          <p:cNvPr id="76" name="Google Shape;76;p1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Books</a:t>
            </a:r>
            <a:endParaRPr/>
          </a:p>
        </p:txBody>
      </p:sp>
      <p:sp>
        <p:nvSpPr>
          <p:cNvPr id="82" name="Google Shape;82;p1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Text book</a:t>
            </a:r>
            <a:endParaRPr/>
          </a:p>
          <a:p>
            <a:pPr marL="457200" lvl="0" indent="-355600" algn="l" rtl="0">
              <a:spcBef>
                <a:spcPts val="1200"/>
              </a:spcBef>
              <a:spcAft>
                <a:spcPts val="0"/>
              </a:spcAft>
              <a:buSzPts val="2000"/>
              <a:buChar char="●"/>
            </a:pPr>
            <a:r>
              <a:rPr lang="en"/>
              <a:t>Dive into Deep Learning by Aston Zhang, Zack C. Lipton, Mu Li, Alex J. Smola. </a:t>
            </a:r>
            <a:r>
              <a:rPr lang="en" u="sng">
                <a:solidFill>
                  <a:schemeClr val="hlink"/>
                </a:solidFill>
                <a:hlinkClick r:id="rId3"/>
              </a:rPr>
              <a:t>https://d2l.ai/chapter_introduction/index.html</a:t>
            </a:r>
            <a:endParaRPr/>
          </a:p>
          <a:p>
            <a:pPr marL="0" lvl="0" indent="0" algn="l" rtl="0">
              <a:spcBef>
                <a:spcPts val="1200"/>
              </a:spcBef>
              <a:spcAft>
                <a:spcPts val="0"/>
              </a:spcAft>
              <a:buNone/>
            </a:pPr>
            <a:endParaRPr/>
          </a:p>
          <a:p>
            <a:pPr marL="0" lvl="0" indent="0" algn="l" rtl="0">
              <a:spcBef>
                <a:spcPts val="1200"/>
              </a:spcBef>
              <a:spcAft>
                <a:spcPts val="0"/>
              </a:spcAft>
              <a:buNone/>
            </a:pPr>
            <a:r>
              <a:rPr lang="en"/>
              <a:t>Reference book</a:t>
            </a:r>
            <a:endParaRPr/>
          </a:p>
          <a:p>
            <a:pPr marL="457200" lvl="0" indent="-355600" algn="l" rtl="0">
              <a:spcBef>
                <a:spcPts val="1200"/>
              </a:spcBef>
              <a:spcAft>
                <a:spcPts val="0"/>
              </a:spcAft>
              <a:buSzPts val="2000"/>
              <a:buChar char="●"/>
            </a:pPr>
            <a:r>
              <a:rPr lang="en"/>
              <a:t>Deep Learning by Ian Goodfellow, Yoshua Bengio, Aaron Courville </a:t>
            </a:r>
            <a:r>
              <a:rPr lang="en" u="sng">
                <a:solidFill>
                  <a:schemeClr val="hlink"/>
                </a:solidFill>
                <a:hlinkClick r:id="rId4"/>
              </a:rPr>
              <a:t>https://www.deeplearningbook.org/</a:t>
            </a:r>
            <a:r>
              <a:rPr lang="en"/>
              <a:t>  </a:t>
            </a:r>
            <a:endParaRPr/>
          </a:p>
        </p:txBody>
      </p:sp>
      <p:sp>
        <p:nvSpPr>
          <p:cNvPr id="83" name="Google Shape;83;p1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 Components and Schedule</a:t>
            </a:r>
            <a:endParaRPr/>
          </a:p>
        </p:txBody>
      </p:sp>
      <p:sp>
        <p:nvSpPr>
          <p:cNvPr id="89" name="Google Shape;89;p1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6</a:t>
            </a:fld>
            <a:endParaRPr/>
          </a:p>
        </p:txBody>
      </p:sp>
      <p:graphicFrame>
        <p:nvGraphicFramePr>
          <p:cNvPr id="90" name="Google Shape;90;p18"/>
          <p:cNvGraphicFramePr/>
          <p:nvPr/>
        </p:nvGraphicFramePr>
        <p:xfrm>
          <a:off x="436950" y="1066400"/>
          <a:ext cx="8214975" cy="3751170"/>
        </p:xfrm>
        <a:graphic>
          <a:graphicData uri="http://schemas.openxmlformats.org/drawingml/2006/table">
            <a:tbl>
              <a:tblPr>
                <a:noFill/>
                <a:tableStyleId>{E845762B-F1F0-45C2-B724-29F2601AAB78}</a:tableStyleId>
              </a:tblPr>
              <a:tblGrid>
                <a:gridCol w="1343350">
                  <a:extLst>
                    <a:ext uri="{9D8B030D-6E8A-4147-A177-3AD203B41FA5}">
                      <a16:colId xmlns:a16="http://schemas.microsoft.com/office/drawing/2014/main" val="20000"/>
                    </a:ext>
                  </a:extLst>
                </a:gridCol>
                <a:gridCol w="4100975">
                  <a:extLst>
                    <a:ext uri="{9D8B030D-6E8A-4147-A177-3AD203B41FA5}">
                      <a16:colId xmlns:a16="http://schemas.microsoft.com/office/drawing/2014/main" val="20001"/>
                    </a:ext>
                  </a:extLst>
                </a:gridCol>
                <a:gridCol w="1235450">
                  <a:extLst>
                    <a:ext uri="{9D8B030D-6E8A-4147-A177-3AD203B41FA5}">
                      <a16:colId xmlns:a16="http://schemas.microsoft.com/office/drawing/2014/main" val="20002"/>
                    </a:ext>
                  </a:extLst>
                </a:gridCol>
                <a:gridCol w="1535200">
                  <a:extLst>
                    <a:ext uri="{9D8B030D-6E8A-4147-A177-3AD203B41FA5}">
                      <a16:colId xmlns:a16="http://schemas.microsoft.com/office/drawing/2014/main" val="20003"/>
                    </a:ext>
                  </a:extLst>
                </a:gridCol>
              </a:tblGrid>
              <a:tr h="457950">
                <a:tc>
                  <a:txBody>
                    <a:bodyPr/>
                    <a:lstStyle/>
                    <a:p>
                      <a:pPr marL="0" lvl="0" indent="0" algn="l" rtl="0">
                        <a:spcBef>
                          <a:spcPts val="0"/>
                        </a:spcBef>
                        <a:spcAft>
                          <a:spcPts val="0"/>
                        </a:spcAft>
                        <a:buNone/>
                      </a:pPr>
                      <a:r>
                        <a:rPr lang="en" sz="1800" b="1">
                          <a:highlight>
                            <a:srgbClr val="A4C2F4"/>
                          </a:highlight>
                        </a:rPr>
                        <a:t>Component</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Name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solidFill>
                            <a:schemeClr val="dk1"/>
                          </a:solidFill>
                          <a:highlight>
                            <a:srgbClr val="A4C2F4"/>
                          </a:highlight>
                        </a:rPr>
                        <a:t>Weightage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Type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extLst>
                  <a:ext uri="{0D108BD9-81ED-4DB2-BD59-A6C34878D82A}">
                    <a16:rowId xmlns:a16="http://schemas.microsoft.com/office/drawing/2014/main" val="10000"/>
                  </a:ext>
                </a:extLst>
              </a:tr>
              <a:tr h="457950">
                <a:tc>
                  <a:txBody>
                    <a:bodyPr/>
                    <a:lstStyle/>
                    <a:p>
                      <a:pPr marL="0" lvl="0" indent="0" algn="l" rtl="0">
                        <a:spcBef>
                          <a:spcPts val="0"/>
                        </a:spcBef>
                        <a:spcAft>
                          <a:spcPts val="0"/>
                        </a:spcAft>
                        <a:buNone/>
                      </a:pPr>
                      <a:r>
                        <a:rPr lang="en" sz="1800"/>
                        <a:t>EC 1</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Quiz I</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5 %</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Pre-midsem</a:t>
                      </a:r>
                      <a:endParaRPr sz="1800"/>
                    </a:p>
                  </a:txBody>
                  <a:tcPr marL="91425" marR="91425" marT="91425" marB="91425">
                    <a:lnT w="9525" cap="flat" cmpd="sng">
                      <a:solidFill>
                        <a:srgbClr val="A4C2F4"/>
                      </a:solidFill>
                      <a:prstDash val="solid"/>
                      <a:round/>
                      <a:headEnd type="none" w="sm" len="sm"/>
                      <a:tailEnd type="none" w="sm" len="sm"/>
                    </a:lnT>
                  </a:tcPr>
                </a:tc>
                <a:extLst>
                  <a:ext uri="{0D108BD9-81ED-4DB2-BD59-A6C34878D82A}">
                    <a16:rowId xmlns:a16="http://schemas.microsoft.com/office/drawing/2014/main" val="10001"/>
                  </a:ext>
                </a:extLst>
              </a:tr>
              <a:tr h="45795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Quiz II</a:t>
                      </a:r>
                      <a:endParaRPr sz="1800"/>
                    </a:p>
                  </a:txBody>
                  <a:tcPr marL="91425" marR="91425" marT="91425" marB="91425"/>
                </a:tc>
                <a:tc>
                  <a:txBody>
                    <a:bodyPr/>
                    <a:lstStyle/>
                    <a:p>
                      <a:pPr marL="0" lvl="0" indent="0" algn="l" rtl="0">
                        <a:spcBef>
                          <a:spcPts val="0"/>
                        </a:spcBef>
                        <a:spcAft>
                          <a:spcPts val="0"/>
                        </a:spcAft>
                        <a:buNone/>
                      </a:pPr>
                      <a:r>
                        <a:rPr lang="en" sz="1800"/>
                        <a:t>5 %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2"/>
                  </a:ext>
                </a:extLst>
              </a:tr>
              <a:tr h="411675">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Practice Lab Assignment 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Pre-midsem</a:t>
                      </a:r>
                      <a:endParaRPr sz="1800"/>
                    </a:p>
                  </a:txBody>
                  <a:tcPr marL="91425" marR="91425" marT="91425" marB="91425"/>
                </a:tc>
                <a:extLst>
                  <a:ext uri="{0D108BD9-81ED-4DB2-BD59-A6C34878D82A}">
                    <a16:rowId xmlns:a16="http://schemas.microsoft.com/office/drawing/2014/main" val="10003"/>
                  </a:ext>
                </a:extLst>
              </a:tr>
              <a:tr h="3637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Situated Learning Assignment II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4"/>
                  </a:ext>
                </a:extLst>
              </a:tr>
              <a:tr h="457950">
                <a:tc>
                  <a:txBody>
                    <a:bodyPr/>
                    <a:lstStyle/>
                    <a:p>
                      <a:pPr marL="0" lvl="0" indent="0" algn="l" rtl="0">
                        <a:spcBef>
                          <a:spcPts val="0"/>
                        </a:spcBef>
                        <a:spcAft>
                          <a:spcPts val="0"/>
                        </a:spcAft>
                        <a:buNone/>
                      </a:pPr>
                      <a:r>
                        <a:rPr lang="en" sz="1800"/>
                        <a:t>EC 2</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Mid sem Exam</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30 %</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Sessions 1-8</a:t>
                      </a:r>
                      <a:endParaRPr sz="1800"/>
                    </a:p>
                  </a:txBody>
                  <a:tcPr marL="91425" marR="91425" marT="91425" marB="91425">
                    <a:solidFill>
                      <a:srgbClr val="B6D7A8"/>
                    </a:solidFill>
                  </a:tcPr>
                </a:tc>
                <a:extLst>
                  <a:ext uri="{0D108BD9-81ED-4DB2-BD59-A6C34878D82A}">
                    <a16:rowId xmlns:a16="http://schemas.microsoft.com/office/drawing/2014/main" val="10005"/>
                  </a:ext>
                </a:extLst>
              </a:tr>
              <a:tr h="457950">
                <a:tc>
                  <a:txBody>
                    <a:bodyPr/>
                    <a:lstStyle/>
                    <a:p>
                      <a:pPr marL="0" lvl="0" indent="0" algn="l" rtl="0">
                        <a:spcBef>
                          <a:spcPts val="0"/>
                        </a:spcBef>
                        <a:spcAft>
                          <a:spcPts val="0"/>
                        </a:spcAft>
                        <a:buNone/>
                      </a:pPr>
                      <a:r>
                        <a:rPr lang="en" sz="1800"/>
                        <a:t>EC 3</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Compre Exam</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40 %</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Sessions 1 -16</a:t>
                      </a:r>
                      <a:endParaRPr sz="1800"/>
                    </a:p>
                  </a:txBody>
                  <a:tcPr marL="91425" marR="91425" marT="91425" marB="91425">
                    <a:solidFill>
                      <a:srgbClr val="FFF2CC"/>
                    </a:solidFill>
                  </a:tcPr>
                </a:tc>
                <a:extLst>
                  <a:ext uri="{0D108BD9-81ED-4DB2-BD59-A6C34878D82A}">
                    <a16:rowId xmlns:a16="http://schemas.microsoft.com/office/drawing/2014/main" val="10006"/>
                  </a:ext>
                </a:extLst>
              </a:tr>
            </a:tbl>
          </a:graphicData>
        </a:graphic>
      </p:graphicFrame>
      <p:sp>
        <p:nvSpPr>
          <p:cNvPr id="91" name="Google Shape;91;p18"/>
          <p:cNvSpPr txBox="1"/>
          <p:nvPr/>
        </p:nvSpPr>
        <p:spPr>
          <a:xfrm>
            <a:off x="311700" y="4428350"/>
            <a:ext cx="7253700" cy="486049"/>
          </a:xfrm>
          <a:prstGeom prst="rect">
            <a:avLst/>
          </a:prstGeom>
          <a:solidFill>
            <a:srgbClr val="FFFFF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b="1" dirty="0">
                <a:solidFill>
                  <a:schemeClr val="dk2"/>
                </a:solidFill>
                <a:highlight>
                  <a:srgbClr val="FFFFFF"/>
                </a:highlight>
              </a:rPr>
              <a:t>EC1 = Quiz I + Quiz II + Assignment I + Assignment II</a:t>
            </a:r>
            <a:endParaRPr sz="2100" b="1" dirty="0">
              <a:solidFill>
                <a:srgbClr val="FF0000"/>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Logistics</a:t>
            </a:r>
            <a:endParaRPr/>
          </a:p>
        </p:txBody>
      </p:sp>
      <p:sp>
        <p:nvSpPr>
          <p:cNvPr id="97" name="Google Shape;97;p1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Refer Taxila for the following</a:t>
            </a:r>
            <a:endParaRPr/>
          </a:p>
          <a:p>
            <a:pPr marL="914400" lvl="1" indent="-330200" algn="l" rtl="0">
              <a:spcBef>
                <a:spcPts val="0"/>
              </a:spcBef>
              <a:spcAft>
                <a:spcPts val="0"/>
              </a:spcAft>
              <a:buSzPts val="1600"/>
              <a:buChar char="○"/>
            </a:pPr>
            <a:r>
              <a:rPr lang="en"/>
              <a:t>Handout</a:t>
            </a:r>
            <a:endParaRPr/>
          </a:p>
          <a:p>
            <a:pPr marL="914400" lvl="1" indent="-330200" algn="l" rtl="0">
              <a:spcBef>
                <a:spcPts val="0"/>
              </a:spcBef>
              <a:spcAft>
                <a:spcPts val="0"/>
              </a:spcAft>
              <a:buSzPts val="1600"/>
              <a:buChar char="○"/>
            </a:pPr>
            <a:r>
              <a:rPr lang="en"/>
              <a:t>Schedule for Webinar</a:t>
            </a:r>
            <a:endParaRPr/>
          </a:p>
          <a:p>
            <a:pPr marL="914400" lvl="1" indent="-330200" algn="l" rtl="0">
              <a:spcBef>
                <a:spcPts val="0"/>
              </a:spcBef>
              <a:spcAft>
                <a:spcPts val="0"/>
              </a:spcAft>
              <a:buSzPts val="1600"/>
              <a:buChar char="○"/>
            </a:pPr>
            <a:r>
              <a:rPr lang="en"/>
              <a:t>Schedule of Quiz, and Assignments.</a:t>
            </a:r>
            <a:endParaRPr/>
          </a:p>
          <a:p>
            <a:pPr marL="914400" lvl="1" indent="-330200" algn="l" rtl="0">
              <a:spcBef>
                <a:spcPts val="0"/>
              </a:spcBef>
              <a:spcAft>
                <a:spcPts val="0"/>
              </a:spcAft>
              <a:buSzPts val="1600"/>
              <a:buChar char="○"/>
            </a:pPr>
            <a:r>
              <a:rPr lang="en"/>
              <a:t>Evaluation scheme</a:t>
            </a:r>
            <a:endParaRPr/>
          </a:p>
          <a:p>
            <a:pPr marL="914400" lvl="1" indent="-330200" algn="l" rtl="0">
              <a:spcBef>
                <a:spcPts val="0"/>
              </a:spcBef>
              <a:spcAft>
                <a:spcPts val="0"/>
              </a:spcAft>
              <a:buSzPts val="1600"/>
              <a:buChar char="○"/>
            </a:pPr>
            <a:r>
              <a:rPr lang="en"/>
              <a:t>Session Slide Deck</a:t>
            </a:r>
            <a:endParaRPr/>
          </a:p>
          <a:p>
            <a:pPr marL="914400" lvl="1" indent="-330200" algn="l" rtl="0">
              <a:spcBef>
                <a:spcPts val="0"/>
              </a:spcBef>
              <a:spcAft>
                <a:spcPts val="0"/>
              </a:spcAft>
              <a:buSzPts val="1600"/>
              <a:buChar char="○"/>
            </a:pPr>
            <a:r>
              <a:rPr lang="en"/>
              <a:t>Demo Lab Sheets</a:t>
            </a:r>
            <a:endParaRPr/>
          </a:p>
          <a:p>
            <a:pPr marL="914400" lvl="1" indent="-330200" algn="l" rtl="0">
              <a:spcBef>
                <a:spcPts val="0"/>
              </a:spcBef>
              <a:spcAft>
                <a:spcPts val="0"/>
              </a:spcAft>
              <a:buSzPts val="1600"/>
              <a:buChar char="○"/>
            </a:pPr>
            <a:r>
              <a:rPr lang="en"/>
              <a:t>Quiz-I, Quiz-II</a:t>
            </a:r>
            <a:endParaRPr/>
          </a:p>
          <a:p>
            <a:pPr marL="914400" lvl="1" indent="-330200" algn="l" rtl="0">
              <a:spcBef>
                <a:spcPts val="0"/>
              </a:spcBef>
              <a:spcAft>
                <a:spcPts val="0"/>
              </a:spcAft>
              <a:buSzPts val="1600"/>
              <a:buChar char="○"/>
            </a:pPr>
            <a:r>
              <a:rPr lang="en"/>
              <a:t>Assignment-I, Assignment-II</a:t>
            </a:r>
            <a:endParaRPr/>
          </a:p>
          <a:p>
            <a:pPr marL="914400" lvl="1" indent="-330200" algn="l" rtl="0">
              <a:spcBef>
                <a:spcPts val="0"/>
              </a:spcBef>
              <a:spcAft>
                <a:spcPts val="0"/>
              </a:spcAft>
              <a:buSzPts val="1600"/>
              <a:buChar char="○"/>
            </a:pPr>
            <a:r>
              <a:rPr lang="en"/>
              <a:t>Sample QPs</a:t>
            </a:r>
            <a:endParaRPr/>
          </a:p>
          <a:p>
            <a:pPr marL="457200" lvl="0" indent="-355600" algn="l" rtl="0">
              <a:spcBef>
                <a:spcPts val="0"/>
              </a:spcBef>
              <a:spcAft>
                <a:spcPts val="0"/>
              </a:spcAft>
              <a:buSzPts val="2000"/>
              <a:buChar char="●"/>
            </a:pPr>
            <a:r>
              <a:rPr lang="en"/>
              <a:t>Lecture Recordings</a:t>
            </a:r>
            <a:endParaRPr/>
          </a:p>
          <a:p>
            <a:pPr marL="914400" lvl="1" indent="-330200" algn="l" rtl="0">
              <a:spcBef>
                <a:spcPts val="0"/>
              </a:spcBef>
              <a:spcAft>
                <a:spcPts val="0"/>
              </a:spcAft>
              <a:buSzPts val="1600"/>
              <a:buChar char="○"/>
            </a:pPr>
            <a:r>
              <a:rPr lang="en"/>
              <a:t>Available on Microsoft teams</a:t>
            </a:r>
            <a:endParaRPr/>
          </a:p>
        </p:txBody>
      </p:sp>
      <p:sp>
        <p:nvSpPr>
          <p:cNvPr id="98" name="Google Shape;98;p1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Honour Code</a:t>
            </a:r>
            <a:endParaRPr/>
          </a:p>
        </p:txBody>
      </p:sp>
      <p:sp>
        <p:nvSpPr>
          <p:cNvPr id="104" name="Google Shape;104;p2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55000"/>
              <a:buFont typeface="Arial"/>
              <a:buNone/>
            </a:pPr>
            <a:r>
              <a:rPr lang="en">
                <a:highlight>
                  <a:schemeClr val="accent6"/>
                </a:highlight>
              </a:rPr>
              <a:t>All submissions for graded components must be the result of your original effort.</a:t>
            </a:r>
            <a:r>
              <a:rPr lang="en"/>
              <a: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a:t>
            </a:r>
            <a:endParaRPr/>
          </a:p>
          <a:p>
            <a:pPr marL="0" lvl="0" indent="0" algn="l" rtl="0">
              <a:spcBef>
                <a:spcPts val="1200"/>
              </a:spcBef>
              <a:spcAft>
                <a:spcPts val="0"/>
              </a:spcAft>
              <a:buClr>
                <a:schemeClr val="dk1"/>
              </a:buClr>
              <a:buSzPct val="55000"/>
              <a:buFont typeface="Arial"/>
              <a:buNone/>
            </a:pPr>
            <a:endParaRPr/>
          </a:p>
          <a:p>
            <a:pPr marL="0" lvl="0" indent="0" algn="l" rtl="0">
              <a:spcBef>
                <a:spcPts val="1200"/>
              </a:spcBef>
              <a:spcAft>
                <a:spcPts val="0"/>
              </a:spcAft>
              <a:buClr>
                <a:schemeClr val="dk1"/>
              </a:buClr>
              <a:buSzPct val="55000"/>
              <a:buFont typeface="Arial"/>
              <a:buNone/>
            </a:pPr>
            <a:r>
              <a:rPr lang="en"/>
              <a:t>In cases where suspicious circumstances arise, such as identical verbatim answers or a significant overlap of unreasonable similarities in a set of submissions, will be investigated, and severe punishments will be imposed on all those found guilty of plagiarism.</a:t>
            </a:r>
            <a:endParaRPr/>
          </a:p>
          <a:p>
            <a:pPr marL="0" lvl="0" indent="0" algn="l" rtl="0">
              <a:spcBef>
                <a:spcPts val="1200"/>
              </a:spcBef>
              <a:spcAft>
                <a:spcPts val="1200"/>
              </a:spcAft>
              <a:buNone/>
            </a:pPr>
            <a:endParaRPr/>
          </a:p>
        </p:txBody>
      </p:sp>
      <p:sp>
        <p:nvSpPr>
          <p:cNvPr id="105" name="Google Shape;105;p2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 case of Queries regarding the course….</a:t>
            </a:r>
            <a:endParaRPr/>
          </a:p>
        </p:txBody>
      </p:sp>
      <p:sp>
        <p:nvSpPr>
          <p:cNvPr id="111" name="Google Shape;111;p2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Step 1: Post in the discussion forum.</a:t>
            </a:r>
            <a:endParaRPr/>
          </a:p>
          <a:p>
            <a:pPr marL="457200" lvl="0" indent="-355600" algn="l" rtl="0">
              <a:spcBef>
                <a:spcPts val="1200"/>
              </a:spcBef>
              <a:spcAft>
                <a:spcPts val="0"/>
              </a:spcAft>
              <a:buSzPts val="2000"/>
              <a:buChar char="●"/>
            </a:pPr>
            <a:r>
              <a:rPr lang="en"/>
              <a:t>Read through the existing post and if you find any topic similar to your concern, add on to the existing discussion.</a:t>
            </a:r>
            <a:endParaRPr/>
          </a:p>
          <a:p>
            <a:pPr marL="457200" lvl="0" indent="-355600" algn="l" rtl="0">
              <a:spcBef>
                <a:spcPts val="0"/>
              </a:spcBef>
              <a:spcAft>
                <a:spcPts val="0"/>
              </a:spcAft>
              <a:buSzPts val="2000"/>
              <a:buChar char="●"/>
            </a:pPr>
            <a:r>
              <a:rPr lang="en"/>
              <a:t>Avoid duplication of queries or issues.</a:t>
            </a:r>
            <a:endParaRPr/>
          </a:p>
          <a:p>
            <a:pPr marL="0" lvl="0" indent="0" algn="l" rtl="0">
              <a:spcBef>
                <a:spcPts val="1200"/>
              </a:spcBef>
              <a:spcAft>
                <a:spcPts val="0"/>
              </a:spcAft>
              <a:buNone/>
            </a:pPr>
            <a:r>
              <a:rPr lang="en"/>
              <a:t>Step 2: Email to the IC at </a:t>
            </a:r>
            <a:r>
              <a:rPr lang="en" u="sng">
                <a:solidFill>
                  <a:schemeClr val="hlink"/>
                </a:solidFill>
                <a:hlinkClick r:id="rId3"/>
              </a:rPr>
              <a:t>seetha.p@pilani.bits-pilani.ac.in</a:t>
            </a:r>
            <a:r>
              <a:rPr lang="en"/>
              <a:t> if the query or issue is not resolved within 1 weeks time. Turn around for response to the email is 48hrs.</a:t>
            </a:r>
            <a:endParaRPr/>
          </a:p>
          <a:p>
            <a:pPr marL="457200" lvl="0" indent="-355600" algn="l" rtl="0">
              <a:spcBef>
                <a:spcPts val="1200"/>
              </a:spcBef>
              <a:spcAft>
                <a:spcPts val="0"/>
              </a:spcAft>
              <a:buSzPts val="2000"/>
              <a:buChar char="●"/>
            </a:pPr>
            <a:r>
              <a:rPr lang="en"/>
              <a:t>In the subject pl mention the phrase ”DNN” clearly. </a:t>
            </a:r>
            <a:endParaRPr/>
          </a:p>
          <a:p>
            <a:pPr marL="457200" lvl="0" indent="-355600" algn="l" rtl="0">
              <a:spcBef>
                <a:spcPts val="0"/>
              </a:spcBef>
              <a:spcAft>
                <a:spcPts val="0"/>
              </a:spcAft>
              <a:buSzPts val="2000"/>
              <a:buChar char="●"/>
            </a:pPr>
            <a:r>
              <a:rPr lang="en">
                <a:solidFill>
                  <a:srgbClr val="FF0000"/>
                </a:solidFill>
              </a:rPr>
              <a:t>Use BITS email id for correspondence</a:t>
            </a:r>
            <a:r>
              <a:rPr lang="en"/>
              <a:t>. Emails from personal emails will be ignored without any reply. </a:t>
            </a:r>
            <a:endParaRPr/>
          </a:p>
          <a:p>
            <a:pPr marL="0" lvl="0" indent="0" algn="ctr" rtl="0">
              <a:spcBef>
                <a:spcPts val="1200"/>
              </a:spcBef>
              <a:spcAft>
                <a:spcPts val="1200"/>
              </a:spcAft>
              <a:buNone/>
            </a:pPr>
            <a:r>
              <a:rPr lang="en" sz="1900">
                <a:highlight>
                  <a:srgbClr val="FFFF00"/>
                </a:highlight>
              </a:rPr>
              <a:t>PATIENCE is highly APPRECIATED :)</a:t>
            </a:r>
            <a:endParaRPr sz="1900">
              <a:highlight>
                <a:srgbClr val="FFFF00"/>
              </a:highlight>
            </a:endParaRPr>
          </a:p>
        </p:txBody>
      </p:sp>
      <p:sp>
        <p:nvSpPr>
          <p:cNvPr id="112" name="Google Shape;112;p2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is Deep Learning?</a:t>
            </a:r>
            <a:endParaRPr/>
          </a:p>
        </p:txBody>
      </p:sp>
      <p:sp>
        <p:nvSpPr>
          <p:cNvPr id="118" name="Google Shape;11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Definitions of Deep Learning</a:t>
            </a:r>
            <a:endParaRPr/>
          </a:p>
        </p:txBody>
      </p:sp>
      <p:sp>
        <p:nvSpPr>
          <p:cNvPr id="124" name="Google Shape;124;p2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Deep Learning is a type of </a:t>
            </a:r>
            <a:r>
              <a:rPr lang="en" sz="1900" b="1">
                <a:highlight>
                  <a:schemeClr val="lt1"/>
                </a:highlight>
              </a:rPr>
              <a:t>machine learning</a:t>
            </a:r>
            <a:r>
              <a:rPr lang="en" sz="1900">
                <a:highlight>
                  <a:schemeClr val="lt1"/>
                </a:highlight>
              </a:rPr>
              <a:t> based on </a:t>
            </a:r>
            <a:r>
              <a:rPr lang="en" sz="1900" b="1">
                <a:highlight>
                  <a:schemeClr val="lt1"/>
                </a:highlight>
              </a:rPr>
              <a:t>artificial neural networks</a:t>
            </a:r>
            <a:r>
              <a:rPr lang="en" sz="1900">
                <a:highlight>
                  <a:schemeClr val="lt1"/>
                </a:highlight>
              </a:rPr>
              <a:t> in which multiple layers of processing are used to extract progressively higher level features from data.</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method in artificial intelligence (AI) that teaches computers to process data in a way that is </a:t>
            </a:r>
            <a:r>
              <a:rPr lang="en" sz="1900" b="1">
                <a:highlight>
                  <a:schemeClr val="lt1"/>
                </a:highlight>
              </a:rPr>
              <a:t>inspired by the human brain</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machine learning technique that teaches computers to do what comes naturally to humans: </a:t>
            </a:r>
            <a:r>
              <a:rPr lang="en" sz="1900" b="1">
                <a:highlight>
                  <a:schemeClr val="lt1"/>
                </a:highlight>
              </a:rPr>
              <a:t>learn by example</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subset of machine learning, which is essentially a neural network with </a:t>
            </a:r>
            <a:r>
              <a:rPr lang="en" sz="1900" b="1">
                <a:highlight>
                  <a:schemeClr val="lt1"/>
                </a:highlight>
              </a:rPr>
              <a:t>three or more layers</a:t>
            </a:r>
            <a:r>
              <a:rPr lang="en" sz="1900">
                <a:highlight>
                  <a:schemeClr val="lt1"/>
                </a:highlight>
              </a:rPr>
              <a:t>. </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gets its name from the fact that we add more "</a:t>
            </a:r>
            <a:r>
              <a:rPr lang="en" sz="1900" b="1">
                <a:highlight>
                  <a:schemeClr val="lt1"/>
                </a:highlight>
              </a:rPr>
              <a:t>Layers</a:t>
            </a:r>
            <a:r>
              <a:rPr lang="en" sz="1900">
                <a:highlight>
                  <a:schemeClr val="lt1"/>
                </a:highlight>
              </a:rPr>
              <a:t>" to learn from the data.</a:t>
            </a:r>
            <a:endParaRPr sz="1900">
              <a:highlight>
                <a:schemeClr val="lt1"/>
              </a:highlight>
            </a:endParaRPr>
          </a:p>
        </p:txBody>
      </p:sp>
      <p:sp>
        <p:nvSpPr>
          <p:cNvPr id="125" name="Google Shape;125;p2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Where in AI sits DL?</a:t>
            </a:r>
            <a:endParaRPr/>
          </a:p>
        </p:txBody>
      </p:sp>
      <p:sp>
        <p:nvSpPr>
          <p:cNvPr id="131" name="Google Shape;131;p2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AI is a general field that encompasses machine learning and deep learning, but that also includes many more approaches that don’t involve any learning.</a:t>
            </a:r>
            <a:endParaRPr/>
          </a:p>
          <a:p>
            <a:pPr marL="0" lvl="0" indent="0" algn="l" rtl="0">
              <a:spcBef>
                <a:spcPts val="1200"/>
              </a:spcBef>
              <a:spcAft>
                <a:spcPts val="1200"/>
              </a:spcAft>
              <a:buNone/>
            </a:pPr>
            <a:endParaRPr/>
          </a:p>
        </p:txBody>
      </p:sp>
      <p:pic>
        <p:nvPicPr>
          <p:cNvPr id="132" name="Google Shape;132;p24"/>
          <p:cNvPicPr preferRelativeResize="0"/>
          <p:nvPr/>
        </p:nvPicPr>
        <p:blipFill>
          <a:blip r:embed="rId3">
            <a:alphaModFix/>
          </a:blip>
          <a:stretch>
            <a:fillRect/>
          </a:stretch>
        </p:blipFill>
        <p:spPr>
          <a:xfrm>
            <a:off x="2231825" y="1775850"/>
            <a:ext cx="4125600" cy="3073300"/>
          </a:xfrm>
          <a:prstGeom prst="rect">
            <a:avLst/>
          </a:prstGeom>
          <a:noFill/>
          <a:ln>
            <a:noFill/>
          </a:ln>
        </p:spPr>
      </p:pic>
      <p:sp>
        <p:nvSpPr>
          <p:cNvPr id="133" name="Google Shape;133;p2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 ML - DL </a:t>
            </a:r>
            <a:endParaRPr/>
          </a:p>
        </p:txBody>
      </p:sp>
      <p:sp>
        <p:nvSpPr>
          <p:cNvPr id="139" name="Google Shape;139;p2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a:t>AI</a:t>
            </a:r>
            <a:r>
              <a:rPr lang="en"/>
              <a:t> : Artificial intelligence is the science of making things smart. The aim is make machines perform human tasks. Eg: Robot cleaning a room.</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None/>
            </a:pPr>
            <a:r>
              <a:rPr lang="en" b="1"/>
              <a:t>ML</a:t>
            </a:r>
            <a:r>
              <a:rPr lang="en"/>
              <a:t> : Machine learning is an approach to AI. The machine learns or perform tasks through learning by experience.</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 b="1"/>
              <a:t>DL</a:t>
            </a:r>
            <a:r>
              <a:rPr lang="en"/>
              <a:t> : Deep Learning is a technique for implementing machine learning to recognise patterns.</a:t>
            </a:r>
            <a:endParaRPr/>
          </a:p>
          <a:p>
            <a:pPr marL="0" lvl="0" indent="0" algn="l" rtl="0">
              <a:spcBef>
                <a:spcPts val="1200"/>
              </a:spcBef>
              <a:spcAft>
                <a:spcPts val="1200"/>
              </a:spcAft>
              <a:buNone/>
            </a:pPr>
            <a:endParaRPr/>
          </a:p>
        </p:txBody>
      </p:sp>
      <p:sp>
        <p:nvSpPr>
          <p:cNvPr id="140" name="Google Shape;140;p2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(Machine) Learning</a:t>
            </a:r>
            <a:endParaRPr/>
          </a:p>
        </p:txBody>
      </p:sp>
      <p:sp>
        <p:nvSpPr>
          <p:cNvPr id="146" name="Google Shape;146;p2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Deep learning is a specific subfield of machine learning.</a:t>
            </a:r>
            <a:endParaRPr/>
          </a:p>
          <a:p>
            <a:pPr marL="457200" lvl="0" indent="-355600" algn="l" rtl="0">
              <a:spcBef>
                <a:spcPts val="0"/>
              </a:spcBef>
              <a:spcAft>
                <a:spcPts val="0"/>
              </a:spcAft>
              <a:buSzPts val="2000"/>
              <a:buChar char="●"/>
            </a:pPr>
            <a:r>
              <a:rPr lang="en"/>
              <a:t>Learning representations from data that puts an emphasis on learning successive layers of increasingly meaningful representations.</a:t>
            </a:r>
            <a:endParaRPr/>
          </a:p>
          <a:p>
            <a:pPr marL="457200" lvl="0" indent="-355600" algn="l" rtl="0">
              <a:spcBef>
                <a:spcPts val="0"/>
              </a:spcBef>
              <a:spcAft>
                <a:spcPts val="0"/>
              </a:spcAft>
              <a:buSzPts val="2000"/>
              <a:buChar char="●"/>
            </a:pPr>
            <a:r>
              <a:rPr lang="en"/>
              <a:t>The </a:t>
            </a:r>
            <a:r>
              <a:rPr lang="en" b="1"/>
              <a:t>deep</a:t>
            </a:r>
            <a:r>
              <a:rPr lang="en"/>
              <a:t> in deep learning stands for this idea of successive layers of representations.</a:t>
            </a:r>
            <a:endParaRPr/>
          </a:p>
          <a:p>
            <a:pPr marL="457200" lvl="0" indent="-355600" algn="l" rtl="0">
              <a:spcBef>
                <a:spcPts val="0"/>
              </a:spcBef>
              <a:spcAft>
                <a:spcPts val="0"/>
              </a:spcAft>
              <a:buSzPts val="2000"/>
              <a:buChar char="●"/>
            </a:pPr>
            <a:r>
              <a:rPr lang="en"/>
              <a:t>The number of layers that contribute to model the data is called the </a:t>
            </a:r>
            <a:r>
              <a:rPr lang="en" b="1"/>
              <a:t>depth</a:t>
            </a:r>
            <a:r>
              <a:rPr lang="en"/>
              <a:t> of the model.</a:t>
            </a:r>
            <a:endParaRPr/>
          </a:p>
          <a:p>
            <a:pPr marL="457200" lvl="0" indent="-355600" algn="l" rtl="0">
              <a:spcBef>
                <a:spcPts val="0"/>
              </a:spcBef>
              <a:spcAft>
                <a:spcPts val="0"/>
              </a:spcAft>
              <a:buSzPts val="2000"/>
              <a:buChar char="●"/>
            </a:pPr>
            <a:r>
              <a:rPr lang="en"/>
              <a:t>In deep learning, the layered representations are learned via models called </a:t>
            </a:r>
            <a:r>
              <a:rPr lang="en" b="1"/>
              <a:t>neural networks</a:t>
            </a:r>
            <a:r>
              <a:rPr lang="en"/>
              <a:t>, structured in literal layers stacked on top of each other.</a:t>
            </a:r>
            <a:endParaRPr/>
          </a:p>
        </p:txBody>
      </p:sp>
      <p:sp>
        <p:nvSpPr>
          <p:cNvPr id="147" name="Google Shape;147;p2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Why Deep Learning?</a:t>
            </a:r>
            <a:endParaRPr/>
          </a:p>
        </p:txBody>
      </p:sp>
      <p:sp>
        <p:nvSpPr>
          <p:cNvPr id="153" name="Google Shape;153;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sp>
        <p:nvSpPr>
          <p:cNvPr id="159" name="Google Shape;159;p2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Large amounts of data </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Lots and lots of unstructured data like images, text, audio, video</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high-quality sensors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computation - CPU, GPU, Distributed clusters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data storage</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Learn by examples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Automated feature generation</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Better learning capabilities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Scalability</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Advance analytics can be applied</a:t>
            </a:r>
            <a:endParaRPr sz="1900">
              <a:highlight>
                <a:schemeClr val="lt1"/>
              </a:highlight>
            </a:endParaRPr>
          </a:p>
        </p:txBody>
      </p:sp>
      <p:sp>
        <p:nvSpPr>
          <p:cNvPr id="160" name="Google Shape;160;p2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pic>
        <p:nvPicPr>
          <p:cNvPr id="166" name="Google Shape;166;p29"/>
          <p:cNvPicPr preferRelativeResize="0"/>
          <p:nvPr/>
        </p:nvPicPr>
        <p:blipFill>
          <a:blip r:embed="rId3">
            <a:alphaModFix/>
          </a:blip>
          <a:stretch>
            <a:fillRect/>
          </a:stretch>
        </p:blipFill>
        <p:spPr>
          <a:xfrm>
            <a:off x="1095375" y="1007875"/>
            <a:ext cx="6953250" cy="3562350"/>
          </a:xfrm>
          <a:prstGeom prst="rect">
            <a:avLst/>
          </a:prstGeom>
          <a:noFill/>
          <a:ln>
            <a:noFill/>
          </a:ln>
        </p:spPr>
      </p:pic>
      <p:sp>
        <p:nvSpPr>
          <p:cNvPr id="167" name="Google Shape;167;p2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Learning Timeline</a:t>
            </a:r>
            <a:endParaRPr/>
          </a:p>
        </p:txBody>
      </p:sp>
      <p:pic>
        <p:nvPicPr>
          <p:cNvPr id="173" name="Google Shape;173;p30"/>
          <p:cNvPicPr preferRelativeResize="0"/>
          <p:nvPr/>
        </p:nvPicPr>
        <p:blipFill>
          <a:blip r:embed="rId3">
            <a:alphaModFix/>
          </a:blip>
          <a:stretch>
            <a:fillRect/>
          </a:stretch>
        </p:blipFill>
        <p:spPr>
          <a:xfrm>
            <a:off x="33013" y="1156662"/>
            <a:ext cx="9077975" cy="2830175"/>
          </a:xfrm>
          <a:prstGeom prst="rect">
            <a:avLst/>
          </a:prstGeom>
          <a:noFill/>
          <a:ln>
            <a:noFill/>
          </a:ln>
        </p:spPr>
      </p:pic>
      <p:sp>
        <p:nvSpPr>
          <p:cNvPr id="174" name="Google Shape;174;p3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
        <p:nvSpPr>
          <p:cNvPr id="175" name="Google Shape;175;p3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Applications of Deep Learning</a:t>
            </a:r>
            <a:endParaRPr/>
          </a:p>
        </p:txBody>
      </p:sp>
      <p:sp>
        <p:nvSpPr>
          <p:cNvPr id="181" name="Google Shape;18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pic>
        <p:nvPicPr>
          <p:cNvPr id="187" name="Google Shape;187;p32"/>
          <p:cNvPicPr preferRelativeResize="0"/>
          <p:nvPr/>
        </p:nvPicPr>
        <p:blipFill>
          <a:blip r:embed="rId3">
            <a:alphaModFix/>
          </a:blip>
          <a:stretch>
            <a:fillRect/>
          </a:stretch>
        </p:blipFill>
        <p:spPr>
          <a:xfrm>
            <a:off x="1250613" y="715150"/>
            <a:ext cx="6642774" cy="4162350"/>
          </a:xfrm>
          <a:prstGeom prst="rect">
            <a:avLst/>
          </a:prstGeom>
          <a:noFill/>
          <a:ln>
            <a:noFill/>
          </a:ln>
        </p:spPr>
      </p:pic>
      <p:sp>
        <p:nvSpPr>
          <p:cNvPr id="188" name="Google Shape;188;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3"/>
          <p:cNvPicPr preferRelativeResize="0"/>
          <p:nvPr/>
        </p:nvPicPr>
        <p:blipFill>
          <a:blip r:embed="rId3">
            <a:alphaModFix/>
          </a:blip>
          <a:stretch>
            <a:fillRect/>
          </a:stretch>
        </p:blipFill>
        <p:spPr>
          <a:xfrm>
            <a:off x="311700" y="980875"/>
            <a:ext cx="8392675" cy="3970100"/>
          </a:xfrm>
          <a:prstGeom prst="rect">
            <a:avLst/>
          </a:prstGeom>
          <a:noFill/>
          <a:ln>
            <a:noFill/>
          </a:ln>
        </p:spPr>
      </p:pic>
      <p:sp>
        <p:nvSpPr>
          <p:cNvPr id="194" name="Google Shape;19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
        <p:nvSpPr>
          <p:cNvPr id="195" name="Google Shape;195;p3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4"/>
          <p:cNvPicPr preferRelativeResize="0"/>
          <p:nvPr/>
        </p:nvPicPr>
        <p:blipFill>
          <a:blip r:embed="rId3">
            <a:alphaModFix/>
          </a:blip>
          <a:stretch>
            <a:fillRect/>
          </a:stretch>
        </p:blipFill>
        <p:spPr>
          <a:xfrm>
            <a:off x="1521900" y="775100"/>
            <a:ext cx="6100191" cy="4140300"/>
          </a:xfrm>
          <a:prstGeom prst="rect">
            <a:avLst/>
          </a:prstGeom>
          <a:noFill/>
          <a:ln>
            <a:noFill/>
          </a:ln>
        </p:spPr>
      </p:pic>
      <p:sp>
        <p:nvSpPr>
          <p:cNvPr id="201" name="Google Shape;20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
        <p:nvSpPr>
          <p:cNvPr id="202" name="Google Shape;202;p3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5"/>
          <p:cNvPicPr preferRelativeResize="0"/>
          <p:nvPr/>
        </p:nvPicPr>
        <p:blipFill>
          <a:blip r:embed="rId3">
            <a:alphaModFix/>
          </a:blip>
          <a:stretch>
            <a:fillRect/>
          </a:stretch>
        </p:blipFill>
        <p:spPr>
          <a:xfrm>
            <a:off x="947175" y="967950"/>
            <a:ext cx="7049825" cy="3944451"/>
          </a:xfrm>
          <a:prstGeom prst="rect">
            <a:avLst/>
          </a:prstGeom>
          <a:noFill/>
          <a:ln>
            <a:noFill/>
          </a:ln>
        </p:spPr>
      </p:pic>
      <p:sp>
        <p:nvSpPr>
          <p:cNvPr id="208" name="Google Shape;20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
        <p:nvSpPr>
          <p:cNvPr id="209" name="Google Shape;209;p3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6"/>
          <p:cNvPicPr preferRelativeResize="0"/>
          <p:nvPr/>
        </p:nvPicPr>
        <p:blipFill>
          <a:blip r:embed="rId3">
            <a:alphaModFix/>
          </a:blip>
          <a:stretch>
            <a:fillRect/>
          </a:stretch>
        </p:blipFill>
        <p:spPr>
          <a:xfrm>
            <a:off x="1484700" y="546575"/>
            <a:ext cx="6174601" cy="4342675"/>
          </a:xfrm>
          <a:prstGeom prst="rect">
            <a:avLst/>
          </a:prstGeom>
          <a:noFill/>
          <a:ln>
            <a:noFill/>
          </a:ln>
        </p:spPr>
      </p:pic>
      <p:sp>
        <p:nvSpPr>
          <p:cNvPr id="215" name="Google Shape;21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16" name="Google Shape;216;p3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7"/>
          <p:cNvPicPr preferRelativeResize="0"/>
          <p:nvPr/>
        </p:nvPicPr>
        <p:blipFill>
          <a:blip r:embed="rId3">
            <a:alphaModFix/>
          </a:blip>
          <a:stretch>
            <a:fillRect/>
          </a:stretch>
        </p:blipFill>
        <p:spPr>
          <a:xfrm>
            <a:off x="1146850" y="978225"/>
            <a:ext cx="7325600" cy="3868024"/>
          </a:xfrm>
          <a:prstGeom prst="rect">
            <a:avLst/>
          </a:prstGeom>
          <a:noFill/>
          <a:ln>
            <a:noFill/>
          </a:ln>
        </p:spPr>
      </p:pic>
      <p:sp>
        <p:nvSpPr>
          <p:cNvPr id="222" name="Google Shape;222;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Breakthroughs with Neural Networks</a:t>
            </a:r>
            <a:endParaRPr>
              <a:solidFill>
                <a:schemeClr val="lt1"/>
              </a:solidFill>
            </a:endParaRPr>
          </a:p>
        </p:txBody>
      </p:sp>
      <p:sp>
        <p:nvSpPr>
          <p:cNvPr id="223" name="Google Shape;22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
        <p:nvSpPr>
          <p:cNvPr id="224" name="Google Shape;224;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Applications of Deep Learning</a:t>
            </a:r>
            <a:endParaRPr>
              <a:solidFill>
                <a:schemeClr val="dk1"/>
              </a:solidFill>
            </a:endParaRPr>
          </a:p>
        </p:txBody>
      </p:sp>
      <p:pic>
        <p:nvPicPr>
          <p:cNvPr id="230" name="Google Shape;230;p38"/>
          <p:cNvPicPr preferRelativeResize="0"/>
          <p:nvPr/>
        </p:nvPicPr>
        <p:blipFill>
          <a:blip r:embed="rId3">
            <a:alphaModFix/>
          </a:blip>
          <a:stretch>
            <a:fillRect/>
          </a:stretch>
        </p:blipFill>
        <p:spPr>
          <a:xfrm>
            <a:off x="152400" y="1172350"/>
            <a:ext cx="8582025" cy="3181350"/>
          </a:xfrm>
          <a:prstGeom prst="rect">
            <a:avLst/>
          </a:prstGeom>
          <a:noFill/>
          <a:ln>
            <a:noFill/>
          </a:ln>
        </p:spPr>
      </p:pic>
      <p:sp>
        <p:nvSpPr>
          <p:cNvPr id="231" name="Google Shape;23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Many more applications….</a:t>
            </a:r>
            <a:endParaRPr/>
          </a:p>
        </p:txBody>
      </p:sp>
      <p:sp>
        <p:nvSpPr>
          <p:cNvPr id="237" name="Google Shape;237;p3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Autofit/>
          </a:bodyPr>
          <a:lstStyle/>
          <a:p>
            <a:pPr marL="457200" lvl="0" indent="-355600" algn="l" rtl="0">
              <a:lnSpc>
                <a:spcPct val="100000"/>
              </a:lnSpc>
              <a:spcBef>
                <a:spcPts val="0"/>
              </a:spcBef>
              <a:spcAft>
                <a:spcPts val="0"/>
              </a:spcAft>
              <a:buSzPts val="2000"/>
              <a:buChar char="●"/>
            </a:pPr>
            <a:r>
              <a:rPr lang="en"/>
              <a:t>a program that predicts tomorrowʼs weather given geographic information, satellite images, and a trailing window of past weather.</a:t>
            </a:r>
            <a:endParaRPr/>
          </a:p>
          <a:p>
            <a:pPr marL="457200" lvl="0" indent="-355600" algn="l" rtl="0">
              <a:lnSpc>
                <a:spcPct val="100000"/>
              </a:lnSpc>
              <a:spcBef>
                <a:spcPts val="0"/>
              </a:spcBef>
              <a:spcAft>
                <a:spcPts val="0"/>
              </a:spcAft>
              <a:buSzPts val="2000"/>
              <a:buChar char="●"/>
            </a:pPr>
            <a:r>
              <a:rPr lang="en"/>
              <a:t>a program that takes in a question, expressed in free-form text, and answers it correctly.</a:t>
            </a:r>
            <a:endParaRPr/>
          </a:p>
          <a:p>
            <a:pPr marL="457200" lvl="0" indent="-355600" algn="l" rtl="0">
              <a:lnSpc>
                <a:spcPct val="100000"/>
              </a:lnSpc>
              <a:spcBef>
                <a:spcPts val="0"/>
              </a:spcBef>
              <a:spcAft>
                <a:spcPts val="0"/>
              </a:spcAft>
              <a:buSzPts val="2000"/>
              <a:buChar char="●"/>
            </a:pPr>
            <a:r>
              <a:rPr lang="en"/>
              <a:t>a program that given an image can identify all the people it contains, drawing outlines around each.</a:t>
            </a:r>
            <a:endParaRPr/>
          </a:p>
          <a:p>
            <a:pPr marL="457200" lvl="0" indent="-355600" algn="l" rtl="0">
              <a:lnSpc>
                <a:spcPct val="100000"/>
              </a:lnSpc>
              <a:spcBef>
                <a:spcPts val="0"/>
              </a:spcBef>
              <a:spcAft>
                <a:spcPts val="0"/>
              </a:spcAft>
              <a:buSzPts val="2000"/>
              <a:buChar char="●"/>
            </a:pPr>
            <a:r>
              <a:rPr lang="en"/>
              <a:t>a program that presents users with products that they are likely to enjoy but unlikely, in the natural course of browsing, to encounter.</a:t>
            </a:r>
            <a:endParaRPr/>
          </a:p>
          <a:p>
            <a:pPr marL="457200" lvl="0" indent="0" algn="l" rtl="0">
              <a:lnSpc>
                <a:spcPct val="100000"/>
              </a:lnSpc>
              <a:spcBef>
                <a:spcPts val="0"/>
              </a:spcBef>
              <a:spcAft>
                <a:spcPts val="0"/>
              </a:spcAft>
              <a:buNone/>
            </a:pPr>
            <a:endParaRPr/>
          </a:p>
        </p:txBody>
      </p:sp>
      <p:sp>
        <p:nvSpPr>
          <p:cNvPr id="238" name="Google Shape;238;p3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Key components of DL problem</a:t>
            </a:r>
            <a:endParaRPr/>
          </a:p>
        </p:txBody>
      </p:sp>
      <p:sp>
        <p:nvSpPr>
          <p:cNvPr id="244" name="Google Shape;24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Core components of DL problem</a:t>
            </a:r>
            <a:endParaRPr/>
          </a:p>
        </p:txBody>
      </p:sp>
      <p:sp>
        <p:nvSpPr>
          <p:cNvPr id="250" name="Google Shape;250;p41"/>
          <p:cNvSpPr txBox="1">
            <a:spLocks noGrp="1"/>
          </p:cNvSpPr>
          <p:nvPr>
            <p:ph type="body" idx="1"/>
          </p:nvPr>
        </p:nvSpPr>
        <p:spPr>
          <a:xfrm>
            <a:off x="311700" y="950800"/>
            <a:ext cx="867645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dirty="0"/>
              <a:t>The </a:t>
            </a:r>
            <a:r>
              <a:rPr lang="en" dirty="0">
                <a:highlight>
                  <a:schemeClr val="accent6"/>
                </a:highlight>
              </a:rPr>
              <a:t>data</a:t>
            </a:r>
            <a:r>
              <a:rPr lang="en" dirty="0"/>
              <a:t> that we can learn from.</a:t>
            </a:r>
            <a:endParaRPr dirty="0"/>
          </a:p>
          <a:p>
            <a:pPr marL="457200" lvl="0" indent="-355600" algn="l" rtl="0">
              <a:spcBef>
                <a:spcPts val="0"/>
              </a:spcBef>
              <a:spcAft>
                <a:spcPts val="0"/>
              </a:spcAft>
              <a:buSzPts val="2000"/>
              <a:buAutoNum type="arabicPeriod"/>
            </a:pPr>
            <a:r>
              <a:rPr lang="en" dirty="0"/>
              <a:t>A </a:t>
            </a:r>
            <a:r>
              <a:rPr lang="en" dirty="0">
                <a:highlight>
                  <a:schemeClr val="accent6"/>
                </a:highlight>
              </a:rPr>
              <a:t>model</a:t>
            </a:r>
            <a:r>
              <a:rPr lang="en" dirty="0"/>
              <a:t> of how to transform the data.</a:t>
            </a:r>
            <a:endParaRPr dirty="0"/>
          </a:p>
          <a:p>
            <a:pPr marL="457200" lvl="0" indent="-355600" algn="l" rtl="0">
              <a:spcBef>
                <a:spcPts val="0"/>
              </a:spcBef>
              <a:spcAft>
                <a:spcPts val="0"/>
              </a:spcAft>
              <a:buSzPts val="2000"/>
              <a:buAutoNum type="arabicPeriod"/>
            </a:pPr>
            <a:r>
              <a:rPr lang="en" dirty="0"/>
              <a:t>An </a:t>
            </a:r>
            <a:r>
              <a:rPr lang="en" dirty="0">
                <a:highlight>
                  <a:schemeClr val="accent6"/>
                </a:highlight>
              </a:rPr>
              <a:t>objective function</a:t>
            </a:r>
            <a:r>
              <a:rPr lang="en" dirty="0"/>
              <a:t> that quantifies how well (or badly) the model is doing.</a:t>
            </a:r>
            <a:endParaRPr dirty="0"/>
          </a:p>
          <a:p>
            <a:pPr marL="457200" lvl="0" indent="-355600" algn="l" rtl="0">
              <a:spcBef>
                <a:spcPts val="0"/>
              </a:spcBef>
              <a:spcAft>
                <a:spcPts val="0"/>
              </a:spcAft>
              <a:buSzPts val="2000"/>
              <a:buAutoNum type="arabicPeriod"/>
            </a:pPr>
            <a:r>
              <a:rPr lang="en" dirty="0"/>
              <a:t>An </a:t>
            </a:r>
            <a:r>
              <a:rPr lang="en" dirty="0">
                <a:highlight>
                  <a:schemeClr val="accent6"/>
                </a:highlight>
              </a:rPr>
              <a:t>algorithm</a:t>
            </a:r>
            <a:r>
              <a:rPr lang="en" dirty="0"/>
              <a:t> to adjust the modelʼs parameters to optimize the objective function.</a:t>
            </a:r>
            <a:endParaRPr dirty="0"/>
          </a:p>
          <a:p>
            <a:pPr marL="0" lvl="0" indent="0" algn="l" rtl="0">
              <a:spcBef>
                <a:spcPts val="1200"/>
              </a:spcBef>
              <a:spcAft>
                <a:spcPts val="1200"/>
              </a:spcAft>
              <a:buNone/>
            </a:pPr>
            <a:endParaRPr dirty="0"/>
          </a:p>
        </p:txBody>
      </p:sp>
      <p:pic>
        <p:nvPicPr>
          <p:cNvPr id="251" name="Google Shape;251;p41"/>
          <p:cNvPicPr preferRelativeResize="0"/>
          <p:nvPr/>
        </p:nvPicPr>
        <p:blipFill>
          <a:blip r:embed="rId3">
            <a:alphaModFix/>
          </a:blip>
          <a:stretch>
            <a:fillRect/>
          </a:stretch>
        </p:blipFill>
        <p:spPr>
          <a:xfrm>
            <a:off x="2598324" y="2859436"/>
            <a:ext cx="5996976" cy="1983783"/>
          </a:xfrm>
          <a:prstGeom prst="rect">
            <a:avLst/>
          </a:prstGeom>
          <a:noFill/>
          <a:ln>
            <a:noFill/>
          </a:ln>
        </p:spPr>
      </p:pic>
      <p:sp>
        <p:nvSpPr>
          <p:cNvPr id="252" name="Google Shape;252;p4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58" name="Google Shape;258;p42"/>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Collection of examples. </a:t>
            </a:r>
            <a:endParaRPr/>
          </a:p>
          <a:p>
            <a:pPr marL="457200" lvl="0" indent="-355600" algn="l" rtl="0">
              <a:spcBef>
                <a:spcPts val="0"/>
              </a:spcBef>
              <a:spcAft>
                <a:spcPts val="0"/>
              </a:spcAft>
              <a:buSzPts val="2000"/>
              <a:buChar char="●"/>
            </a:pPr>
            <a:r>
              <a:rPr lang="en">
                <a:highlight>
                  <a:schemeClr val="lt1"/>
                </a:highlight>
              </a:rPr>
              <a:t>Data has to be converted to an useful and a suitable numerical </a:t>
            </a:r>
            <a:r>
              <a:rPr lang="en" b="1">
                <a:highlight>
                  <a:schemeClr val="lt1"/>
                </a:highlight>
              </a:rPr>
              <a:t>representation</a:t>
            </a:r>
            <a:r>
              <a:rPr lang="en">
                <a:highlight>
                  <a:schemeClr val="lt1"/>
                </a:highlight>
              </a:rPr>
              <a:t>. </a:t>
            </a:r>
            <a:endParaRPr>
              <a:highlight>
                <a:schemeClr val="lt1"/>
              </a:highlight>
            </a:endParaRPr>
          </a:p>
          <a:p>
            <a:pPr marL="457200" lvl="0" indent="-355600" algn="l" rtl="0">
              <a:spcBef>
                <a:spcPts val="0"/>
              </a:spcBef>
              <a:spcAft>
                <a:spcPts val="0"/>
              </a:spcAft>
              <a:buSzPts val="2000"/>
              <a:buChar char="●"/>
            </a:pPr>
            <a:r>
              <a:rPr lang="en">
                <a:highlight>
                  <a:schemeClr val="lt1"/>
                </a:highlight>
              </a:rPr>
              <a:t>Each example (or data point, data instance, sample) typically consists of a set of attributes called </a:t>
            </a:r>
            <a:r>
              <a:rPr lang="en" b="1">
                <a:highlight>
                  <a:schemeClr val="lt1"/>
                </a:highlight>
              </a:rPr>
              <a:t>features</a:t>
            </a:r>
            <a:r>
              <a:rPr lang="en">
                <a:highlight>
                  <a:schemeClr val="lt1"/>
                </a:highlight>
              </a:rPr>
              <a:t> (or covariates), from which the model must make its predictions. </a:t>
            </a:r>
            <a:endParaRPr>
              <a:highlight>
                <a:schemeClr val="lt1"/>
              </a:highlight>
            </a:endParaRPr>
          </a:p>
          <a:p>
            <a:pPr marL="457200" lvl="0" indent="-355600" algn="l" rtl="0">
              <a:spcBef>
                <a:spcPts val="0"/>
              </a:spcBef>
              <a:spcAft>
                <a:spcPts val="0"/>
              </a:spcAft>
              <a:buSzPts val="2000"/>
              <a:buChar char="●"/>
            </a:pPr>
            <a:r>
              <a:rPr lang="en">
                <a:highlight>
                  <a:schemeClr val="lt1"/>
                </a:highlight>
              </a:rPr>
              <a:t>In the supervised learning problems, the attribute to be predicted is designated as the </a:t>
            </a:r>
            <a:r>
              <a:rPr lang="en" b="1">
                <a:highlight>
                  <a:schemeClr val="lt1"/>
                </a:highlight>
              </a:rPr>
              <a:t>label</a:t>
            </a:r>
            <a:r>
              <a:rPr lang="en">
                <a:highlight>
                  <a:schemeClr val="lt1"/>
                </a:highlight>
              </a:rPr>
              <a:t> (or target).</a:t>
            </a:r>
            <a:endParaRPr>
              <a:highlight>
                <a:schemeClr val="lt1"/>
              </a:highlight>
            </a:endParaRPr>
          </a:p>
          <a:p>
            <a:pPr marL="457200" lvl="0" indent="-355600" algn="l" rtl="0">
              <a:spcBef>
                <a:spcPts val="0"/>
              </a:spcBef>
              <a:spcAft>
                <a:spcPts val="0"/>
              </a:spcAft>
              <a:buSzPts val="2000"/>
              <a:buChar char="●"/>
            </a:pPr>
            <a:r>
              <a:rPr lang="en">
                <a:highlight>
                  <a:schemeClr val="lt1"/>
                </a:highlight>
              </a:rPr>
              <a:t>Mathematically, a set of </a:t>
            </a:r>
            <a:r>
              <a:rPr lang="en" i="1">
                <a:highlight>
                  <a:schemeClr val="lt1"/>
                </a:highlight>
              </a:rPr>
              <a:t>m </a:t>
            </a:r>
            <a:r>
              <a:rPr lang="en">
                <a:highlight>
                  <a:schemeClr val="lt1"/>
                </a:highlight>
              </a:rPr>
              <a:t>examples, </a:t>
            </a:r>
            <a:endParaRPr>
              <a:highlight>
                <a:schemeClr val="lt1"/>
              </a:highlight>
            </a:endParaRPr>
          </a:p>
          <a:p>
            <a:pPr marL="457200" lvl="0" indent="-355600" algn="l" rtl="0">
              <a:spcBef>
                <a:spcPts val="0"/>
              </a:spcBef>
              <a:spcAft>
                <a:spcPts val="0"/>
              </a:spcAft>
              <a:buSzPts val="2000"/>
              <a:buChar char="●"/>
            </a:pPr>
            <a:r>
              <a:rPr lang="en">
                <a:highlight>
                  <a:schemeClr val="lt1"/>
                </a:highlight>
              </a:rPr>
              <a:t>We need </a:t>
            </a:r>
            <a:r>
              <a:rPr lang="en" b="1">
                <a:highlight>
                  <a:schemeClr val="lt1"/>
                </a:highlight>
              </a:rPr>
              <a:t>right</a:t>
            </a:r>
            <a:r>
              <a:rPr lang="en">
                <a:highlight>
                  <a:schemeClr val="lt1"/>
                </a:highlight>
              </a:rPr>
              <a:t> data.</a:t>
            </a:r>
            <a:endParaRPr/>
          </a:p>
        </p:txBody>
      </p:sp>
      <p:pic>
        <p:nvPicPr>
          <p:cNvPr id="259" name="Google Shape;259;p42"/>
          <p:cNvPicPr preferRelativeResize="0"/>
          <p:nvPr/>
        </p:nvPicPr>
        <p:blipFill>
          <a:blip r:embed="rId3">
            <a:alphaModFix/>
          </a:blip>
          <a:stretch>
            <a:fillRect/>
          </a:stretch>
        </p:blipFill>
        <p:spPr>
          <a:xfrm>
            <a:off x="5187488" y="3589863"/>
            <a:ext cx="2047875" cy="466725"/>
          </a:xfrm>
          <a:prstGeom prst="rect">
            <a:avLst/>
          </a:prstGeom>
          <a:noFill/>
          <a:ln>
            <a:noFill/>
          </a:ln>
        </p:spPr>
      </p:pic>
      <p:sp>
        <p:nvSpPr>
          <p:cNvPr id="260" name="Google Shape;260;p42"/>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66" name="Google Shape;266;p4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highlight>
                  <a:schemeClr val="lt1"/>
                </a:highlight>
              </a:rPr>
              <a:t>Dimensionality</a:t>
            </a:r>
            <a:r>
              <a:rPr lang="en">
                <a:highlight>
                  <a:schemeClr val="lt1"/>
                </a:highlight>
              </a:rPr>
              <a:t> of data</a:t>
            </a:r>
            <a:endParaRPr>
              <a:highlight>
                <a:schemeClr val="lt1"/>
              </a:highlight>
            </a:endParaRPr>
          </a:p>
          <a:p>
            <a:pPr marL="914400" lvl="1" indent="-330200" algn="l" rtl="0">
              <a:spcBef>
                <a:spcPts val="0"/>
              </a:spcBef>
              <a:spcAft>
                <a:spcPts val="0"/>
              </a:spcAft>
              <a:buSzPts val="1600"/>
              <a:buChar char="○"/>
            </a:pPr>
            <a:r>
              <a:rPr lang="en"/>
              <a:t>Each example has the same number of numerical values. This data consist of fixed-length vectors. Eg: Image</a:t>
            </a:r>
            <a:endParaRPr/>
          </a:p>
          <a:p>
            <a:pPr marL="914400" lvl="1" indent="-330200" algn="l" rtl="0">
              <a:spcBef>
                <a:spcPts val="0"/>
              </a:spcBef>
              <a:spcAft>
                <a:spcPts val="0"/>
              </a:spcAft>
              <a:buSzPts val="1600"/>
              <a:buChar char="○"/>
            </a:pPr>
            <a:r>
              <a:rPr lang="en"/>
              <a:t>The constant length of the vectors as the dimensionality of the data. </a:t>
            </a:r>
            <a:endParaRPr/>
          </a:p>
          <a:p>
            <a:pPr marL="914400" lvl="1" indent="-330200" algn="l" rtl="0">
              <a:spcBef>
                <a:spcPts val="0"/>
              </a:spcBef>
              <a:spcAft>
                <a:spcPts val="0"/>
              </a:spcAft>
              <a:buSzPts val="1600"/>
              <a:buChar char="○"/>
            </a:pPr>
            <a:r>
              <a:rPr lang="en"/>
              <a:t>Text data has varying-length data.</a:t>
            </a:r>
            <a:endParaRPr/>
          </a:p>
        </p:txBody>
      </p:sp>
      <p:sp>
        <p:nvSpPr>
          <p:cNvPr id="267" name="Google Shape;267;p4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Model</a:t>
            </a:r>
            <a:endParaRPr/>
          </a:p>
        </p:txBody>
      </p:sp>
      <p:sp>
        <p:nvSpPr>
          <p:cNvPr id="273" name="Google Shape;273;p4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Model denotes the </a:t>
            </a:r>
            <a:r>
              <a:rPr lang="en" b="1"/>
              <a:t>computational machinery</a:t>
            </a:r>
            <a:r>
              <a:rPr lang="en"/>
              <a:t> for ingesting data of one type, and spitting out predictions of a possibly different type. </a:t>
            </a:r>
            <a:endParaRPr/>
          </a:p>
          <a:p>
            <a:pPr marL="457200" lvl="0" indent="-355600" algn="l" rtl="0">
              <a:spcBef>
                <a:spcPts val="0"/>
              </a:spcBef>
              <a:spcAft>
                <a:spcPts val="0"/>
              </a:spcAft>
              <a:buSzPts val="2000"/>
              <a:buChar char="●"/>
            </a:pPr>
            <a:r>
              <a:rPr lang="en"/>
              <a:t>Deep learning models consist of many successive transformations of the data that are chained together top to bottom, thus the name deep learning.</a:t>
            </a:r>
            <a:endParaRPr/>
          </a:p>
          <a:p>
            <a:pPr marL="457200" lvl="0" indent="0" algn="l" rtl="0">
              <a:spcBef>
                <a:spcPts val="1200"/>
              </a:spcBef>
              <a:spcAft>
                <a:spcPts val="1200"/>
              </a:spcAft>
              <a:buNone/>
            </a:pPr>
            <a:endParaRPr/>
          </a:p>
        </p:txBody>
      </p:sp>
      <p:pic>
        <p:nvPicPr>
          <p:cNvPr id="274" name="Google Shape;274;p44"/>
          <p:cNvPicPr preferRelativeResize="0"/>
          <p:nvPr/>
        </p:nvPicPr>
        <p:blipFill>
          <a:blip r:embed="rId3">
            <a:alphaModFix/>
          </a:blip>
          <a:stretch>
            <a:fillRect/>
          </a:stretch>
        </p:blipFill>
        <p:spPr>
          <a:xfrm>
            <a:off x="1766875" y="3030300"/>
            <a:ext cx="5610225" cy="1504950"/>
          </a:xfrm>
          <a:prstGeom prst="rect">
            <a:avLst/>
          </a:prstGeom>
          <a:noFill/>
          <a:ln>
            <a:noFill/>
          </a:ln>
        </p:spPr>
      </p:pic>
      <p:sp>
        <p:nvSpPr>
          <p:cNvPr id="275" name="Google Shape;275;p4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Objective Function</a:t>
            </a:r>
            <a:endParaRPr/>
          </a:p>
        </p:txBody>
      </p:sp>
      <p:sp>
        <p:nvSpPr>
          <p:cNvPr id="281" name="Google Shape;281;p4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t>Learning means improving at some task over time. </a:t>
            </a:r>
            <a:endParaRPr b="1"/>
          </a:p>
          <a:p>
            <a:pPr marL="457200" lvl="0" indent="-355600" algn="l" rtl="0">
              <a:spcBef>
                <a:spcPts val="0"/>
              </a:spcBef>
              <a:spcAft>
                <a:spcPts val="0"/>
              </a:spcAft>
              <a:buSzPts val="2000"/>
              <a:buChar char="●"/>
            </a:pPr>
            <a:r>
              <a:rPr lang="en"/>
              <a:t>A formal mathematical system of learning machines is defined using formal measures of how good (or bad) the models are. These formal measures are called as </a:t>
            </a:r>
            <a:r>
              <a:rPr lang="en" b="1"/>
              <a:t>objective functions</a:t>
            </a:r>
            <a:r>
              <a:rPr lang="en"/>
              <a:t>. </a:t>
            </a:r>
            <a:endParaRPr/>
          </a:p>
          <a:p>
            <a:pPr marL="457200" lvl="0" indent="-355600" algn="l" rtl="0">
              <a:spcBef>
                <a:spcPts val="0"/>
              </a:spcBef>
              <a:spcAft>
                <a:spcPts val="0"/>
              </a:spcAft>
              <a:buSzPts val="2000"/>
              <a:buChar char="●"/>
            </a:pPr>
            <a:r>
              <a:rPr lang="en"/>
              <a:t>By convention, objective functions are defined so that lower is better. </a:t>
            </a:r>
            <a:endParaRPr/>
          </a:p>
          <a:p>
            <a:pPr marL="457200" lvl="0" indent="-355600" algn="l" rtl="0">
              <a:spcBef>
                <a:spcPts val="0"/>
              </a:spcBef>
              <a:spcAft>
                <a:spcPts val="0"/>
              </a:spcAft>
              <a:buSzPts val="2000"/>
              <a:buChar char="●"/>
            </a:pPr>
            <a:r>
              <a:rPr lang="en"/>
              <a:t>Because lower is better, these functions are sometimes called </a:t>
            </a:r>
            <a:r>
              <a:rPr lang="en" b="1"/>
              <a:t>loss functions</a:t>
            </a:r>
            <a:r>
              <a:rPr lang="en"/>
              <a:t>.</a:t>
            </a:r>
            <a:endParaRPr/>
          </a:p>
          <a:p>
            <a:pPr marL="457200" lvl="0" indent="0" algn="l" rtl="0">
              <a:spcBef>
                <a:spcPts val="1200"/>
              </a:spcBef>
              <a:spcAft>
                <a:spcPts val="1200"/>
              </a:spcAft>
              <a:buNone/>
            </a:pPr>
            <a:endParaRPr/>
          </a:p>
        </p:txBody>
      </p:sp>
      <p:sp>
        <p:nvSpPr>
          <p:cNvPr id="282" name="Google Shape;282;p4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3. Loss Functions</a:t>
            </a:r>
            <a:endParaRPr/>
          </a:p>
          <a:p>
            <a:pPr marL="0" lvl="0" indent="0" algn="l" rtl="0">
              <a:spcBef>
                <a:spcPts val="0"/>
              </a:spcBef>
              <a:spcAft>
                <a:spcPts val="0"/>
              </a:spcAft>
              <a:buNone/>
            </a:pPr>
            <a:endParaRPr/>
          </a:p>
        </p:txBody>
      </p:sp>
      <p:sp>
        <p:nvSpPr>
          <p:cNvPr id="288" name="Google Shape;288;p4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To predict numerical values (regression), the most common loss function is squared error.</a:t>
            </a:r>
            <a:endParaRPr/>
          </a:p>
          <a:p>
            <a:pPr marL="457200" lvl="0" indent="-355600" algn="l" rtl="0">
              <a:spcBef>
                <a:spcPts val="0"/>
              </a:spcBef>
              <a:spcAft>
                <a:spcPts val="0"/>
              </a:spcAft>
              <a:buSzPts val="2000"/>
              <a:buChar char="●"/>
            </a:pPr>
            <a:r>
              <a:rPr lang="en"/>
              <a:t>For classification, the most common objective is to minimize error rate, i.e., the fraction of examples on which our predictions disagree with the ground truth.</a:t>
            </a:r>
            <a:endParaRPr/>
          </a:p>
          <a:p>
            <a:pPr marL="0" lvl="0" indent="0" algn="l" rtl="0">
              <a:spcBef>
                <a:spcPts val="1200"/>
              </a:spcBef>
              <a:spcAft>
                <a:spcPts val="1200"/>
              </a:spcAft>
              <a:buNone/>
            </a:pPr>
            <a:endParaRPr/>
          </a:p>
        </p:txBody>
      </p:sp>
      <p:sp>
        <p:nvSpPr>
          <p:cNvPr id="289" name="Google Shape;289;p4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Loss Functions</a:t>
            </a:r>
            <a:endParaRPr/>
          </a:p>
        </p:txBody>
      </p:sp>
      <p:sp>
        <p:nvSpPr>
          <p:cNvPr id="295" name="Google Shape;295;p4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Loss function is defined </a:t>
            </a:r>
            <a:r>
              <a:rPr lang="en" b="1"/>
              <a:t>with respect to the modelʼs parameters</a:t>
            </a:r>
            <a:r>
              <a:rPr lang="en"/>
              <a:t> and </a:t>
            </a:r>
            <a:r>
              <a:rPr lang="en" b="1"/>
              <a:t>depends upon the dataset</a:t>
            </a:r>
            <a:r>
              <a:rPr lang="en"/>
              <a:t>. </a:t>
            </a:r>
            <a:endParaRPr/>
          </a:p>
          <a:p>
            <a:pPr marL="457200" lvl="0" indent="-355600" algn="l" rtl="0">
              <a:spcBef>
                <a:spcPts val="0"/>
              </a:spcBef>
              <a:spcAft>
                <a:spcPts val="0"/>
              </a:spcAft>
              <a:buSzPts val="2000"/>
              <a:buChar char="●"/>
            </a:pPr>
            <a:r>
              <a:rPr lang="en"/>
              <a:t>We learn the best values of our modelʼs parameters by </a:t>
            </a:r>
            <a:r>
              <a:rPr lang="en" b="1"/>
              <a:t>minimizing the loss</a:t>
            </a:r>
            <a:r>
              <a:rPr lang="en"/>
              <a:t> incurred on a set consisting of some number of examples collected for training. However, doing well on the training data does not guarantee that we will do well on unseen data. I.e </a:t>
            </a:r>
            <a:r>
              <a:rPr lang="en" b="1"/>
              <a:t>Model has to generalize better.</a:t>
            </a:r>
            <a:endParaRPr b="1"/>
          </a:p>
          <a:p>
            <a:pPr marL="457200" lvl="0" indent="-355600" algn="l" rtl="0">
              <a:spcBef>
                <a:spcPts val="0"/>
              </a:spcBef>
              <a:spcAft>
                <a:spcPts val="0"/>
              </a:spcAft>
              <a:buSzPts val="2000"/>
              <a:buChar char="●"/>
            </a:pPr>
            <a:r>
              <a:rPr lang="en"/>
              <a:t>When a model performs well on the training set but fails to generalize to unseen data, we say that it is </a:t>
            </a:r>
            <a:r>
              <a:rPr lang="en" b="1"/>
              <a:t>overfitting</a:t>
            </a:r>
            <a:r>
              <a:rPr lang="en"/>
              <a:t>. </a:t>
            </a:r>
            <a:endParaRPr/>
          </a:p>
        </p:txBody>
      </p:sp>
      <p:sp>
        <p:nvSpPr>
          <p:cNvPr id="296" name="Google Shape;296;p4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Optimization Algorithms</a:t>
            </a:r>
            <a:endParaRPr/>
          </a:p>
        </p:txBody>
      </p:sp>
      <p:sp>
        <p:nvSpPr>
          <p:cNvPr id="302" name="Google Shape;302;p4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Optimization Algorithm is an algorithm capable of </a:t>
            </a:r>
            <a:r>
              <a:rPr lang="en" b="1"/>
              <a:t>searching for the best possible parameters</a:t>
            </a:r>
            <a:r>
              <a:rPr lang="en"/>
              <a:t> for </a:t>
            </a:r>
            <a:r>
              <a:rPr lang="en" b="1"/>
              <a:t>minimizing the loss function</a:t>
            </a:r>
            <a:r>
              <a:rPr lang="en"/>
              <a:t>. </a:t>
            </a:r>
            <a:endParaRPr/>
          </a:p>
          <a:p>
            <a:pPr marL="457200" lvl="0" indent="-355600" algn="l" rtl="0">
              <a:spcBef>
                <a:spcPts val="0"/>
              </a:spcBef>
              <a:spcAft>
                <a:spcPts val="0"/>
              </a:spcAft>
              <a:buSzPts val="2000"/>
              <a:buChar char="●"/>
            </a:pPr>
            <a:r>
              <a:rPr lang="en"/>
              <a:t>Popular optimization algorithms for deep learning are based on an approach called </a:t>
            </a:r>
            <a:r>
              <a:rPr lang="en" b="1"/>
              <a:t>gradient descent</a:t>
            </a:r>
            <a:r>
              <a:rPr lang="en"/>
              <a:t>.</a:t>
            </a:r>
            <a:endParaRPr/>
          </a:p>
          <a:p>
            <a:pPr marL="0" lvl="0" indent="0" algn="l" rtl="0">
              <a:spcBef>
                <a:spcPts val="1200"/>
              </a:spcBef>
              <a:spcAft>
                <a:spcPts val="1200"/>
              </a:spcAft>
              <a:buNone/>
            </a:pPr>
            <a:endParaRPr/>
          </a:p>
        </p:txBody>
      </p:sp>
      <p:sp>
        <p:nvSpPr>
          <p:cNvPr id="303" name="Google Shape;303;p4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09" name="Google Shape;309;p4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We have to tell a computer explicitly how to map from inputs to outputs.</a:t>
            </a:r>
            <a:endParaRPr/>
          </a:p>
          <a:p>
            <a:pPr marL="457200" lvl="0" indent="-355600" algn="l" rtl="0">
              <a:spcBef>
                <a:spcPts val="0"/>
              </a:spcBef>
              <a:spcAft>
                <a:spcPts val="0"/>
              </a:spcAft>
              <a:buSzPts val="2000"/>
              <a:buChar char="➔"/>
            </a:pPr>
            <a:r>
              <a:rPr lang="en"/>
              <a:t>We have to define the problem precisely, pinning down the exact nature of the inputs and outputs, and choosing an appropriate model family.</a:t>
            </a:r>
            <a:endParaRPr/>
          </a:p>
          <a:p>
            <a:pPr marL="457200" lvl="0" indent="-355600" algn="l" rtl="0">
              <a:spcBef>
                <a:spcPts val="0"/>
              </a:spcBef>
              <a:spcAft>
                <a:spcPts val="0"/>
              </a:spcAft>
              <a:buSzPts val="2000"/>
              <a:buChar char="➔"/>
            </a:pPr>
            <a:r>
              <a:rPr lang="en"/>
              <a:t>Collect a huge dataset containing examples of audio and label those that do and that do not contain the wake word.</a:t>
            </a:r>
            <a:endParaRPr/>
          </a:p>
        </p:txBody>
      </p:sp>
      <p:pic>
        <p:nvPicPr>
          <p:cNvPr id="310" name="Google Shape;310;p49"/>
          <p:cNvPicPr preferRelativeResize="0"/>
          <p:nvPr/>
        </p:nvPicPr>
        <p:blipFill>
          <a:blip r:embed="rId3">
            <a:alphaModFix/>
          </a:blip>
          <a:stretch>
            <a:fillRect/>
          </a:stretch>
        </p:blipFill>
        <p:spPr>
          <a:xfrm>
            <a:off x="1766888" y="3480825"/>
            <a:ext cx="5610225" cy="1504950"/>
          </a:xfrm>
          <a:prstGeom prst="rect">
            <a:avLst/>
          </a:prstGeom>
          <a:noFill/>
          <a:ln>
            <a:noFill/>
          </a:ln>
        </p:spPr>
      </p:pic>
      <p:sp>
        <p:nvSpPr>
          <p:cNvPr id="311" name="Google Shape;311;p4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17" name="Google Shape;317;p5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Char char="➔"/>
            </a:pPr>
            <a:r>
              <a:rPr lang="en"/>
              <a:t>Create a Model</a:t>
            </a:r>
            <a:endParaRPr/>
          </a:p>
          <a:p>
            <a:pPr marL="914400" lvl="1" indent="-330200" algn="l" rtl="0">
              <a:spcBef>
                <a:spcPts val="0"/>
              </a:spcBef>
              <a:spcAft>
                <a:spcPts val="0"/>
              </a:spcAft>
              <a:buSzPts val="1600"/>
              <a:buChar char="◆"/>
            </a:pPr>
            <a:r>
              <a:rPr lang="en"/>
              <a:t>Define a flexible program whose behavior is determined by a number of parameters.</a:t>
            </a:r>
            <a:endParaRPr/>
          </a:p>
          <a:p>
            <a:pPr marL="914400" lvl="1" indent="-330200" algn="l" rtl="0">
              <a:spcBef>
                <a:spcPts val="0"/>
              </a:spcBef>
              <a:spcAft>
                <a:spcPts val="0"/>
              </a:spcAft>
              <a:buSzPts val="1600"/>
              <a:buChar char="◆"/>
            </a:pPr>
            <a:r>
              <a:rPr lang="en"/>
              <a:t>To determine the best possible set of parameters, use the data. The parameters should improve the performance of the program with respect to some measure of performance on the task of interest.</a:t>
            </a:r>
            <a:endParaRPr/>
          </a:p>
          <a:p>
            <a:pPr marL="914400" lvl="1" indent="-330200" algn="l" rtl="0">
              <a:spcBef>
                <a:spcPts val="0"/>
              </a:spcBef>
              <a:spcAft>
                <a:spcPts val="0"/>
              </a:spcAft>
              <a:buSzPts val="1600"/>
              <a:buChar char="◆"/>
            </a:pPr>
            <a:r>
              <a:rPr lang="en"/>
              <a:t>After fixing the parameters, we call the program a model.</a:t>
            </a:r>
            <a:endParaRPr/>
          </a:p>
          <a:p>
            <a:pPr marL="1371600" lvl="2" indent="-330200" algn="l" rtl="0">
              <a:spcBef>
                <a:spcPts val="0"/>
              </a:spcBef>
              <a:spcAft>
                <a:spcPts val="0"/>
              </a:spcAft>
              <a:buSzPts val="1600"/>
              <a:buChar char="●"/>
            </a:pPr>
            <a:r>
              <a:rPr lang="en"/>
              <a:t>Eg: The model receives a snippet of audio as input, and the model generates a selection among yes, no as output.</a:t>
            </a:r>
            <a:endParaRPr/>
          </a:p>
          <a:p>
            <a:pPr marL="914400" lvl="1" indent="-330200" algn="l" rtl="0">
              <a:spcBef>
                <a:spcPts val="0"/>
              </a:spcBef>
              <a:spcAft>
                <a:spcPts val="0"/>
              </a:spcAft>
              <a:buSzPts val="1600"/>
              <a:buChar char="◆"/>
            </a:pPr>
            <a:r>
              <a:rPr lang="en"/>
              <a:t>The set of all distinct programs (input-output mappings) that we can produce just by manipulating the parameters is called a family of models.</a:t>
            </a:r>
            <a:endParaRPr/>
          </a:p>
          <a:p>
            <a:pPr marL="1371600" lvl="2" indent="-330200" algn="l" rtl="0">
              <a:spcBef>
                <a:spcPts val="0"/>
              </a:spcBef>
              <a:spcAft>
                <a:spcPts val="0"/>
              </a:spcAft>
              <a:buSzPts val="1600"/>
              <a:buChar char="●"/>
            </a:pPr>
            <a:r>
              <a:rPr lang="en"/>
              <a:t>Eg: We expect that the same model family should be suitable for ”Alexa” recognition and ”Hey Siri” recognition because they seem, intuitively, to be similar tasks.</a:t>
            </a:r>
            <a:endParaRPr/>
          </a:p>
        </p:txBody>
      </p:sp>
      <p:sp>
        <p:nvSpPr>
          <p:cNvPr id="318" name="Google Shape;318;p5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24" name="Google Shape;324;p5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The meta-program that uses our dataset to choose the parameters is called a learning algorithm.</a:t>
            </a:r>
            <a:endParaRPr/>
          </a:p>
          <a:p>
            <a:pPr marL="457200" lvl="0" indent="-355600" algn="l" rtl="0">
              <a:spcBef>
                <a:spcPts val="0"/>
              </a:spcBef>
              <a:spcAft>
                <a:spcPts val="0"/>
              </a:spcAft>
              <a:buSzPts val="2000"/>
              <a:buChar char="➔"/>
            </a:pPr>
            <a:r>
              <a:rPr lang="en"/>
              <a:t>In machine learning, the learning is the process by which we discover the right setting of the parameter coercing the desired behavior from our model.</a:t>
            </a:r>
            <a:endParaRPr/>
          </a:p>
          <a:p>
            <a:pPr marL="457200" lvl="0" indent="-355600" algn="l" rtl="0">
              <a:spcBef>
                <a:spcPts val="0"/>
              </a:spcBef>
              <a:spcAft>
                <a:spcPts val="0"/>
              </a:spcAft>
              <a:buSzPts val="2000"/>
              <a:buChar char="➔"/>
            </a:pPr>
            <a:r>
              <a:rPr lang="en"/>
              <a:t>Train the model with data.</a:t>
            </a:r>
            <a:endParaRPr/>
          </a:p>
          <a:p>
            <a:pPr marL="0" lvl="0" indent="0" algn="l" rtl="0">
              <a:spcBef>
                <a:spcPts val="1200"/>
              </a:spcBef>
              <a:spcAft>
                <a:spcPts val="1200"/>
              </a:spcAft>
              <a:buNone/>
            </a:pPr>
            <a:endParaRPr/>
          </a:p>
        </p:txBody>
      </p:sp>
      <p:pic>
        <p:nvPicPr>
          <p:cNvPr id="325" name="Google Shape;325;p51"/>
          <p:cNvPicPr preferRelativeResize="0"/>
          <p:nvPr/>
        </p:nvPicPr>
        <p:blipFill>
          <a:blip r:embed="rId3">
            <a:alphaModFix/>
          </a:blip>
          <a:stretch>
            <a:fillRect/>
          </a:stretch>
        </p:blipFill>
        <p:spPr>
          <a:xfrm>
            <a:off x="3360388" y="2796824"/>
            <a:ext cx="5166426" cy="2082225"/>
          </a:xfrm>
          <a:prstGeom prst="rect">
            <a:avLst/>
          </a:prstGeom>
          <a:noFill/>
          <a:ln>
            <a:noFill/>
          </a:ln>
        </p:spPr>
      </p:pic>
      <p:sp>
        <p:nvSpPr>
          <p:cNvPr id="326" name="Google Shape;326;p5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Kinds of Machine Learning Problems</a:t>
            </a:r>
            <a:endParaRPr/>
          </a:p>
        </p:txBody>
      </p:sp>
      <p:sp>
        <p:nvSpPr>
          <p:cNvPr id="332" name="Google Shape;332;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Problems</a:t>
            </a:r>
            <a:endParaRPr/>
          </a:p>
        </p:txBody>
      </p:sp>
      <p:sp>
        <p:nvSpPr>
          <p:cNvPr id="338" name="Google Shape;338;p5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Supervised Learning</a:t>
            </a:r>
            <a:endParaRPr/>
          </a:p>
          <a:p>
            <a:pPr marL="914400" lvl="1" indent="-330200" algn="l" rtl="0">
              <a:spcBef>
                <a:spcPts val="0"/>
              </a:spcBef>
              <a:spcAft>
                <a:spcPts val="0"/>
              </a:spcAft>
              <a:buSzPts val="1600"/>
              <a:buChar char="○"/>
            </a:pPr>
            <a:r>
              <a:rPr lang="en"/>
              <a:t>Training by examples</a:t>
            </a:r>
            <a:endParaRPr/>
          </a:p>
          <a:p>
            <a:pPr marL="914400" lvl="1" indent="-330200" algn="l" rtl="0">
              <a:spcBef>
                <a:spcPts val="0"/>
              </a:spcBef>
              <a:spcAft>
                <a:spcPts val="0"/>
              </a:spcAft>
              <a:buSzPts val="1600"/>
              <a:buChar char="○"/>
            </a:pPr>
            <a:r>
              <a:rPr lang="en"/>
              <a:t>The model is given a dataset which has the data and its labels</a:t>
            </a:r>
            <a:endParaRPr/>
          </a:p>
          <a:p>
            <a:pPr marL="914400" lvl="1" indent="-330200" algn="l" rtl="0">
              <a:spcBef>
                <a:spcPts val="0"/>
              </a:spcBef>
              <a:spcAft>
                <a:spcPts val="0"/>
              </a:spcAft>
              <a:buSzPts val="1600"/>
              <a:buChar char="○"/>
            </a:pPr>
            <a:r>
              <a:rPr lang="en"/>
              <a:t>Eg: Classification, Regression</a:t>
            </a:r>
            <a:endParaRPr/>
          </a:p>
          <a:p>
            <a:pPr marL="914400" lvl="1" indent="-330200" algn="l" rtl="0">
              <a:spcBef>
                <a:spcPts val="0"/>
              </a:spcBef>
              <a:spcAft>
                <a:spcPts val="0"/>
              </a:spcAft>
              <a:buSzPts val="1600"/>
              <a:buChar char="○"/>
            </a:pPr>
            <a:r>
              <a:rPr lang="en"/>
              <a:t>You will learn this in this course and Machine Learning Course</a:t>
            </a:r>
            <a:endParaRPr/>
          </a:p>
          <a:p>
            <a:pPr marL="457200" lvl="0" indent="-355600" algn="l" rtl="0">
              <a:spcBef>
                <a:spcPts val="0"/>
              </a:spcBef>
              <a:spcAft>
                <a:spcPts val="0"/>
              </a:spcAft>
              <a:buSzPts val="2000"/>
              <a:buAutoNum type="arabicPeriod"/>
            </a:pPr>
            <a:r>
              <a:rPr lang="en"/>
              <a:t>Unsupervised Learning</a:t>
            </a:r>
            <a:endParaRPr/>
          </a:p>
          <a:p>
            <a:pPr marL="914400" lvl="1" indent="-330200" algn="l" rtl="0">
              <a:spcBef>
                <a:spcPts val="0"/>
              </a:spcBef>
              <a:spcAft>
                <a:spcPts val="0"/>
              </a:spcAft>
              <a:buSzPts val="1600"/>
              <a:buChar char="○"/>
            </a:pPr>
            <a:r>
              <a:rPr lang="en"/>
              <a:t>Situations where we feed the model a giant dataset containing only the features</a:t>
            </a:r>
            <a:endParaRPr/>
          </a:p>
          <a:p>
            <a:pPr marL="914400" lvl="1" indent="-330200" algn="l" rtl="0">
              <a:spcBef>
                <a:spcPts val="0"/>
              </a:spcBef>
              <a:spcAft>
                <a:spcPts val="0"/>
              </a:spcAft>
              <a:buSzPts val="1600"/>
              <a:buChar char="○"/>
            </a:pPr>
            <a:r>
              <a:rPr lang="en"/>
              <a:t>Eg: Clustering, Generate synthetic data (uses GAN)</a:t>
            </a:r>
            <a:endParaRPr/>
          </a:p>
          <a:p>
            <a:pPr marL="914400" lvl="1" indent="-330200" algn="l" rtl="0">
              <a:spcBef>
                <a:spcPts val="0"/>
              </a:spcBef>
              <a:spcAft>
                <a:spcPts val="0"/>
              </a:spcAft>
              <a:buSzPts val="1600"/>
              <a:buChar char="○"/>
            </a:pPr>
            <a:r>
              <a:rPr lang="en"/>
              <a:t>You will learn this in Advanced Deep Learning Course and Machine Learning Course</a:t>
            </a:r>
            <a:endParaRPr/>
          </a:p>
          <a:p>
            <a:pPr marL="457200" lvl="0" indent="-355600" algn="l" rtl="0">
              <a:spcBef>
                <a:spcPts val="0"/>
              </a:spcBef>
              <a:spcAft>
                <a:spcPts val="0"/>
              </a:spcAft>
              <a:buSzPts val="2000"/>
              <a:buAutoNum type="arabicPeriod"/>
            </a:pPr>
            <a:r>
              <a:rPr lang="en"/>
              <a:t>Reinforcement Learning</a:t>
            </a:r>
            <a:endParaRPr/>
          </a:p>
          <a:p>
            <a:pPr marL="914400" lvl="1" indent="-330200" algn="l" rtl="0">
              <a:spcBef>
                <a:spcPts val="0"/>
              </a:spcBef>
              <a:spcAft>
                <a:spcPts val="0"/>
              </a:spcAft>
              <a:buSzPts val="1600"/>
              <a:buChar char="○"/>
            </a:pPr>
            <a:r>
              <a:rPr lang="en"/>
              <a:t>Develop an agent that interacts with an environment and takes actions over a series of time steps.</a:t>
            </a:r>
            <a:endParaRPr/>
          </a:p>
          <a:p>
            <a:pPr marL="914400" lvl="1" indent="-330200" algn="l" rtl="0">
              <a:spcBef>
                <a:spcPts val="0"/>
              </a:spcBef>
              <a:spcAft>
                <a:spcPts val="0"/>
              </a:spcAft>
              <a:buSzPts val="1600"/>
              <a:buChar char="○"/>
            </a:pPr>
            <a:r>
              <a:rPr lang="en"/>
              <a:t>You will learn this in Deep Reinforcement Learning Course</a:t>
            </a:r>
            <a:endParaRPr/>
          </a:p>
        </p:txBody>
      </p:sp>
      <p:sp>
        <p:nvSpPr>
          <p:cNvPr id="339" name="Google Shape;339;p5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a:t>
            </a:r>
            <a:endParaRPr/>
          </a:p>
        </p:txBody>
      </p:sp>
      <p:sp>
        <p:nvSpPr>
          <p:cNvPr id="345" name="Google Shape;345;p5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Task of predicting labels given input features. </a:t>
            </a:r>
            <a:endParaRPr sz="1800"/>
          </a:p>
          <a:p>
            <a:pPr marL="457200" lvl="0" indent="-342900" algn="l" rtl="0">
              <a:spcBef>
                <a:spcPts val="0"/>
              </a:spcBef>
              <a:spcAft>
                <a:spcPts val="0"/>
              </a:spcAft>
              <a:buSzPts val="1800"/>
              <a:buChar char="➔"/>
            </a:pPr>
            <a:r>
              <a:rPr lang="en" sz="1800"/>
              <a:t>Each </a:t>
            </a:r>
            <a:r>
              <a:rPr lang="en" sz="1800" b="1"/>
              <a:t>feature–label pair</a:t>
            </a:r>
            <a:r>
              <a:rPr lang="en" sz="1800"/>
              <a:t> is called an example. </a:t>
            </a:r>
            <a:endParaRPr sz="1800"/>
          </a:p>
          <a:p>
            <a:pPr marL="457200" lvl="0" indent="-342900" algn="l" rtl="0">
              <a:spcBef>
                <a:spcPts val="0"/>
              </a:spcBef>
              <a:spcAft>
                <a:spcPts val="0"/>
              </a:spcAft>
              <a:buSzPts val="1800"/>
              <a:buChar char="➔"/>
            </a:pPr>
            <a:r>
              <a:rPr lang="en" sz="1800"/>
              <a:t>Goal is to produce </a:t>
            </a:r>
            <a:r>
              <a:rPr lang="en" sz="1800" b="1"/>
              <a:t>a model that maps any input to a label prediction</a:t>
            </a:r>
            <a:r>
              <a:rPr lang="en" sz="1800"/>
              <a:t>.</a:t>
            </a:r>
            <a:endParaRPr sz="1800"/>
          </a:p>
          <a:p>
            <a:pPr marL="457200" lvl="0" indent="-349250" algn="l" rtl="0">
              <a:spcBef>
                <a:spcPts val="0"/>
              </a:spcBef>
              <a:spcAft>
                <a:spcPts val="0"/>
              </a:spcAft>
              <a:buSzPts val="1900"/>
              <a:buChar char="➔"/>
            </a:pPr>
            <a:r>
              <a:rPr lang="en" sz="1800"/>
              <a:t>The supervision comes into play because for choosing the parameters, we (the supervisors) provide the model with a dataset consisting of labeled examples, where each example is matched with conditional probability of a label given input features.</a:t>
            </a:r>
            <a:endParaRPr sz="1800"/>
          </a:p>
        </p:txBody>
      </p:sp>
      <p:pic>
        <p:nvPicPr>
          <p:cNvPr id="346" name="Google Shape;346;p54"/>
          <p:cNvPicPr preferRelativeResize="0"/>
          <p:nvPr/>
        </p:nvPicPr>
        <p:blipFill>
          <a:blip r:embed="rId3">
            <a:alphaModFix/>
          </a:blip>
          <a:stretch>
            <a:fillRect/>
          </a:stretch>
        </p:blipFill>
        <p:spPr>
          <a:xfrm>
            <a:off x="1362075" y="2899250"/>
            <a:ext cx="6239275" cy="2018050"/>
          </a:xfrm>
          <a:prstGeom prst="rect">
            <a:avLst/>
          </a:prstGeom>
          <a:noFill/>
          <a:ln>
            <a:noFill/>
          </a:ln>
        </p:spPr>
      </p:pic>
      <p:sp>
        <p:nvSpPr>
          <p:cNvPr id="347" name="Google Shape;347;p5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 Tasks</a:t>
            </a:r>
            <a:endParaRPr/>
          </a:p>
        </p:txBody>
      </p:sp>
      <p:sp>
        <p:nvSpPr>
          <p:cNvPr id="353" name="Google Shape;353;p5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20000"/>
          </a:bodyPr>
          <a:lstStyle/>
          <a:p>
            <a:pPr marL="457200" lvl="0" indent="-355600" algn="l" rtl="0">
              <a:spcBef>
                <a:spcPts val="0"/>
              </a:spcBef>
              <a:spcAft>
                <a:spcPts val="0"/>
              </a:spcAft>
              <a:buSzPts val="2000"/>
              <a:buChar char="➔"/>
            </a:pPr>
            <a:r>
              <a:rPr lang="en"/>
              <a:t>Regression </a:t>
            </a:r>
            <a:endParaRPr/>
          </a:p>
          <a:p>
            <a:pPr marL="914400" lvl="1" indent="-330200" algn="l" rtl="0">
              <a:spcBef>
                <a:spcPts val="0"/>
              </a:spcBef>
              <a:spcAft>
                <a:spcPts val="0"/>
              </a:spcAft>
              <a:buSzPts val="1600"/>
              <a:buChar char="◆"/>
            </a:pPr>
            <a:r>
              <a:rPr lang="en"/>
              <a:t>how much or how many question</a:t>
            </a:r>
            <a:endParaRPr/>
          </a:p>
          <a:p>
            <a:pPr marL="457200" lvl="0" indent="-355600" algn="l" rtl="0">
              <a:spcBef>
                <a:spcPts val="0"/>
              </a:spcBef>
              <a:spcAft>
                <a:spcPts val="0"/>
              </a:spcAft>
              <a:buSzPts val="2000"/>
              <a:buChar char="➔"/>
            </a:pPr>
            <a:r>
              <a:rPr lang="en"/>
              <a:t>Classification</a:t>
            </a:r>
            <a:endParaRPr/>
          </a:p>
          <a:p>
            <a:pPr marL="914400" lvl="1" indent="-330200" algn="l" rtl="0">
              <a:spcBef>
                <a:spcPts val="0"/>
              </a:spcBef>
              <a:spcAft>
                <a:spcPts val="0"/>
              </a:spcAft>
              <a:buSzPts val="1600"/>
              <a:buChar char="◆"/>
            </a:pPr>
            <a:r>
              <a:rPr lang="en"/>
              <a:t>Binary classification</a:t>
            </a:r>
            <a:endParaRPr/>
          </a:p>
          <a:p>
            <a:pPr marL="914400" lvl="1" indent="-330200" algn="l" rtl="0">
              <a:spcBef>
                <a:spcPts val="0"/>
              </a:spcBef>
              <a:spcAft>
                <a:spcPts val="0"/>
              </a:spcAft>
              <a:buSzPts val="1600"/>
              <a:buChar char="◆"/>
            </a:pPr>
            <a:r>
              <a:rPr lang="en"/>
              <a:t>Multi-class classification</a:t>
            </a:r>
            <a:endParaRPr/>
          </a:p>
          <a:p>
            <a:pPr marL="914400" lvl="1" indent="-330200" algn="l" rtl="0">
              <a:spcBef>
                <a:spcPts val="0"/>
              </a:spcBef>
              <a:spcAft>
                <a:spcPts val="0"/>
              </a:spcAft>
              <a:buSzPts val="1600"/>
              <a:buChar char="◆"/>
            </a:pPr>
            <a:r>
              <a:rPr lang="en"/>
              <a:t>Multi-label classification</a:t>
            </a:r>
            <a:endParaRPr/>
          </a:p>
          <a:p>
            <a:pPr marL="457200" lvl="0" indent="-355600" algn="l" rtl="0">
              <a:spcBef>
                <a:spcPts val="0"/>
              </a:spcBef>
              <a:spcAft>
                <a:spcPts val="0"/>
              </a:spcAft>
              <a:buSzPts val="2000"/>
              <a:buChar char="➔"/>
            </a:pPr>
            <a:r>
              <a:rPr lang="en"/>
              <a:t>Recommender systems</a:t>
            </a:r>
            <a:endParaRPr/>
          </a:p>
          <a:p>
            <a:pPr marL="457200" lvl="0" indent="-355600" algn="l" rtl="0">
              <a:spcBef>
                <a:spcPts val="0"/>
              </a:spcBef>
              <a:spcAft>
                <a:spcPts val="0"/>
              </a:spcAft>
              <a:buSzPts val="2000"/>
              <a:buChar char="➔"/>
            </a:pPr>
            <a:r>
              <a:rPr lang="en"/>
              <a:t>Sequence Learning</a:t>
            </a:r>
            <a:endParaRPr/>
          </a:p>
          <a:p>
            <a:pPr marL="914400" lvl="1" indent="-330200" algn="l" rtl="0">
              <a:spcBef>
                <a:spcPts val="0"/>
              </a:spcBef>
              <a:spcAft>
                <a:spcPts val="0"/>
              </a:spcAft>
              <a:buSzPts val="1600"/>
              <a:buChar char="◆"/>
            </a:pPr>
            <a:r>
              <a:rPr lang="en"/>
              <a:t>Tagging and Parsing</a:t>
            </a:r>
            <a:endParaRPr/>
          </a:p>
          <a:p>
            <a:pPr marL="914400" lvl="1" indent="-330200" algn="l" rtl="0">
              <a:spcBef>
                <a:spcPts val="0"/>
              </a:spcBef>
              <a:spcAft>
                <a:spcPts val="0"/>
              </a:spcAft>
              <a:buSzPts val="1600"/>
              <a:buChar char="◆"/>
            </a:pPr>
            <a:r>
              <a:rPr lang="en"/>
              <a:t>Automatic speech recognition</a:t>
            </a:r>
            <a:endParaRPr/>
          </a:p>
          <a:p>
            <a:pPr marL="914400" lvl="1" indent="-330200" algn="l" rtl="0">
              <a:spcBef>
                <a:spcPts val="0"/>
              </a:spcBef>
              <a:spcAft>
                <a:spcPts val="0"/>
              </a:spcAft>
              <a:buSzPts val="1600"/>
              <a:buChar char="◆"/>
            </a:pPr>
            <a:r>
              <a:rPr lang="en"/>
              <a:t>Text to speech</a:t>
            </a:r>
            <a:endParaRPr/>
          </a:p>
          <a:p>
            <a:pPr marL="914400" lvl="1" indent="-330200" algn="l" rtl="0">
              <a:spcBef>
                <a:spcPts val="0"/>
              </a:spcBef>
              <a:spcAft>
                <a:spcPts val="0"/>
              </a:spcAft>
              <a:buSzPts val="1600"/>
              <a:buChar char="◆"/>
            </a:pPr>
            <a:r>
              <a:rPr lang="en"/>
              <a:t>Machine translation</a:t>
            </a:r>
            <a:endParaRPr/>
          </a:p>
          <a:p>
            <a:pPr marL="0" lvl="0" indent="0" algn="l" rtl="0">
              <a:spcBef>
                <a:spcPts val="1200"/>
              </a:spcBef>
              <a:spcAft>
                <a:spcPts val="1200"/>
              </a:spcAft>
              <a:buNone/>
            </a:pPr>
            <a:endParaRPr/>
          </a:p>
        </p:txBody>
      </p:sp>
      <p:sp>
        <p:nvSpPr>
          <p:cNvPr id="354" name="Google Shape;354;p5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6"/>
          <p:cNvSpPr txBox="1">
            <a:spLocks noGrp="1"/>
          </p:cNvSpPr>
          <p:nvPr>
            <p:ph type="title"/>
          </p:nvPr>
        </p:nvSpPr>
        <p:spPr>
          <a:xfrm>
            <a:off x="2421875" y="2150850"/>
            <a:ext cx="64104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3040"/>
              <a:t>Reading from TB </a:t>
            </a:r>
            <a:endParaRPr sz="3040"/>
          </a:p>
          <a:p>
            <a:pPr marL="0" lvl="0" indent="0" algn="l" rtl="0">
              <a:spcBef>
                <a:spcPts val="0"/>
              </a:spcBef>
              <a:spcAft>
                <a:spcPts val="0"/>
              </a:spcAft>
              <a:buSzPts val="990"/>
              <a:buNone/>
            </a:pPr>
            <a:r>
              <a:rPr lang="en" sz="3040"/>
              <a:t>Dive into Deep Learning</a:t>
            </a:r>
            <a:endParaRPr sz="3040"/>
          </a:p>
          <a:p>
            <a:pPr marL="0" lvl="0" indent="0" algn="l" rtl="0">
              <a:spcBef>
                <a:spcPts val="0"/>
              </a:spcBef>
              <a:spcAft>
                <a:spcPts val="0"/>
              </a:spcAft>
              <a:buNone/>
            </a:pPr>
            <a:r>
              <a:rPr lang="en" sz="3040"/>
              <a:t>Chapter 1 </a:t>
            </a:r>
            <a:endParaRPr sz="3040"/>
          </a:p>
        </p:txBody>
      </p:sp>
      <p:sp>
        <p:nvSpPr>
          <p:cNvPr id="360" name="Google Shape;360;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28" ma:contentTypeDescription="Create a new document." ma:contentTypeScope="" ma:versionID="84901d0d2380f0cbab09f54b856969f0">
  <xsd:schema xmlns:xsd="http://www.w3.org/2001/XMLSchema" xmlns:xs="http://www.w3.org/2001/XMLSchema" xmlns:p="http://schemas.microsoft.com/office/2006/metadata/properties" xmlns:ns2="921d7e3d-ccf6-4c0a-83b2-6e8132303dda" targetNamespace="http://schemas.microsoft.com/office/2006/metadata/properties" ma:root="true" ma:fieldsID="b63696e53be52be2985681c4001254f2" ns2:_="">
    <xsd:import namespace="921d7e3d-ccf6-4c0a-83b2-6e8132303d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documentManagement>
</p:properties>
</file>

<file path=customXml/itemProps1.xml><?xml version="1.0" encoding="utf-8"?>
<ds:datastoreItem xmlns:ds="http://schemas.openxmlformats.org/officeDocument/2006/customXml" ds:itemID="{59C31E68-897B-4C73-A9A7-23791FA3B451}"/>
</file>

<file path=customXml/itemProps2.xml><?xml version="1.0" encoding="utf-8"?>
<ds:datastoreItem xmlns:ds="http://schemas.openxmlformats.org/officeDocument/2006/customXml" ds:itemID="{B5414739-3D39-41D9-B898-E69E1989A437}"/>
</file>

<file path=customXml/itemProps3.xml><?xml version="1.0" encoding="utf-8"?>
<ds:datastoreItem xmlns:ds="http://schemas.openxmlformats.org/officeDocument/2006/customXml" ds:itemID="{484DAFDE-EAE6-41C5-AC4C-C2396A29E1F1}"/>
</file>

<file path=docProps/app.xml><?xml version="1.0" encoding="utf-8"?>
<Properties xmlns="http://schemas.openxmlformats.org/officeDocument/2006/extended-properties" xmlns:vt="http://schemas.openxmlformats.org/officeDocument/2006/docPropsVTypes">
  <TotalTime>24</TotalTime>
  <Words>2578</Words>
  <Application>Microsoft Office PowerPoint</Application>
  <PresentationFormat>On-screen Show (16:9)</PresentationFormat>
  <Paragraphs>280</Paragraphs>
  <Slides>44</Slides>
  <Notes>44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44</vt:i4>
      </vt:variant>
    </vt:vector>
  </HeadingPairs>
  <TitlesOfParts>
    <vt:vector size="46" baseType="lpstr">
      <vt:lpstr>Arial</vt:lpstr>
      <vt:lpstr>Simple Light</vt:lpstr>
      <vt:lpstr>Deep Neural Network</vt:lpstr>
      <vt:lpstr>The author of this deck, Prof. Seetha Parameswaran, is gratefully acknowledging the authors who made their course materials freely available online.</vt:lpstr>
      <vt:lpstr>Course Logistics</vt:lpstr>
      <vt:lpstr>What we Learn…. (Module Structure)</vt:lpstr>
      <vt:lpstr>Books</vt:lpstr>
      <vt:lpstr>Evaluation Components and Schedule</vt:lpstr>
      <vt:lpstr>Course Logistics</vt:lpstr>
      <vt:lpstr>Honour Code</vt:lpstr>
      <vt:lpstr>In case of Queries regarding the course….</vt:lpstr>
      <vt:lpstr>What is Deep Learning?</vt:lpstr>
      <vt:lpstr>Definitions of Deep Learning</vt:lpstr>
      <vt:lpstr>Where in AI sits DL?</vt:lpstr>
      <vt:lpstr>AI - ML - DL </vt:lpstr>
      <vt:lpstr>Deep (Machine) Learning</vt:lpstr>
      <vt:lpstr>Why Deep Learning?</vt:lpstr>
      <vt:lpstr>Why Deep Learning?</vt:lpstr>
      <vt:lpstr>Why deep learning?</vt:lpstr>
      <vt:lpstr>Deep Learning Timeline</vt:lpstr>
      <vt:lpstr>Applications of Deep Learning</vt:lpstr>
      <vt:lpstr>Breakthroughs with Neural Networks</vt:lpstr>
      <vt:lpstr>Breakthroughs with Neural Networks</vt:lpstr>
      <vt:lpstr>Breakthroughs with Neural Networks</vt:lpstr>
      <vt:lpstr>Breakthroughs with Neural Networks</vt:lpstr>
      <vt:lpstr>Breakthroughs with Neural Networks</vt:lpstr>
      <vt:lpstr>Breakthroughs with Neural Networks</vt:lpstr>
      <vt:lpstr>Applications of Deep Learning</vt:lpstr>
      <vt:lpstr>Many more applications….</vt:lpstr>
      <vt:lpstr>Key components of DL problem</vt:lpstr>
      <vt:lpstr>Core components of DL problem</vt:lpstr>
      <vt:lpstr>Data</vt:lpstr>
      <vt:lpstr>Data</vt:lpstr>
      <vt:lpstr>2. Model</vt:lpstr>
      <vt:lpstr>3. Objective Function</vt:lpstr>
      <vt:lpstr>3. Loss Functions </vt:lpstr>
      <vt:lpstr>3. Loss Functions</vt:lpstr>
      <vt:lpstr>4. Optimization Algorithms</vt:lpstr>
      <vt:lpstr>Example of the Framework</vt:lpstr>
      <vt:lpstr>Example of the Framework</vt:lpstr>
      <vt:lpstr>Example of the Framework</vt:lpstr>
      <vt:lpstr>Kinds of Machine Learning Problems</vt:lpstr>
      <vt:lpstr>Learning Problems</vt:lpstr>
      <vt:lpstr>Supervised Learning</vt:lpstr>
      <vt:lpstr>Supervised Learning Tasks</vt:lpstr>
      <vt:lpstr>Reading from TB  Dive into Deep Learning Chapter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vishali sivalenka</cp:lastModifiedBy>
  <cp:revision>3</cp:revision>
  <dcterms:modified xsi:type="dcterms:W3CDTF">2025-10-26T04:31:59Z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