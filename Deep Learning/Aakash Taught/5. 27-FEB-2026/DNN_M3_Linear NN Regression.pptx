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2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4.xml" ContentType="application/vnd.openxmlformats-officedocument.presentationml.slideLayou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Metadata/LabelInfo.xml" ContentType="application/vnd.ms-office.classificationlabel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29"/>
  </p:notesMasterIdLst>
  <p:sldIdLst>
    <p:sldId id="256" r:id="rId2"/>
    <p:sldId id="257" r:id="rId3"/>
    <p:sldId id="258" r:id="rId4"/>
    <p:sldId id="280" r:id="rId5"/>
    <p:sldId id="281" r:id="rId6"/>
    <p:sldId id="282" r:id="rId7"/>
    <p:sldId id="302" r:id="rId8"/>
    <p:sldId id="283" r:id="rId9"/>
    <p:sldId id="284" r:id="rId10"/>
    <p:sldId id="285" r:id="rId11"/>
    <p:sldId id="287" r:id="rId12"/>
    <p:sldId id="288" r:id="rId13"/>
    <p:sldId id="289" r:id="rId14"/>
    <p:sldId id="290" r:id="rId15"/>
    <p:sldId id="291" r:id="rId16"/>
    <p:sldId id="292" r:id="rId17"/>
    <p:sldId id="293" r:id="rId18"/>
    <p:sldId id="294" r:id="rId19"/>
    <p:sldId id="295" r:id="rId20"/>
    <p:sldId id="303" r:id="rId21"/>
    <p:sldId id="304" r:id="rId22"/>
    <p:sldId id="305" r:id="rId23"/>
    <p:sldId id="296" r:id="rId24"/>
    <p:sldId id="297" r:id="rId25"/>
    <p:sldId id="298" r:id="rId26"/>
    <p:sldId id="299" r:id="rId27"/>
    <p:sldId id="301" r:id="rId28"/>
  </p:sldIdLst>
  <p:sldSz cx="5765800" cy="3244850"/>
  <p:notesSz cx="5765800" cy="3244850"/>
  <p:embeddedFontLs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Georgia" panose="02040502050405020303" pitchFamily="18" charset="0"/>
      <p:regular r:id="rId35"/>
      <p:bold r:id="rId36"/>
      <p:italic r:id="rId37"/>
      <p:boldItalic r:id="rId38"/>
    </p:embeddedFont>
    <p:embeddedFont>
      <p:font typeface="Lucida Sans" panose="020B0602030504020204" pitchFamily="34" charset="0"/>
      <p:regular r:id="rId39"/>
      <p:bold r:id="rId40"/>
      <p:italic r:id="rId41"/>
      <p:boldItalic r:id="rId42"/>
    </p:embeddedFont>
    <p:embeddedFont>
      <p:font typeface="Segoe UI" panose="020B0502040204020203" pitchFamily="34" charset="0"/>
      <p:regular r:id="rId43"/>
      <p:bold r:id="rId44"/>
      <p:italic r:id="rId45"/>
      <p:boldItalic r:id="rId46"/>
    </p:embeddedFont>
    <p:embeddedFont>
      <p:font typeface="Tahoma" panose="020B0604030504040204" pitchFamily="34" charset="0"/>
      <p:regular r:id="rId47"/>
      <p:bold r:id="rId48"/>
    </p:embeddedFont>
    <p:embeddedFont>
      <p:font typeface="Verdana" panose="020B060403050404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5CBA27-72C7-434D-87B0-B6F36C1D0E5A}">
  <a:tblStyle styleId="{B25CBA27-72C7-434D-87B0-B6F36C1D0E5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48" autoAdjust="0"/>
  </p:normalViewPr>
  <p:slideViewPr>
    <p:cSldViewPr snapToGrid="0">
      <p:cViewPr>
        <p:scale>
          <a:sx n="147" d="100"/>
          <a:sy n="147" d="100"/>
        </p:scale>
        <p:origin x="1162" y="86"/>
      </p:cViewPr>
      <p:guideLst>
        <p:guide orient="horz" pos="2880"/>
        <p:guide pos="2160"/>
      </p:guideLst>
    </p:cSldViewPr>
  </p:slideViewPr>
  <p:notesTextViewPr>
    <p:cViewPr>
      <p:scale>
        <a:sx n="1" d="1"/>
        <a:sy n="1" d="1"/>
      </p:scale>
      <p:origin x="0" y="-2501"/>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font" Target="fonts/font12.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5" name="Google Shape;555;p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2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p2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2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4" name="Google Shape;594;p2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3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4" name="Google Shape;694;p3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22" name="Google Shape;722;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“After training, we must ask: </a:t>
                </a:r>
                <a:r>
                  <a:rPr lang="en-US" sz="1100" b="0" i="1" u="none" strike="noStrike" cap="none" dirty="0">
                    <a:solidFill>
                      <a:srgbClr val="000000"/>
                    </a:solidFill>
                    <a:effectLst/>
                    <a:latin typeface="Arial"/>
                    <a:ea typeface="Arial"/>
                    <a:cs typeface="Arial"/>
                    <a:sym typeface="Arial"/>
                  </a:rPr>
                  <a:t>Will this model work on new data it has never seen?</a:t>
                </a:r>
                <a:r>
                  <a:rPr lang="en-US" sz="1100" b="0" i="0" u="none" strike="noStrike" cap="none" dirty="0">
                    <a:solidFill>
                      <a:srgbClr val="000000"/>
                    </a:solidFill>
                    <a:effectLst/>
                    <a:latin typeface="Arial"/>
                    <a:ea typeface="Arial"/>
                    <a:cs typeface="Arial"/>
                    <a:sym typeface="Arial"/>
                  </a:rPr>
                  <a:t> That’s called </a:t>
                </a:r>
                <a:r>
                  <a:rPr lang="en-US" sz="1100" b="1" i="0" u="none" strike="noStrike" cap="none" dirty="0">
                    <a:solidFill>
                      <a:srgbClr val="000000"/>
                    </a:solidFill>
                    <a:effectLst/>
                    <a:latin typeface="Arial"/>
                    <a:ea typeface="Arial"/>
                    <a:cs typeface="Arial"/>
                    <a:sym typeface="Arial"/>
                  </a:rPr>
                  <a:t>generalization</a:t>
                </a:r>
                <a:r>
                  <a:rPr lang="en-US" sz="1100" b="0" i="0" u="none" strike="noStrike" cap="none" dirty="0">
                    <a:solidFill>
                      <a:srgbClr val="000000"/>
                    </a:solidFill>
                    <a:effectLst/>
                    <a:latin typeface="Arial"/>
                    <a:ea typeface="Arial"/>
                    <a:cs typeface="Arial"/>
                    <a:sym typeface="Arial"/>
                  </a:rPr>
                  <a:t>. So the key principle is: </a:t>
                </a:r>
                <a:r>
                  <a:rPr lang="en-US" sz="1100" b="1" i="0" u="none" strike="noStrike" cap="none" dirty="0">
                    <a:solidFill>
                      <a:srgbClr val="000000"/>
                    </a:solidFill>
                    <a:effectLst/>
                    <a:latin typeface="Arial"/>
                    <a:ea typeface="Arial"/>
                    <a:cs typeface="Arial"/>
                    <a:sym typeface="Arial"/>
                  </a:rPr>
                  <a:t>evaluate on unseen data</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“We split the dataset into two parts:</a:t>
                </a:r>
              </a:p>
              <a:p>
                <a:pPr fontAlgn="t"/>
                <a:r>
                  <a:rPr lang="en-US" sz="1100" b="1" i="0" u="none" strike="noStrike" cap="none" dirty="0">
                    <a:solidFill>
                      <a:srgbClr val="000000"/>
                    </a:solidFill>
                    <a:effectLst/>
                    <a:latin typeface="Arial"/>
                    <a:ea typeface="Arial"/>
                    <a:cs typeface="Arial"/>
                    <a:sym typeface="Arial"/>
                  </a:rPr>
                  <a:t>Training set</a:t>
                </a:r>
                <a:r>
                  <a:rPr lang="en-US" sz="1100" b="0" i="0" u="none" strike="noStrike" cap="none" dirty="0">
                    <a:solidFill>
                      <a:srgbClr val="000000"/>
                    </a:solidFill>
                    <a:effectLst/>
                    <a:latin typeface="Arial"/>
                    <a:ea typeface="Arial"/>
                    <a:cs typeface="Arial"/>
                    <a:sym typeface="Arial"/>
                  </a:rPr>
                  <a:t>: used to learn the weights </a:t>
                </a:r>
                <a14:m>
                  <m:oMath xmlns:m="http://schemas.openxmlformats.org/officeDocument/2006/math">
                    <m:r>
                      <a:rPr lang="en-US" sz="1100" b="0" i="1" u="none" strike="noStrike" cap="none">
                        <a:solidFill>
                          <a:srgbClr val="000000"/>
                        </a:solidFill>
                        <a:latin typeface="Arial"/>
                        <a:ea typeface="Arial"/>
                        <a:cs typeface="Arial"/>
                        <a:sym typeface="Arial"/>
                      </a:rPr>
                      <m:t>𝑤</m:t>
                    </m:r>
                  </m:oMath>
                </a14:m>
                <a:r>
                  <a:rPr lang="en-US" sz="1100" b="0" i="0" u="none" strike="noStrike" cap="none" dirty="0">
                    <a:solidFill>
                      <a:srgbClr val="000000"/>
                    </a:solidFill>
                    <a:effectLst/>
                    <a:latin typeface="Arial"/>
                    <a:ea typeface="Arial"/>
                    <a:cs typeface="Arial"/>
                    <a:sym typeface="Arial"/>
                  </a:rPr>
                  <a:t>. Usually most of the data (like 90–99%).</a:t>
                </a:r>
              </a:p>
              <a:p>
                <a:pPr fontAlgn="t"/>
                <a:r>
                  <a:rPr lang="en-US" sz="1100" b="1" i="0" u="none" strike="noStrike" cap="none" dirty="0">
                    <a:solidFill>
                      <a:srgbClr val="000000"/>
                    </a:solidFill>
                    <a:effectLst/>
                    <a:latin typeface="Arial"/>
                    <a:ea typeface="Arial"/>
                    <a:cs typeface="Arial"/>
                    <a:sym typeface="Arial"/>
                  </a:rPr>
                  <a:t>Test set</a:t>
                </a:r>
                <a:r>
                  <a:rPr lang="en-US" sz="1100" b="0" i="0" u="none" strike="noStrike" cap="none" dirty="0">
                    <a:solidFill>
                      <a:srgbClr val="000000"/>
                    </a:solidFill>
                    <a:effectLst/>
                    <a:latin typeface="Arial"/>
                    <a:ea typeface="Arial"/>
                    <a:cs typeface="Arial"/>
                    <a:sym typeface="Arial"/>
                  </a:rPr>
                  <a:t>: kept aside and used only to check how well the model generalizes (often 1–10%).”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“Training is like practicing questions; test is the final exam with new questions.”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a:t>
                </a:r>
                <a:r>
                  <a:rPr lang="en-US" sz="1100" b="1" i="0" u="none" strike="noStrike" cap="none" dirty="0">
                    <a:solidFill>
                      <a:srgbClr val="000000"/>
                    </a:solidFill>
                    <a:effectLst/>
                    <a:latin typeface="Arial"/>
                    <a:ea typeface="Arial"/>
                    <a:cs typeface="Arial"/>
                    <a:sym typeface="Arial"/>
                  </a:rPr>
                  <a:t>average squared prediction error on training data</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We square the errors so negative/positive don’t cancel, and big mistakes are penalized more.”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same thing, but on </a:t>
                </a:r>
                <a:r>
                  <a:rPr lang="en-US" sz="1100" b="1" i="0" u="none" strike="noStrike" cap="none" dirty="0">
                    <a:solidFill>
                      <a:srgbClr val="000000"/>
                    </a:solidFill>
                    <a:effectLst/>
                    <a:latin typeface="Arial"/>
                    <a:ea typeface="Arial"/>
                    <a:cs typeface="Arial"/>
                    <a:sym typeface="Arial"/>
                  </a:rPr>
                  <a:t>test data</a:t>
                </a:r>
                <a:r>
                  <a:rPr lang="en-US" sz="1100" b="0" i="0" u="none" strike="noStrike" cap="none" dirty="0">
                    <a:solidFill>
                      <a:srgbClr val="000000"/>
                    </a:solidFill>
                    <a:effectLst/>
                    <a:latin typeface="Arial"/>
                    <a:ea typeface="Arial"/>
                    <a:cs typeface="Arial"/>
                    <a:sym typeface="Arial"/>
                  </a:rPr>
                  <a:t> that the model did not see during training.”</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“Our true goal is: </a:t>
                </a:r>
                <a:r>
                  <a:rPr lang="en-US" sz="1100" b="1" i="0" u="none" strike="noStrike" cap="none" dirty="0">
                    <a:solidFill>
                      <a:srgbClr val="000000"/>
                    </a:solidFill>
                    <a:effectLst/>
                    <a:latin typeface="Arial"/>
                    <a:ea typeface="Arial"/>
                    <a:cs typeface="Arial"/>
                    <a:sym typeface="Arial"/>
                  </a:rPr>
                  <a:t>minimize test error</a:t>
                </a:r>
                <a:r>
                  <a:rPr lang="en-US" sz="1100" b="0" i="0" u="none" strike="noStrike" cap="none" dirty="0">
                    <a:solidFill>
                      <a:srgbClr val="000000"/>
                    </a:solidFill>
                    <a:effectLst/>
                    <a:latin typeface="Arial"/>
                    <a:ea typeface="Arial"/>
                    <a:cs typeface="Arial"/>
                    <a:sym typeface="Arial"/>
                  </a:rPr>
                  <a:t>, because that measures real-world performance.”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“Why not just minimize training error?”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Because a model can </a:t>
                </a:r>
                <a:r>
                  <a:rPr lang="en-US" sz="1100" b="1" i="0" u="none" strike="noStrike" cap="none" dirty="0">
                    <a:solidFill>
                      <a:srgbClr val="000000"/>
                    </a:solidFill>
                    <a:effectLst/>
                    <a:latin typeface="Arial"/>
                    <a:ea typeface="Arial"/>
                    <a:cs typeface="Arial"/>
                    <a:sym typeface="Arial"/>
                  </a:rPr>
                  <a:t>memorize training data</a:t>
                </a:r>
                <a:r>
                  <a:rPr lang="en-US" sz="1100" b="0" i="0" u="none" strike="noStrike" cap="none" dirty="0">
                    <a:solidFill>
                      <a:srgbClr val="000000"/>
                    </a:solidFill>
                    <a:effectLst/>
                    <a:latin typeface="Arial"/>
                    <a:ea typeface="Arial"/>
                    <a:cs typeface="Arial"/>
                    <a:sym typeface="Arial"/>
                  </a:rPr>
                  <a:t> and still fail on new data — that’s </a:t>
                </a:r>
                <a:r>
                  <a:rPr lang="en-US" sz="1100" b="1" i="0" u="none" strike="noStrike" cap="none" dirty="0">
                    <a:solidFill>
                      <a:srgbClr val="000000"/>
                    </a:solidFill>
                    <a:effectLst/>
                    <a:latin typeface="Arial"/>
                    <a:ea typeface="Arial"/>
                    <a:cs typeface="Arial"/>
                    <a:sym typeface="Arial"/>
                  </a:rPr>
                  <a:t>overfitting</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Choice>
        <mc:Fallback>
          <p:sp>
            <p:nvSpPr>
              <p:cNvPr id="722" name="Google Shape;722;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“After training, we must ask: </a:t>
                </a:r>
                <a:r>
                  <a:rPr lang="en-US" sz="1100" b="0" i="1" u="none" strike="noStrike" cap="none" dirty="0">
                    <a:solidFill>
                      <a:srgbClr val="000000"/>
                    </a:solidFill>
                    <a:effectLst/>
                    <a:latin typeface="Arial"/>
                    <a:ea typeface="Arial"/>
                    <a:cs typeface="Arial"/>
                    <a:sym typeface="Arial"/>
                  </a:rPr>
                  <a:t>Will this model work on new data it has never seen?</a:t>
                </a:r>
                <a:r>
                  <a:rPr lang="en-US" sz="1100" b="0" i="0" u="none" strike="noStrike" cap="none" dirty="0">
                    <a:solidFill>
                      <a:srgbClr val="000000"/>
                    </a:solidFill>
                    <a:effectLst/>
                    <a:latin typeface="Arial"/>
                    <a:ea typeface="Arial"/>
                    <a:cs typeface="Arial"/>
                    <a:sym typeface="Arial"/>
                  </a:rPr>
                  <a:t> That’s called </a:t>
                </a:r>
                <a:r>
                  <a:rPr lang="en-US" sz="1100" b="1" i="0" u="none" strike="noStrike" cap="none" dirty="0">
                    <a:solidFill>
                      <a:srgbClr val="000000"/>
                    </a:solidFill>
                    <a:effectLst/>
                    <a:latin typeface="Arial"/>
                    <a:ea typeface="Arial"/>
                    <a:cs typeface="Arial"/>
                    <a:sym typeface="Arial"/>
                  </a:rPr>
                  <a:t>generalization</a:t>
                </a:r>
                <a:r>
                  <a:rPr lang="en-US" sz="1100" b="0" i="0" u="none" strike="noStrike" cap="none" dirty="0">
                    <a:solidFill>
                      <a:srgbClr val="000000"/>
                    </a:solidFill>
                    <a:effectLst/>
                    <a:latin typeface="Arial"/>
                    <a:ea typeface="Arial"/>
                    <a:cs typeface="Arial"/>
                    <a:sym typeface="Arial"/>
                  </a:rPr>
                  <a:t>. So the key principle is: </a:t>
                </a:r>
                <a:r>
                  <a:rPr lang="en-US" sz="1100" b="1" i="0" u="none" strike="noStrike" cap="none" dirty="0">
                    <a:solidFill>
                      <a:srgbClr val="000000"/>
                    </a:solidFill>
                    <a:effectLst/>
                    <a:latin typeface="Arial"/>
                    <a:ea typeface="Arial"/>
                    <a:cs typeface="Arial"/>
                    <a:sym typeface="Arial"/>
                  </a:rPr>
                  <a:t>evaluate on unseen data</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“We split the dataset into two parts:</a:t>
                </a:r>
              </a:p>
              <a:p>
                <a:pPr fontAlgn="t"/>
                <a:r>
                  <a:rPr lang="en-US" sz="1100" b="1" i="0" u="none" strike="noStrike" cap="none" dirty="0">
                    <a:solidFill>
                      <a:srgbClr val="000000"/>
                    </a:solidFill>
                    <a:effectLst/>
                    <a:latin typeface="Arial"/>
                    <a:ea typeface="Arial"/>
                    <a:cs typeface="Arial"/>
                    <a:sym typeface="Arial"/>
                  </a:rPr>
                  <a:t>Training set</a:t>
                </a:r>
                <a:r>
                  <a:rPr lang="en-US" sz="1100" b="0" i="0" u="none" strike="noStrike" cap="none" dirty="0">
                    <a:solidFill>
                      <a:srgbClr val="000000"/>
                    </a:solidFill>
                    <a:effectLst/>
                    <a:latin typeface="Arial"/>
                    <a:ea typeface="Arial"/>
                    <a:cs typeface="Arial"/>
                    <a:sym typeface="Arial"/>
                  </a:rPr>
                  <a:t>: used to learn the weights </a:t>
                </a:r>
                <a:r>
                  <a:rPr lang="en-US" sz="1100" b="0" i="0" u="none" strike="noStrike" cap="none">
                    <a:solidFill>
                      <a:srgbClr val="000000"/>
                    </a:solidFill>
                    <a:latin typeface="Arial"/>
                    <a:ea typeface="Arial"/>
                    <a:cs typeface="Arial"/>
                    <a:sym typeface="Arial"/>
                  </a:rPr>
                  <a:t>𝑤</a:t>
                </a:r>
                <a:r>
                  <a:rPr lang="en-US" sz="1100" b="0" i="0" u="none" strike="noStrike" cap="none" dirty="0">
                    <a:solidFill>
                      <a:srgbClr val="000000"/>
                    </a:solidFill>
                    <a:effectLst/>
                    <a:latin typeface="Arial"/>
                    <a:ea typeface="Arial"/>
                    <a:cs typeface="Arial"/>
                    <a:sym typeface="Arial"/>
                  </a:rPr>
                  <a:t>. Usually most of the data (like 90–99%).</a:t>
                </a:r>
              </a:p>
              <a:p>
                <a:pPr fontAlgn="t"/>
                <a:r>
                  <a:rPr lang="en-US" sz="1100" b="1" i="0" u="none" strike="noStrike" cap="none" dirty="0">
                    <a:solidFill>
                      <a:srgbClr val="000000"/>
                    </a:solidFill>
                    <a:effectLst/>
                    <a:latin typeface="Arial"/>
                    <a:ea typeface="Arial"/>
                    <a:cs typeface="Arial"/>
                    <a:sym typeface="Arial"/>
                  </a:rPr>
                  <a:t>Test set</a:t>
                </a:r>
                <a:r>
                  <a:rPr lang="en-US" sz="1100" b="0" i="0" u="none" strike="noStrike" cap="none" dirty="0">
                    <a:solidFill>
                      <a:srgbClr val="000000"/>
                    </a:solidFill>
                    <a:effectLst/>
                    <a:latin typeface="Arial"/>
                    <a:ea typeface="Arial"/>
                    <a:cs typeface="Arial"/>
                    <a:sym typeface="Arial"/>
                  </a:rPr>
                  <a:t>: kept aside and used only to check how well the model generalizes (often 1–10%).”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“Training is like practicing questions; test is the final exam with new questions.”</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a:t>
                </a:r>
                <a:r>
                  <a:rPr lang="en-US" sz="1100" b="1" i="0" u="none" strike="noStrike" cap="none" dirty="0">
                    <a:solidFill>
                      <a:srgbClr val="000000"/>
                    </a:solidFill>
                    <a:effectLst/>
                    <a:latin typeface="Arial"/>
                    <a:ea typeface="Arial"/>
                    <a:cs typeface="Arial"/>
                    <a:sym typeface="Arial"/>
                  </a:rPr>
                  <a:t>average squared prediction error on training data</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We square the errors so negative/positive don’t cancel, and big mistakes are penalized more.”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the same thing, but on </a:t>
                </a:r>
                <a:r>
                  <a:rPr lang="en-US" sz="1100" b="1" i="0" u="none" strike="noStrike" cap="none" dirty="0">
                    <a:solidFill>
                      <a:srgbClr val="000000"/>
                    </a:solidFill>
                    <a:effectLst/>
                    <a:latin typeface="Arial"/>
                    <a:ea typeface="Arial"/>
                    <a:cs typeface="Arial"/>
                    <a:sym typeface="Arial"/>
                  </a:rPr>
                  <a:t>test data</a:t>
                </a:r>
                <a:r>
                  <a:rPr lang="en-US" sz="1100" b="0" i="0" u="none" strike="noStrike" cap="none" dirty="0">
                    <a:solidFill>
                      <a:srgbClr val="000000"/>
                    </a:solidFill>
                    <a:effectLst/>
                    <a:latin typeface="Arial"/>
                    <a:ea typeface="Arial"/>
                    <a:cs typeface="Arial"/>
                    <a:sym typeface="Arial"/>
                  </a:rPr>
                  <a:t> that the model did not see during training.”</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“Our true goal is: </a:t>
                </a:r>
                <a:r>
                  <a:rPr lang="en-US" sz="1100" b="1" i="0" u="none" strike="noStrike" cap="none" dirty="0">
                    <a:solidFill>
                      <a:srgbClr val="000000"/>
                    </a:solidFill>
                    <a:effectLst/>
                    <a:latin typeface="Arial"/>
                    <a:ea typeface="Arial"/>
                    <a:cs typeface="Arial"/>
                    <a:sym typeface="Arial"/>
                  </a:rPr>
                  <a:t>minimize test error</a:t>
                </a:r>
                <a:r>
                  <a:rPr lang="en-US" sz="1100" b="0" i="0" u="none" strike="noStrike" cap="none" dirty="0">
                    <a:solidFill>
                      <a:srgbClr val="000000"/>
                    </a:solidFill>
                    <a:effectLst/>
                    <a:latin typeface="Arial"/>
                    <a:ea typeface="Arial"/>
                    <a:cs typeface="Arial"/>
                    <a:sym typeface="Arial"/>
                  </a:rPr>
                  <a:t>, because that measures real-world performance.”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“Why not just minimize training error?”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Because a model can </a:t>
                </a:r>
                <a:r>
                  <a:rPr lang="en-US" sz="1100" b="1" i="0" u="none" strike="noStrike" cap="none" dirty="0">
                    <a:solidFill>
                      <a:srgbClr val="000000"/>
                    </a:solidFill>
                    <a:effectLst/>
                    <a:latin typeface="Arial"/>
                    <a:ea typeface="Arial"/>
                    <a:cs typeface="Arial"/>
                    <a:sym typeface="Arial"/>
                  </a:rPr>
                  <a:t>memorize training data</a:t>
                </a:r>
                <a:r>
                  <a:rPr lang="en-US" sz="1100" b="0" i="0" u="none" strike="noStrike" cap="none" dirty="0">
                    <a:solidFill>
                      <a:srgbClr val="000000"/>
                    </a:solidFill>
                    <a:effectLst/>
                    <a:latin typeface="Arial"/>
                    <a:ea typeface="Arial"/>
                    <a:cs typeface="Arial"/>
                    <a:sym typeface="Arial"/>
                  </a:rPr>
                  <a:t> and still fail on new data — that’s </a:t>
                </a:r>
                <a:r>
                  <a:rPr lang="en-US" sz="1100" b="1" i="0" u="none" strike="noStrike" cap="none" dirty="0">
                    <a:solidFill>
                      <a:srgbClr val="000000"/>
                    </a:solidFill>
                    <a:effectLst/>
                    <a:latin typeface="Arial"/>
                    <a:ea typeface="Arial"/>
                    <a:cs typeface="Arial"/>
                    <a:sym typeface="Arial"/>
                  </a:rPr>
                  <a:t>overfitting</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Fallback>
      </mc:AlternateContent>
      <p:sp>
        <p:nvSpPr>
          <p:cNvPr id="723" name="Google Shape;723;p3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35" name="Google Shape;735;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“Now we’ll talk about </a:t>
                </a:r>
                <a:r>
                  <a:rPr lang="en-US" sz="1100" b="0" i="1" u="none" strike="noStrike" cap="none" dirty="0">
                    <a:solidFill>
                      <a:srgbClr val="000000"/>
                    </a:solidFill>
                    <a:effectLst/>
                    <a:latin typeface="Arial"/>
                    <a:ea typeface="Arial"/>
                    <a:cs typeface="Arial"/>
                    <a:sym typeface="Arial"/>
                  </a:rPr>
                  <a:t>how</a:t>
                </a:r>
                <a:r>
                  <a:rPr lang="en-US" sz="1100" b="0" i="0" u="none" strike="noStrike" cap="none" dirty="0">
                    <a:solidFill>
                      <a:srgbClr val="000000"/>
                    </a:solidFill>
                    <a:effectLst/>
                    <a:latin typeface="Arial"/>
                    <a:ea typeface="Arial"/>
                    <a:cs typeface="Arial"/>
                    <a:sym typeface="Arial"/>
                  </a:rPr>
                  <a:t> we measure error. Different metrics tell different stories.”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MSE is the </a:t>
                </a:r>
                <a:r>
                  <a:rPr lang="en-US" sz="1100" b="1" i="0" u="none" strike="noStrike" cap="none" dirty="0">
                    <a:solidFill>
                      <a:srgbClr val="000000"/>
                    </a:solidFill>
                    <a:effectLst/>
                    <a:latin typeface="Arial"/>
                    <a:ea typeface="Arial"/>
                    <a:cs typeface="Arial"/>
                    <a:sym typeface="Arial"/>
                  </a:rPr>
                  <a:t>average squared error</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Squaring makes all errors positive</a:t>
                </a:r>
              </a:p>
              <a:p>
                <a:pPr fontAlgn="t"/>
                <a:r>
                  <a:rPr lang="en-US" sz="1100" b="0" i="0" u="none" strike="noStrike" cap="none" dirty="0">
                    <a:solidFill>
                      <a:srgbClr val="000000"/>
                    </a:solidFill>
                    <a:effectLst/>
                    <a:latin typeface="Arial"/>
                    <a:ea typeface="Arial"/>
                    <a:cs typeface="Arial"/>
                    <a:sym typeface="Arial"/>
                  </a:rPr>
                  <a:t>And it </a:t>
                </a:r>
                <a:r>
                  <a:rPr lang="en-US" sz="1100" b="1" i="0" u="none" strike="noStrike" cap="none" dirty="0">
                    <a:solidFill>
                      <a:srgbClr val="000000"/>
                    </a:solidFill>
                    <a:effectLst/>
                    <a:latin typeface="Arial"/>
                    <a:ea typeface="Arial"/>
                    <a:cs typeface="Arial"/>
                    <a:sym typeface="Arial"/>
                  </a:rPr>
                  <a:t>penalizes big errors a lot</a:t>
                </a:r>
                <a:r>
                  <a:rPr lang="en-US" sz="1100" b="0" i="0" u="none" strike="noStrike" cap="none" dirty="0">
                    <a:solidFill>
                      <a:srgbClr val="000000"/>
                    </a:solidFill>
                    <a:effectLst/>
                    <a:latin typeface="Arial"/>
                    <a:ea typeface="Arial"/>
                    <a:cs typeface="Arial"/>
                    <a:sym typeface="Arial"/>
                  </a:rPr>
                  <a:t> (because big errors squared become huge)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“Good when big mistakes are especially costly.”</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“RMSE is just the square root of MSE.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Why do we do that? Because it brings the metric back to the </a:t>
                </a:r>
                <a:r>
                  <a:rPr lang="en-US" sz="1100" b="1" i="0" u="none" strike="noStrike" cap="none" dirty="0">
                    <a:solidFill>
                      <a:srgbClr val="000000"/>
                    </a:solidFill>
                    <a:effectLst/>
                    <a:latin typeface="Arial"/>
                    <a:ea typeface="Arial"/>
                    <a:cs typeface="Arial"/>
                    <a:sym typeface="Arial"/>
                  </a:rPr>
                  <a:t>same units as the target</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If </a:t>
                </a:r>
                <a14:m>
                  <m:oMath xmlns:m="http://schemas.openxmlformats.org/officeDocument/2006/math">
                    <m:r>
                      <a:rPr lang="en-US" sz="1100" b="0" i="1" u="none" strike="noStrike" cap="none">
                        <a:solidFill>
                          <a:srgbClr val="000000"/>
                        </a:solidFill>
                        <a:latin typeface="Arial"/>
                        <a:ea typeface="Arial"/>
                        <a:cs typeface="Arial"/>
                        <a:sym typeface="Arial"/>
                      </a:rPr>
                      <m:t>𝑦</m:t>
                    </m:r>
                  </m:oMath>
                </a14:m>
                <a:r>
                  <a:rPr lang="en-US" sz="1100" b="0" i="0" u="none" strike="noStrike" cap="none" dirty="0">
                    <a:solidFill>
                      <a:srgbClr val="000000"/>
                    </a:solidFill>
                    <a:effectLst/>
                    <a:latin typeface="Arial"/>
                    <a:ea typeface="Arial"/>
                    <a:cs typeface="Arial"/>
                    <a:sym typeface="Arial"/>
                  </a:rPr>
                  <a:t>is in dollars, RMSE is also in dollars.”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“MAE is the </a:t>
                </a:r>
                <a:r>
                  <a:rPr lang="en-US" sz="1100" b="1" i="0" u="none" strike="noStrike" cap="none" dirty="0">
                    <a:solidFill>
                      <a:srgbClr val="000000"/>
                    </a:solidFill>
                    <a:effectLst/>
                    <a:latin typeface="Arial"/>
                    <a:ea typeface="Arial"/>
                    <a:cs typeface="Arial"/>
                    <a:sym typeface="Arial"/>
                  </a:rPr>
                  <a:t>average absolute error</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It’s simpler: we take absolute value instead of squaring.</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Important: MAE is </a:t>
                </a:r>
                <a:r>
                  <a:rPr lang="en-US" sz="1100" b="1" i="0" u="none" strike="noStrike" cap="none" dirty="0">
                    <a:solidFill>
                      <a:srgbClr val="000000"/>
                    </a:solidFill>
                    <a:effectLst/>
                    <a:latin typeface="Arial"/>
                    <a:ea typeface="Arial"/>
                    <a:cs typeface="Arial"/>
                    <a:sym typeface="Arial"/>
                  </a:rPr>
                  <a:t>less sensitive to outliers than MSE</a:t>
                </a:r>
                <a:r>
                  <a:rPr lang="en-US" sz="1100" b="0" i="0" u="none" strike="noStrike" cap="none" dirty="0">
                    <a:solidFill>
                      <a:srgbClr val="000000"/>
                    </a:solidFill>
                    <a:effectLst/>
                    <a:latin typeface="Arial"/>
                    <a:ea typeface="Arial"/>
                    <a:cs typeface="Arial"/>
                    <a:sym typeface="Arial"/>
                  </a:rPr>
                  <a:t> — meaning a few extreme points won’t dominate the score as much.”</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Root Mean Absolute Error (RMSE) is a metric used to measure the difference between predicted and actual values in a dataset, calculated by taking the square root of the average of the squared differences between the predicted and actual values.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Mean Absolute Error (MAE) is a metric that measures the average magnitude of the errors between paired observations, such as predicted versus actual values. It is calculated by taking the average of the absolute differences between the predicted and actual values, making it robust to outliers.</a:t>
                </a:r>
              </a:p>
              <a:p>
                <a:pPr marL="0" lvl="0" indent="0" algn="l" rtl="0">
                  <a:spcBef>
                    <a:spcPts val="0"/>
                  </a:spcBef>
                  <a:spcAft>
                    <a:spcPts val="0"/>
                  </a:spcAft>
                  <a:buNone/>
                </a:pPr>
                <a:endParaRPr dirty="0"/>
              </a:p>
            </p:txBody>
          </p:sp>
        </mc:Choice>
        <mc:Fallback>
          <p:sp>
            <p:nvSpPr>
              <p:cNvPr id="735" name="Google Shape;735;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“Now we’ll talk about </a:t>
                </a:r>
                <a:r>
                  <a:rPr lang="en-US" sz="1100" b="0" i="1" u="none" strike="noStrike" cap="none" dirty="0">
                    <a:solidFill>
                      <a:srgbClr val="000000"/>
                    </a:solidFill>
                    <a:effectLst/>
                    <a:latin typeface="Arial"/>
                    <a:ea typeface="Arial"/>
                    <a:cs typeface="Arial"/>
                    <a:sym typeface="Arial"/>
                  </a:rPr>
                  <a:t>how</a:t>
                </a:r>
                <a:r>
                  <a:rPr lang="en-US" sz="1100" b="0" i="0" u="none" strike="noStrike" cap="none" dirty="0">
                    <a:solidFill>
                      <a:srgbClr val="000000"/>
                    </a:solidFill>
                    <a:effectLst/>
                    <a:latin typeface="Arial"/>
                    <a:ea typeface="Arial"/>
                    <a:cs typeface="Arial"/>
                    <a:sym typeface="Arial"/>
                  </a:rPr>
                  <a:t> we measure error. Different metrics tell different stories.”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MSE is the </a:t>
                </a:r>
                <a:r>
                  <a:rPr lang="en-US" sz="1100" b="1" i="0" u="none" strike="noStrike" cap="none" dirty="0">
                    <a:solidFill>
                      <a:srgbClr val="000000"/>
                    </a:solidFill>
                    <a:effectLst/>
                    <a:latin typeface="Arial"/>
                    <a:ea typeface="Arial"/>
                    <a:cs typeface="Arial"/>
                    <a:sym typeface="Arial"/>
                  </a:rPr>
                  <a:t>average squared error</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Squaring makes all errors positive</a:t>
                </a:r>
              </a:p>
              <a:p>
                <a:pPr fontAlgn="t"/>
                <a:r>
                  <a:rPr lang="en-US" sz="1100" b="0" i="0" u="none" strike="noStrike" cap="none" dirty="0">
                    <a:solidFill>
                      <a:srgbClr val="000000"/>
                    </a:solidFill>
                    <a:effectLst/>
                    <a:latin typeface="Arial"/>
                    <a:ea typeface="Arial"/>
                    <a:cs typeface="Arial"/>
                    <a:sym typeface="Arial"/>
                  </a:rPr>
                  <a:t>And it </a:t>
                </a:r>
                <a:r>
                  <a:rPr lang="en-US" sz="1100" b="1" i="0" u="none" strike="noStrike" cap="none" dirty="0">
                    <a:solidFill>
                      <a:srgbClr val="000000"/>
                    </a:solidFill>
                    <a:effectLst/>
                    <a:latin typeface="Arial"/>
                    <a:ea typeface="Arial"/>
                    <a:cs typeface="Arial"/>
                    <a:sym typeface="Arial"/>
                  </a:rPr>
                  <a:t>penalizes big errors a lot</a:t>
                </a:r>
                <a:r>
                  <a:rPr lang="en-US" sz="1100" b="0" i="0" u="none" strike="noStrike" cap="none" dirty="0">
                    <a:solidFill>
                      <a:srgbClr val="000000"/>
                    </a:solidFill>
                    <a:effectLst/>
                    <a:latin typeface="Arial"/>
                    <a:ea typeface="Arial"/>
                    <a:cs typeface="Arial"/>
                    <a:sym typeface="Arial"/>
                  </a:rPr>
                  <a:t> (because big errors squared become huge)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“Good when big mistakes are especially costly.”</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“RMSE is just the square root of MSE.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Why do we do that? Because it brings the metric back to the </a:t>
                </a:r>
                <a:r>
                  <a:rPr lang="en-US" sz="1100" b="1" i="0" u="none" strike="noStrike" cap="none" dirty="0">
                    <a:solidFill>
                      <a:srgbClr val="000000"/>
                    </a:solidFill>
                    <a:effectLst/>
                    <a:latin typeface="Arial"/>
                    <a:ea typeface="Arial"/>
                    <a:cs typeface="Arial"/>
                    <a:sym typeface="Arial"/>
                  </a:rPr>
                  <a:t>same units as the target</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If </a:t>
                </a:r>
                <a:r>
                  <a:rPr lang="en-US" sz="1100" b="0" i="0" u="none" strike="noStrike" cap="none">
                    <a:solidFill>
                      <a:srgbClr val="000000"/>
                    </a:solidFill>
                    <a:latin typeface="Arial"/>
                    <a:ea typeface="Arial"/>
                    <a:cs typeface="Arial"/>
                    <a:sym typeface="Arial"/>
                  </a:rPr>
                  <a:t>𝑦</a:t>
                </a:r>
                <a:r>
                  <a:rPr lang="en-US" sz="1100" b="0" i="0" u="none" strike="noStrike" cap="none" dirty="0">
                    <a:solidFill>
                      <a:srgbClr val="000000"/>
                    </a:solidFill>
                    <a:effectLst/>
                    <a:latin typeface="Arial"/>
                    <a:ea typeface="Arial"/>
                    <a:cs typeface="Arial"/>
                    <a:sym typeface="Arial"/>
                  </a:rPr>
                  <a:t>is in dollars, RMSE is also in dollars.”</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“MAE is the </a:t>
                </a:r>
                <a:r>
                  <a:rPr lang="en-US" sz="1100" b="1" i="0" u="none" strike="noStrike" cap="none" dirty="0">
                    <a:solidFill>
                      <a:srgbClr val="000000"/>
                    </a:solidFill>
                    <a:effectLst/>
                    <a:latin typeface="Arial"/>
                    <a:ea typeface="Arial"/>
                    <a:cs typeface="Arial"/>
                    <a:sym typeface="Arial"/>
                  </a:rPr>
                  <a:t>average absolute error</a:t>
                </a:r>
                <a:r>
                  <a:rPr lang="en-US" sz="1100" b="0" i="0" u="none" strike="noStrike" cap="none" dirty="0">
                    <a:solidFill>
                      <a:srgbClr val="000000"/>
                    </a:solidFill>
                    <a:effectLst/>
                    <a:latin typeface="Arial"/>
                    <a:ea typeface="Arial"/>
                    <a:cs typeface="Arial"/>
                    <a:sym typeface="Arial"/>
                  </a:rPr>
                  <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It’s simpler: we take absolute value instead of squaring.</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Important: MAE is </a:t>
                </a:r>
                <a:r>
                  <a:rPr lang="en-US" sz="1100" b="1" i="0" u="none" strike="noStrike" cap="none" dirty="0">
                    <a:solidFill>
                      <a:srgbClr val="000000"/>
                    </a:solidFill>
                    <a:effectLst/>
                    <a:latin typeface="Arial"/>
                    <a:ea typeface="Arial"/>
                    <a:cs typeface="Arial"/>
                    <a:sym typeface="Arial"/>
                  </a:rPr>
                  <a:t>less sensitive to outliers than MSE</a:t>
                </a:r>
                <a:r>
                  <a:rPr lang="en-US" sz="1100" b="0" i="0" u="none" strike="noStrike" cap="none" dirty="0">
                    <a:solidFill>
                      <a:srgbClr val="000000"/>
                    </a:solidFill>
                    <a:effectLst/>
                    <a:latin typeface="Arial"/>
                    <a:ea typeface="Arial"/>
                    <a:cs typeface="Arial"/>
                    <a:sym typeface="Arial"/>
                  </a:rPr>
                  <a:t> — meaning a few extreme points won’t dominate the score as much.”</a:t>
                </a:r>
              </a:p>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Root Mean Absolute Error (RMSE) is a metric used to measure the difference between predicted and actual values in a dataset, calculated by taking the square root of the average of the squared differences between the predicted and actual values.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Mean Absolute Error (MAE) is a metric that measures the average magnitude of the errors between paired observations, such as predicted versus actual values. It is calculated by taking the average of the absolute differences between the predicted and actual values, making it robust to outliers.</a:t>
                </a:r>
              </a:p>
              <a:p>
                <a:pPr marL="0" lvl="0" indent="0" algn="l" rtl="0">
                  <a:spcBef>
                    <a:spcPts val="0"/>
                  </a:spcBef>
                  <a:spcAft>
                    <a:spcPts val="0"/>
                  </a:spcAft>
                  <a:buNone/>
                </a:pPr>
                <a:endParaRPr dirty="0"/>
              </a:p>
            </p:txBody>
          </p:sp>
        </mc:Fallback>
      </mc:AlternateContent>
      <p:sp>
        <p:nvSpPr>
          <p:cNvPr id="736" name="Google Shape;736;p3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14:m>
                  <m:oMath xmlns:m="http://schemas.openxmlformats.org/officeDocument/2006/math">
                    <m:r>
                      <a:rPr lang="ar-AE" sz="1100" b="0" i="1" u="none" strike="noStrike" cap="none" smtClean="0">
                        <a:solidFill>
                          <a:srgbClr val="000000"/>
                        </a:solidFill>
                        <a:latin typeface="Cambria Math" panose="02040503050406030204" pitchFamily="18" charset="0"/>
                        <a:ea typeface="Arial"/>
                        <a:cs typeface="Arial"/>
                        <a:sym typeface="Arial"/>
                      </a:rPr>
                      <m:t>𝑆</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𝑆</m:t>
                        </m:r>
                      </m:e>
                      <m:sub>
                        <m:r>
                          <a:rPr lang="ar-AE" sz="1100" b="0" i="1" u="none" strike="noStrike" cap="none">
                            <a:solidFill>
                              <a:srgbClr val="000000"/>
                            </a:solidFill>
                            <a:latin typeface="Cambria Math" panose="02040503050406030204" pitchFamily="18" charset="0"/>
                            <a:ea typeface="Arial"/>
                            <a:cs typeface="Arial"/>
                            <a:sym typeface="Arial"/>
                          </a:rPr>
                          <m:t>𝑟𝑒𝑠</m:t>
                        </m:r>
                      </m:sub>
                    </m:sSub>
                  </m:oMath>
                </a14:m>
                <a:r>
                  <a:rPr lang="en-US" dirty="0">
                    <a:effectLst/>
                  </a:rPr>
                  <a:t> </a:t>
                </a:r>
                <a:r>
                  <a:rPr lang="en-IN" dirty="0"/>
                  <a:t>is the "residual sum of squares," which measures the variance around the regression line (the sum of the squared differences between the actual and predicted values).</a:t>
                </a:r>
              </a:p>
              <a:p>
                <a:pPr rtl="0"/>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𝑆</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𝑆</m:t>
                        </m:r>
                      </m:e>
                      <m:sub>
                        <m:r>
                          <a:rPr lang="ar-AE" sz="1100" b="0" i="1" u="none" strike="noStrike" cap="none">
                            <a:solidFill>
                              <a:srgbClr val="000000"/>
                            </a:solidFill>
                            <a:latin typeface="Cambria Math" panose="02040503050406030204" pitchFamily="18" charset="0"/>
                            <a:ea typeface="Arial"/>
                            <a:cs typeface="Arial"/>
                            <a:sym typeface="Arial"/>
                          </a:rPr>
                          <m:t>𝑡𝑜𝑡</m:t>
                        </m:r>
                      </m:sub>
                    </m:sSub>
                    <m:r>
                      <a:rPr lang="en-US" sz="1100" b="0" i="1" u="none" strike="noStrike" cap="none" smtClean="0">
                        <a:solidFill>
                          <a:srgbClr val="000000"/>
                        </a:solidFill>
                        <a:latin typeface="Cambria Math" panose="02040503050406030204" pitchFamily="18" charset="0"/>
                        <a:ea typeface="Arial"/>
                        <a:cs typeface="Arial"/>
                        <a:sym typeface="Arial"/>
                      </a:rPr>
                      <m:t> </m:t>
                    </m:r>
                  </m:oMath>
                </a14:m>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lang="en-US" sz="1100" b="0" i="0" u="none" strike="noStrike" cap="none" dirty="0">
                  <a:solidFill>
                    <a:srgbClr val="000000"/>
                  </a:solidFill>
                  <a:effectLst/>
                  <a:latin typeface="Arial"/>
                  <a:ea typeface="Arial"/>
                  <a:cs typeface="Arial"/>
                  <a:sym typeface="Arial"/>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“R² tells us: </a:t>
                </a:r>
                <a:r>
                  <a:rPr lang="en-US" sz="1100" b="1" i="0" u="none" strike="noStrike" cap="none" dirty="0">
                    <a:solidFill>
                      <a:srgbClr val="000000"/>
                    </a:solidFill>
                    <a:effectLst/>
                    <a:latin typeface="Arial"/>
                    <a:ea typeface="Arial"/>
                    <a:cs typeface="Arial"/>
                    <a:sym typeface="Arial"/>
                  </a:rPr>
                  <a:t>how much of the variance in </a:t>
                </a:r>
                <a14:m>
                  <m:oMath xmlns:m="http://schemas.openxmlformats.org/officeDocument/2006/math">
                    <m:r>
                      <a:rPr lang="en-US" sz="1100" b="0" i="1" u="none" strike="noStrike" cap="none">
                        <a:solidFill>
                          <a:srgbClr val="000000"/>
                        </a:solidFill>
                        <a:latin typeface="Arial"/>
                        <a:ea typeface="Arial"/>
                        <a:cs typeface="Arial"/>
                        <a:sym typeface="Arial"/>
                      </a:rPr>
                      <m:t>𝑦</m:t>
                    </m:r>
                  </m:oMath>
                </a14:m>
                <a:r>
                  <a:rPr lang="en-US" sz="1100" b="0" i="0" u="none" strike="noStrike" cap="none" dirty="0">
                    <a:solidFill>
                      <a:srgbClr val="000000"/>
                    </a:solidFill>
                    <a:effectLst/>
                    <a:latin typeface="Arial"/>
                    <a:ea typeface="Arial"/>
                    <a:cs typeface="Arial"/>
                    <a:sym typeface="Arial"/>
                  </a:rPr>
                  <a:t>is explained by the model.”</a:t>
                </a:r>
              </a:p>
              <a:p>
                <a:pPr marL="158750" indent="0">
                  <a:buNone/>
                </a:pPr>
                <a:endParaRPr lang="en-US" sz="1100" b="0" i="0" u="none" strike="noStrike" cap="none" dirty="0">
                  <a:solidFill>
                    <a:srgbClr val="000000"/>
                  </a:solidFill>
                  <a:effectLst/>
                  <a:latin typeface="Arial"/>
                  <a:ea typeface="Arial"/>
                  <a:cs typeface="Arial"/>
                  <a:sym typeface="Arial"/>
                </a:endParaRPr>
              </a:p>
              <a:p>
                <a:pPr fontAlgn="t"/>
                <a:r>
                  <a:rPr lang="en-GB" sz="1100" b="0" i="0" u="none" strike="noStrike" cap="none" dirty="0">
                    <a:solidFill>
                      <a:srgbClr val="000000"/>
                    </a:solidFill>
                    <a:effectLst/>
                    <a:latin typeface="Arial"/>
                    <a:ea typeface="Arial"/>
                    <a:cs typeface="Arial"/>
                    <a:sym typeface="Arial"/>
                  </a:rPr>
                  <a:t>“Think of this as a comparison:</a:t>
                </a:r>
              </a:p>
              <a:p>
                <a:pPr fontAlgn="t"/>
                <a:r>
                  <a:rPr lang="en-GB" sz="1100" b="0" i="0" u="none" strike="noStrike" cap="none" dirty="0">
                    <a:solidFill>
                      <a:srgbClr val="000000"/>
                    </a:solidFill>
                    <a:effectLst/>
                    <a:latin typeface="Arial"/>
                    <a:ea typeface="Arial"/>
                    <a:cs typeface="Arial"/>
                    <a:sym typeface="Arial"/>
                  </a:rPr>
                  <a:t>Top: the model’s total squared error (</a:t>
                </a:r>
                <a:r>
                  <a:rPr lang="en-GB" sz="1100" b="1" i="0" u="none" strike="noStrike" cap="none" dirty="0">
                    <a:solidFill>
                      <a:srgbClr val="000000"/>
                    </a:solidFill>
                    <a:effectLst/>
                    <a:latin typeface="Arial"/>
                    <a:ea typeface="Arial"/>
                    <a:cs typeface="Arial"/>
                    <a:sym typeface="Arial"/>
                  </a:rPr>
                  <a:t>residual sum of squares</a:t>
                </a:r>
                <a:r>
                  <a:rPr lang="en-GB" sz="1100" b="0" i="0" u="none" strike="noStrike" cap="none" dirty="0">
                    <a:solidFill>
                      <a:srgbClr val="000000"/>
                    </a:solidFill>
                    <a:effectLst/>
                    <a:latin typeface="Arial"/>
                    <a:ea typeface="Arial"/>
                    <a:cs typeface="Arial"/>
                    <a:sym typeface="Arial"/>
                  </a:rPr>
                  <a:t>)</a:t>
                </a:r>
              </a:p>
              <a:p>
                <a:pPr fontAlgn="t"/>
                <a:r>
                  <a:rPr lang="en-GB" sz="1100" b="0" i="0" u="none" strike="noStrike" cap="none" dirty="0">
                    <a:solidFill>
                      <a:srgbClr val="000000"/>
                    </a:solidFill>
                    <a:effectLst/>
                    <a:latin typeface="Arial"/>
                    <a:ea typeface="Arial"/>
                    <a:cs typeface="Arial"/>
                    <a:sym typeface="Arial"/>
                  </a:rPr>
                  <a:t>Bottom: the error if we used the simplest baseline: always predict the mean </a:t>
                </a:r>
                <a14:m>
                  <m:oMath xmlns:m="http://schemas.openxmlformats.org/officeDocument/2006/math">
                    <m:limUpp>
                      <m:limUppPr>
                        <m:ctrlPr>
                          <a:rPr lang="ar-AE" sz="1100" b="0" i="0" u="none" strike="noStrike" cap="none">
                            <a:solidFill>
                              <a:srgbClr val="000000"/>
                            </a:solidFill>
                            <a:latin typeface="Arial"/>
                            <a:ea typeface="Arial"/>
                            <a:cs typeface="Arial"/>
                            <a:sym typeface="Arial"/>
                          </a:rPr>
                        </m:ctrlPr>
                      </m:limUppPr>
                      <m:e>
                        <m:r>
                          <a:rPr lang="ar-AE" sz="1100" b="0" i="1" u="none" strike="noStrike" cap="none">
                            <a:solidFill>
                              <a:srgbClr val="000000"/>
                            </a:solidFill>
                            <a:latin typeface="Arial"/>
                            <a:ea typeface="Arial"/>
                            <a:cs typeface="Arial"/>
                            <a:sym typeface="Arial"/>
                          </a:rPr>
                          <m:t>𝑦</m:t>
                        </m:r>
                      </m:e>
                      <m:lim>
                        <m:r>
                          <a:rPr lang="ar-AE" sz="1100" b="0" i="0" u="none" strike="noStrike" cap="none">
                            <a:solidFill>
                              <a:srgbClr val="000000"/>
                            </a:solidFill>
                            <a:latin typeface="Arial"/>
                            <a:ea typeface="Arial"/>
                            <a:cs typeface="Arial"/>
                            <a:sym typeface="Arial"/>
                          </a:rPr>
                          <m:t>ˉ</m:t>
                        </m:r>
                      </m:lim>
                    </m:limUpp>
                  </m:oMath>
                </a14:m>
                <a:r>
                  <a:rPr lang="ar-AE" sz="1100" b="0" i="0" u="none" strike="noStrike" cap="none" dirty="0">
                    <a:solidFill>
                      <a:srgbClr val="000000"/>
                    </a:solidFill>
                    <a:effectLst/>
                    <a:latin typeface="Arial"/>
                    <a:ea typeface="Arial"/>
                    <a:cs typeface="Arial"/>
                    <a:sym typeface="Arial"/>
                  </a:rPr>
                  <a:t>(</a:t>
                </a:r>
                <a:r>
                  <a:rPr lang="en-GB" sz="1100" b="1" i="0" u="none" strike="noStrike" cap="none" dirty="0">
                    <a:solidFill>
                      <a:srgbClr val="000000"/>
                    </a:solidFill>
                    <a:effectLst/>
                    <a:latin typeface="Arial"/>
                    <a:ea typeface="Arial"/>
                    <a:cs typeface="Arial"/>
                    <a:sym typeface="Arial"/>
                  </a:rPr>
                  <a:t>total sum of squares</a:t>
                </a:r>
                <a:r>
                  <a:rPr lang="en-GB" sz="1100" b="0" i="0" u="none" strike="noStrike" cap="none" dirty="0">
                    <a:solidFill>
                      <a:srgbClr val="000000"/>
                    </a:solidFill>
                    <a:effectLst/>
                    <a:latin typeface="Arial"/>
                    <a:ea typeface="Arial"/>
                    <a:cs typeface="Arial"/>
                    <a:sym typeface="Arial"/>
                  </a:rPr>
                  <a:t>)</a:t>
                </a:r>
                <a:br>
                  <a:rPr lang="en-GB" sz="1100" b="0" i="0" u="none" strike="noStrike" cap="none" dirty="0">
                    <a:solidFill>
                      <a:srgbClr val="000000"/>
                    </a:solidFill>
                    <a:effectLst/>
                    <a:latin typeface="Arial"/>
                    <a:ea typeface="Arial"/>
                    <a:cs typeface="Arial"/>
                    <a:sym typeface="Arial"/>
                  </a:rPr>
                </a:br>
                <a:r>
                  <a:rPr lang="en-GB" sz="1100" b="0" i="0" u="none" strike="noStrike" cap="none" dirty="0">
                    <a:solidFill>
                      <a:srgbClr val="000000"/>
                    </a:solidFill>
                    <a:effectLst/>
                    <a:latin typeface="Arial"/>
                    <a:ea typeface="Arial"/>
                    <a:cs typeface="Arial"/>
                    <a:sym typeface="Arial"/>
                  </a:rPr>
                  <a:t>So R² measures: </a:t>
                </a:r>
                <a:r>
                  <a:rPr lang="en-GB" sz="1100" b="1" i="0" u="none" strike="noStrike" cap="none" dirty="0">
                    <a:solidFill>
                      <a:srgbClr val="000000"/>
                    </a:solidFill>
                    <a:effectLst/>
                    <a:latin typeface="Arial"/>
                    <a:ea typeface="Arial"/>
                    <a:cs typeface="Arial"/>
                    <a:sym typeface="Arial"/>
                  </a:rPr>
                  <a:t>How much better are we than just predicting the mean?</a:t>
                </a:r>
                <a:r>
                  <a:rPr lang="en-GB" sz="1100" b="0" i="0" u="none" strike="noStrike" cap="none" dirty="0">
                    <a:solidFill>
                      <a:srgbClr val="000000"/>
                    </a:solidFill>
                    <a:effectLst/>
                    <a:latin typeface="Arial"/>
                    <a:ea typeface="Arial"/>
                    <a:cs typeface="Arial"/>
                    <a:sym typeface="Arial"/>
                  </a:rPr>
                  <a:t>”</a:t>
                </a:r>
              </a:p>
              <a:p>
                <a:pPr marL="158750" indent="0">
                  <a:buNone/>
                </a:pP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“So:</a:t>
                </a:r>
              </a:p>
              <a:p>
                <a:pPr fontAlgn="t"/>
                <a:r>
                  <a:rPr lang="en-US" sz="1100" b="0" i="0" u="none" strike="noStrike" cap="none" dirty="0">
                    <a:solidFill>
                      <a:srgbClr val="000000"/>
                    </a:solidFill>
                    <a:effectLst/>
                    <a:latin typeface="Arial"/>
                    <a:ea typeface="Arial"/>
                    <a:cs typeface="Arial"/>
                    <a:sym typeface="Arial"/>
                  </a:rPr>
                  <a:t>1 means we explained everything</a:t>
                </a:r>
              </a:p>
              <a:p>
                <a:pPr fontAlgn="t"/>
                <a:r>
                  <a:rPr lang="en-US" sz="1100" b="0" i="0" u="none" strike="noStrike" cap="none" dirty="0">
                    <a:solidFill>
                      <a:srgbClr val="000000"/>
                    </a:solidFill>
                    <a:effectLst/>
                    <a:latin typeface="Arial"/>
                    <a:ea typeface="Arial"/>
                    <a:cs typeface="Arial"/>
                    <a:sym typeface="Arial"/>
                  </a:rPr>
                  <a:t>0 means we’re no better than a naive baseline</a:t>
                </a:r>
              </a:p>
              <a:p>
                <a:pPr fontAlgn="t"/>
                <a:r>
                  <a:rPr lang="en-US" sz="1100" b="0" i="0" u="none" strike="noStrike" cap="none" dirty="0">
                    <a:solidFill>
                      <a:srgbClr val="000000"/>
                    </a:solidFill>
                    <a:effectLst/>
                    <a:latin typeface="Arial"/>
                    <a:ea typeface="Arial"/>
                    <a:cs typeface="Arial"/>
                    <a:sym typeface="Arial"/>
                  </a:rPr>
                  <a:t>negative means the model is actually harmful compared to predicting the mean.”</a:t>
                </a:r>
              </a:p>
              <a:p>
                <a:pPr marL="158750" indent="0">
                  <a:buNone/>
                </a:pPr>
                <a:endParaRPr lang="en-US" sz="1100" b="0" i="0" u="none" strike="noStrike" cap="none" dirty="0">
                  <a:solidFill>
                    <a:srgbClr val="000000"/>
                  </a:solidFill>
                  <a:effectLst/>
                  <a:latin typeface="Arial"/>
                  <a:ea typeface="Arial"/>
                  <a:cs typeface="Arial"/>
                  <a:sym typeface="Arial"/>
                </a:endParaRPr>
              </a:p>
              <a:p>
                <a:endParaRPr dirty="0"/>
              </a:p>
            </p:txBody>
          </p:sp>
        </mc:Choice>
        <mc:Fallback xmlns="">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r>
                  <a:rPr lang="ar-AE" sz="1100" b="0" i="0" u="none" strike="noStrike" cap="none">
                    <a:solidFill>
                      <a:srgbClr val="000000"/>
                    </a:solidFill>
                    <a:latin typeface="Arial"/>
                    <a:ea typeface="Arial"/>
                    <a:cs typeface="Arial"/>
                    <a:sym typeface="Arial"/>
                  </a:rPr>
                  <a:t>𝑆𝑆_𝑟𝑒𝑠</a:t>
                </a:r>
                <a:r>
                  <a:rPr lang="en-US" dirty="0">
                    <a:effectLst/>
                  </a:rPr>
                  <a:t> </a:t>
                </a:r>
                <a:r>
                  <a:rPr lang="en-IN" dirty="0"/>
                  <a:t>is the "residual sum of squares," which measures the variance around the regression line (the sum of the squared differences between the actual and predicted values).</a:t>
                </a:r>
              </a:p>
              <a:p>
                <a:pPr rtl="0"/>
                <a:r>
                  <a:rPr lang="en-IN" sz="1100" b="0" i="0" u="none" strike="noStrike" cap="none">
                    <a:solidFill>
                      <a:srgbClr val="000000"/>
                    </a:solidFill>
                    <a:latin typeface="Arial"/>
                    <a:ea typeface="Arial"/>
                    <a:cs typeface="Arial"/>
                    <a:sym typeface="Arial"/>
                  </a:rPr>
                  <a:t>𝑆</a:t>
                </a:r>
                <a:r>
                  <a:rPr lang="ar-AE" sz="1100" b="0" i="0" u="none" strike="noStrike" cap="none">
                    <a:solidFill>
                      <a:srgbClr val="000000"/>
                    </a:solidFill>
                    <a:latin typeface="Arial"/>
                    <a:ea typeface="Arial"/>
                    <a:cs typeface="Arial"/>
                    <a:sym typeface="Arial"/>
                  </a:rPr>
                  <a:t>𝑆_𝑡𝑜𝑡</a:t>
                </a:r>
                <a:r>
                  <a:rPr lang="en-US" sz="1100" b="0" i="0" u="none" strike="noStrike" cap="none">
                    <a:solidFill>
                      <a:srgbClr val="000000"/>
                    </a:solidFill>
                    <a:latin typeface="Cambria Math" panose="02040503050406030204" pitchFamily="18" charset="0"/>
                    <a:ea typeface="Arial"/>
                    <a:cs typeface="Arial"/>
                    <a:sym typeface="Arial"/>
                  </a:rPr>
                  <a:t>  </a:t>
                </a:r>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dirty="0"/>
              </a:p>
            </p:txBody>
          </p:sp>
        </mc:Fallback>
      </mc:AlternateContent>
      <p:sp>
        <p:nvSpPr>
          <p:cNvPr id="749" name="Google Shape;749;p3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3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2" name="Google Shape;762;p3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1" name="Google Shape;791;p3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5" name="Google Shape;805;p3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33" name="Google Shape;833;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η is the </a:t>
                </a:r>
                <a:r>
                  <a:rPr lang="en-US" sz="1100" b="1" i="0" u="none" strike="noStrike" cap="none" dirty="0">
                    <a:solidFill>
                      <a:srgbClr val="000000"/>
                    </a:solidFill>
                    <a:effectLst/>
                    <a:latin typeface="Arial"/>
                    <a:ea typeface="Arial"/>
                    <a:cs typeface="Arial"/>
                    <a:sym typeface="Arial"/>
                  </a:rPr>
                  <a:t>step size</a:t>
                </a:r>
                <a:r>
                  <a:rPr lang="en-US" sz="1100" b="0" i="0" u="none" strike="noStrike" cap="none" dirty="0">
                    <a:solidFill>
                      <a:srgbClr val="000000"/>
                    </a:solidFill>
                    <a:effectLst/>
                    <a:latin typeface="Arial"/>
                    <a:ea typeface="Arial"/>
                    <a:cs typeface="Arial"/>
                    <a:sym typeface="Arial"/>
                  </a:rPr>
                  <a:t> in gradient descent: how big a jump we take each update. </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big</a:t>
                </a:r>
                <a:r>
                  <a:rPr lang="en-US" sz="1100" b="0" i="0" u="none" strike="noStrike" cap="none" dirty="0">
                    <a:solidFill>
                      <a:srgbClr val="000000"/>
                    </a:solidFill>
                    <a:effectLst/>
                    <a:latin typeface="Arial"/>
                    <a:ea typeface="Arial"/>
                    <a:cs typeface="Arial"/>
                    <a:sym typeface="Arial"/>
                  </a:rPr>
                  <a:t>, you overshoot and bounce around (or blow up).</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small</a:t>
                </a:r>
                <a:r>
                  <a:rPr lang="en-US" sz="1100" b="0" i="0" u="none" strike="noStrike" cap="none" dirty="0">
                    <a:solidFill>
                      <a:srgbClr val="000000"/>
                    </a:solidFill>
                    <a:effectLst/>
                    <a:latin typeface="Arial"/>
                    <a:ea typeface="Arial"/>
                    <a:cs typeface="Arial"/>
                    <a:sym typeface="Arial"/>
                  </a:rPr>
                  <a:t>, you take forever.”</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Plot loss vs iterations</a:t>
                </a:r>
                <a:r>
                  <a:rPr lang="en-US" sz="1100" b="0" i="0" u="none" strike="noStrike" cap="none" dirty="0">
                    <a:solidFill>
                      <a:srgbClr val="000000"/>
                    </a:solidFill>
                    <a:effectLst/>
                    <a:latin typeface="Arial"/>
                    <a:ea typeface="Arial"/>
                    <a:cs typeface="Arial"/>
                    <a:sym typeface="Arial"/>
                  </a:rPr>
                  <a:t> for each learning rate and compare.</a:t>
                </a:r>
              </a:p>
              <a:p>
                <a:pPr fontAlgn="t"/>
                <a:r>
                  <a:rPr lang="en-US" sz="1100" b="0" i="0" u="none" strike="noStrike" cap="none" dirty="0">
                    <a:solidFill>
                      <a:srgbClr val="000000"/>
                    </a:solidFill>
                    <a:effectLst/>
                    <a:latin typeface="Arial"/>
                    <a:ea typeface="Arial"/>
                    <a:cs typeface="Arial"/>
                    <a:sym typeface="Arial"/>
                  </a:rPr>
                  <a:t>If </a:t>
                </a:r>
                <a:r>
                  <a:rPr lang="en-US" sz="1100" b="1" i="0" u="none" strike="noStrike" cap="none" dirty="0">
                    <a:solidFill>
                      <a:srgbClr val="000000"/>
                    </a:solidFill>
                    <a:effectLst/>
                    <a:latin typeface="Arial"/>
                    <a:ea typeface="Arial"/>
                    <a:cs typeface="Arial"/>
                    <a:sym typeface="Arial"/>
                  </a:rPr>
                  <a:t>loss increases</a:t>
                </a:r>
                <a:r>
                  <a:rPr lang="en-US" sz="1100" b="0" i="0" u="none" strike="noStrike" cap="none" dirty="0">
                    <a:solidFill>
                      <a:srgbClr val="000000"/>
                    </a:solidFill>
                    <a:effectLst/>
                    <a:latin typeface="Arial"/>
                    <a:ea typeface="Arial"/>
                    <a:cs typeface="Arial"/>
                    <a:sym typeface="Arial"/>
                  </a:rPr>
                  <a:t> or becomes </a:t>
                </a:r>
                <a:r>
                  <a:rPr lang="en-US" sz="1100" b="1"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it usually means steps are too big → </a:t>
                </a:r>
                <a:r>
                  <a:rPr lang="en-US" sz="1100" b="1" i="0" u="none" strike="noStrike" cap="none" dirty="0">
                    <a:solidFill>
                      <a:srgbClr val="000000"/>
                    </a:solidFill>
                    <a:effectLst/>
                    <a:latin typeface="Arial"/>
                    <a:ea typeface="Arial"/>
                    <a:cs typeface="Arial"/>
                    <a:sym typeface="Arial"/>
                  </a:rPr>
                  <a:t>decrease </a:t>
                </a:r>
                <a14:m>
                  <m:oMath xmlns:m="http://schemas.openxmlformats.org/officeDocument/2006/math">
                    <m:r>
                      <a:rPr lang="en-US" sz="1100" b="0" i="1" u="none" strike="noStrike" cap="none">
                        <a:solidFill>
                          <a:srgbClr val="000000"/>
                        </a:solidFill>
                        <a:latin typeface="Arial"/>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If convergence is </a:t>
                </a:r>
                <a:r>
                  <a:rPr lang="en-US" sz="1100" b="1" i="0" u="none" strike="noStrike" cap="none" dirty="0">
                    <a:solidFill>
                      <a:srgbClr val="000000"/>
                    </a:solidFill>
                    <a:effectLst/>
                    <a:latin typeface="Arial"/>
                    <a:ea typeface="Arial"/>
                    <a:cs typeface="Arial"/>
                    <a:sym typeface="Arial"/>
                  </a:rPr>
                  <a:t>too slow</a:t>
                </a:r>
                <a:r>
                  <a:rPr lang="en-US" sz="1100" b="0" i="0" u="none" strike="noStrike" cap="none" dirty="0">
                    <a:solidFill>
                      <a:srgbClr val="000000"/>
                    </a:solidFill>
                    <a:effectLst/>
                    <a:latin typeface="Arial"/>
                    <a:ea typeface="Arial"/>
                    <a:cs typeface="Arial"/>
                    <a:sym typeface="Arial"/>
                  </a:rPr>
                  <a:t>, increase </a:t>
                </a:r>
                <a14:m>
                  <m:oMath xmlns:m="http://schemas.openxmlformats.org/officeDocument/2006/math">
                    <m:r>
                      <a:rPr lang="en-US" sz="1100" b="0" i="1" u="none" strike="noStrike" cap="none">
                        <a:solidFill>
                          <a:srgbClr val="000000"/>
                        </a:solidFill>
                        <a:latin typeface="Arial"/>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Use </a:t>
                </a:r>
                <a:r>
                  <a:rPr lang="en-US" sz="1100" b="1" i="0" u="none" strike="noStrike" cap="none" dirty="0">
                    <a:solidFill>
                      <a:srgbClr val="000000"/>
                    </a:solidFill>
                    <a:effectLst/>
                    <a:latin typeface="Arial"/>
                    <a:ea typeface="Arial"/>
                    <a:cs typeface="Arial"/>
                    <a:sym typeface="Arial"/>
                  </a:rPr>
                  <a:t>learning rate schedules</a:t>
                </a:r>
                <a:r>
                  <a:rPr lang="en-US" sz="1100" b="0" i="0" u="none" strike="noStrike" cap="none" dirty="0">
                    <a:solidFill>
                      <a:srgbClr val="000000"/>
                    </a:solidFill>
                    <a:effectLst/>
                    <a:latin typeface="Arial"/>
                    <a:ea typeface="Arial"/>
                    <a:cs typeface="Arial"/>
                    <a:sym typeface="Arial"/>
                  </a:rPr>
                  <a:t> for fine-tuning (reduce </a:t>
                </a:r>
                <a14:m>
                  <m:oMath xmlns:m="http://schemas.openxmlformats.org/officeDocument/2006/math">
                    <m:r>
                      <a:rPr lang="en-US" sz="1100" b="0" i="1" u="none" strike="noStrike" cap="none">
                        <a:solidFill>
                          <a:srgbClr val="000000"/>
                        </a:solidFill>
                        <a:latin typeface="Arial"/>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later).</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“Learning rate is the #1 knob: too high = unstable, too low = slow.”</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need a stopping rule so training doesn’t run forever or overfit.</a:t>
                </a:r>
              </a:p>
              <a:p>
                <a:pPr marL="0" lvl="0" indent="0" algn="l" rtl="0">
                  <a:spcBef>
                    <a:spcPts val="0"/>
                  </a:spcBef>
                  <a:spcAft>
                    <a:spcPts val="0"/>
                  </a:spcAft>
                  <a:buNone/>
                </a:pPr>
                <a:endParaRPr lang="en-US" dirty="0"/>
              </a:p>
              <a:p>
                <a:pPr fontAlgn="t"/>
                <a:r>
                  <a:rPr lang="en-GB" sz="1100" b="1" i="0" u="none" strike="noStrike" cap="none" dirty="0">
                    <a:solidFill>
                      <a:srgbClr val="000000"/>
                    </a:solidFill>
                    <a:effectLst/>
                    <a:latin typeface="Arial"/>
                    <a:ea typeface="Arial"/>
                    <a:cs typeface="Arial"/>
                    <a:sym typeface="Arial"/>
                  </a:rPr>
                  <a:t>Gradient magnitude small</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r>
                      <a:rPr lang="en-GB" sz="1100" b="0" i="0" u="none" strike="noStrike" cap="none">
                        <a:solidFill>
                          <a:srgbClr val="000000"/>
                        </a:solidFill>
                        <a:latin typeface="Arial"/>
                        <a:ea typeface="Arial"/>
                        <a:cs typeface="Arial"/>
                        <a:sym typeface="Arial"/>
                      </a:rPr>
                      <m:t>∥</m:t>
                    </m:r>
                    <m:r>
                      <m:rPr>
                        <m:sty m:val="p"/>
                      </m:rPr>
                      <a:rPr lang="en-GB" sz="1100" b="0" i="0" u="none" strike="noStrike" cap="none">
                        <a:solidFill>
                          <a:srgbClr val="000000"/>
                        </a:solidFill>
                        <a:latin typeface="Arial"/>
                        <a:ea typeface="Arial"/>
                        <a:cs typeface="Arial"/>
                        <a:sym typeface="Arial"/>
                      </a:rPr>
                      <m:t>∇</m:t>
                    </m:r>
                    <m:r>
                      <a:rPr lang="en-GB" sz="1100" b="0" i="1" u="none" strike="noStrike" cap="none">
                        <a:solidFill>
                          <a:srgbClr val="000000"/>
                        </a:solidFill>
                        <a:latin typeface="Arial"/>
                        <a:ea typeface="Arial"/>
                        <a:cs typeface="Arial"/>
                        <a:sym typeface="Arial"/>
                      </a:rPr>
                      <m:t>𝐽</m:t>
                    </m:r>
                    <m:r>
                      <a:rPr lang="en-GB" sz="1100" b="0" i="0" u="none" strike="noStrike" cap="none">
                        <a:solidFill>
                          <a:srgbClr val="000000"/>
                        </a:solidFill>
                        <a:latin typeface="Arial"/>
                        <a:ea typeface="Arial"/>
                        <a:cs typeface="Arial"/>
                        <a:sym typeface="Arial"/>
                      </a:rPr>
                      <m:t>∥&lt;</m:t>
                    </m:r>
                    <m:r>
                      <a:rPr lang="en-GB" sz="1100" b="0" i="1" u="none" strike="noStrike" cap="none">
                        <a:solidFill>
                          <a:srgbClr val="000000"/>
                        </a:solidFill>
                        <a:latin typeface="Arial"/>
                        <a:ea typeface="Arial"/>
                        <a:cs typeface="Arial"/>
                        <a:sym typeface="Arial"/>
                      </a:rPr>
                      <m:t>𝜖</m:t>
                    </m:r>
                  </m:oMath>
                </a14:m>
                <a:r>
                  <a:rPr lang="en-GB" sz="1100" b="0" i="0" u="none" strike="noStrike" cap="none" dirty="0">
                    <a:solidFill>
                      <a:srgbClr val="000000"/>
                    </a:solidFill>
                    <a:effectLst/>
                    <a:latin typeface="Arial"/>
                    <a:ea typeface="Arial"/>
                    <a:cs typeface="Arial"/>
                    <a:sym typeface="Arial"/>
                  </a:rPr>
                  <a:t>(example </a:t>
                </a:r>
                <a14:m>
                  <m:oMath xmlns:m="http://schemas.openxmlformats.org/officeDocument/2006/math">
                    <m:r>
                      <a:rPr lang="en-GB" sz="1100" b="0" i="1" u="none" strike="noStrike" cap="none">
                        <a:solidFill>
                          <a:srgbClr val="000000"/>
                        </a:solidFill>
                        <a:latin typeface="Arial"/>
                        <a:ea typeface="Arial"/>
                        <a:cs typeface="Arial"/>
                        <a:sym typeface="Arial"/>
                      </a:rPr>
                      <m:t>𝜖</m:t>
                    </m:r>
                    <m:r>
                      <a:rPr lang="en-GB" sz="1100" b="0" i="0" u="none" strike="noStrike" cap="none">
                        <a:solidFill>
                          <a:srgbClr val="000000"/>
                        </a:solidFill>
                        <a:latin typeface="Arial"/>
                        <a:ea typeface="Arial"/>
                        <a:cs typeface="Arial"/>
                        <a:sym typeface="Arial"/>
                      </a:rPr>
                      <m:t>=</m:t>
                    </m:r>
                    <m:sSup>
                      <m:sSupPr>
                        <m:ctrlPr>
                          <a:rPr lang="ar-AE" sz="1100" b="0" i="1" u="none" strike="noStrike" cap="none">
                            <a:solidFill>
                              <a:srgbClr val="000000"/>
                            </a:solidFill>
                            <a:latin typeface="Arial"/>
                            <a:ea typeface="Arial"/>
                            <a:cs typeface="Arial"/>
                            <a:sym typeface="Arial"/>
                          </a:rPr>
                        </m:ctrlPr>
                      </m:sSupPr>
                      <m:e>
                        <m:r>
                          <a:rPr lang="ar-AE" sz="1100" b="0" i="0" u="none" strike="noStrike" cap="none">
                            <a:solidFill>
                              <a:srgbClr val="000000"/>
                            </a:solidFill>
                            <a:latin typeface="Arial"/>
                            <a:ea typeface="Arial"/>
                            <a:cs typeface="Arial"/>
                            <a:sym typeface="Arial"/>
                          </a:rPr>
                          <m:t>10</m:t>
                        </m:r>
                      </m:e>
                      <m:sup>
                        <m:r>
                          <a:rPr lang="ar-AE" sz="1100" b="0" i="0" u="none" strike="noStrike" cap="none">
                            <a:solidFill>
                              <a:srgbClr val="000000"/>
                            </a:solidFill>
                            <a:latin typeface="Arial"/>
                            <a:ea typeface="Arial"/>
                            <a:cs typeface="Arial"/>
                            <a:sym typeface="Arial"/>
                          </a:rPr>
                          <m:t>−</m:t>
                        </m:r>
                        <m:r>
                          <a:rPr lang="ar-AE" sz="1100" b="0" i="0" u="none" strike="noStrike" cap="none">
                            <a:solidFill>
                              <a:srgbClr val="000000"/>
                            </a:solidFill>
                            <a:latin typeface="Arial"/>
                            <a:ea typeface="Arial"/>
                            <a:cs typeface="Arial"/>
                            <a:sym typeface="Arial"/>
                          </a:rPr>
                          <m:t>4</m:t>
                        </m:r>
                      </m:sup>
                    </m:sSup>
                  </m:oMath>
                </a14:m>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“The slope is almost flat now — we’re near the bottom.”</a:t>
                </a:r>
              </a:p>
              <a:p>
                <a:pPr fontAlgn="t"/>
                <a:r>
                  <a:rPr lang="en-GB" sz="1100" b="1" i="0" u="none" strike="noStrike" cap="none" dirty="0">
                    <a:solidFill>
                      <a:srgbClr val="000000"/>
                    </a:solidFill>
                    <a:effectLst/>
                    <a:latin typeface="Arial"/>
                    <a:ea typeface="Arial"/>
                    <a:cs typeface="Arial"/>
                    <a:sym typeface="Arial"/>
                  </a:rPr>
                  <a:t>Loss change small</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r>
                      <a:rPr lang="en-GB" sz="1100" b="0" i="0" u="none" strike="noStrike" cap="none">
                        <a:solidFill>
                          <a:srgbClr val="000000"/>
                        </a:solidFill>
                        <a:latin typeface="Arial"/>
                        <a:ea typeface="Arial"/>
                        <a:cs typeface="Arial"/>
                        <a:sym typeface="Arial"/>
                      </a:rPr>
                      <m:t>∣</m:t>
                    </m:r>
                    <m:sSup>
                      <m:sSupPr>
                        <m:ctrlPr>
                          <a:rPr lang="ar-AE" sz="1100" b="0" i="1" u="none" strike="noStrike" cap="none">
                            <a:solidFill>
                              <a:srgbClr val="000000"/>
                            </a:solidFill>
                            <a:latin typeface="Arial"/>
                            <a:ea typeface="Arial"/>
                            <a:cs typeface="Arial"/>
                            <a:sym typeface="Arial"/>
                          </a:rPr>
                        </m:ctrlPr>
                      </m:sSupPr>
                      <m:e>
                        <m:r>
                          <a:rPr lang="ar-AE" sz="1100" b="0" i="1" u="none" strike="noStrike" cap="none">
                            <a:solidFill>
                              <a:srgbClr val="000000"/>
                            </a:solidFill>
                            <a:latin typeface="Arial"/>
                            <a:ea typeface="Arial"/>
                            <a:cs typeface="Arial"/>
                            <a:sym typeface="Arial"/>
                          </a:rPr>
                          <m:t>𝐽</m:t>
                        </m:r>
                      </m:e>
                      <m:sup>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𝑡</m:t>
                            </m:r>
                          </m:e>
                        </m:d>
                      </m:sup>
                    </m:sSup>
                    <m:r>
                      <a:rPr lang="ar-AE" sz="1100" b="0" i="0" u="none" strike="noStrike" cap="none">
                        <a:solidFill>
                          <a:srgbClr val="000000"/>
                        </a:solidFill>
                        <a:latin typeface="Arial"/>
                        <a:ea typeface="Arial"/>
                        <a:cs typeface="Arial"/>
                        <a:sym typeface="Arial"/>
                      </a:rPr>
                      <m:t>−</m:t>
                    </m:r>
                    <m:sSup>
                      <m:sSupPr>
                        <m:ctrlPr>
                          <a:rPr lang="ar-AE" sz="1100" b="0" i="1" u="none" strike="noStrike" cap="none">
                            <a:solidFill>
                              <a:srgbClr val="000000"/>
                            </a:solidFill>
                            <a:latin typeface="Arial"/>
                            <a:ea typeface="Arial"/>
                            <a:cs typeface="Arial"/>
                            <a:sym typeface="Arial"/>
                          </a:rPr>
                        </m:ctrlPr>
                      </m:sSupPr>
                      <m:e>
                        <m:r>
                          <a:rPr lang="ar-AE" sz="1100" b="0" i="1" u="none" strike="noStrike" cap="none">
                            <a:solidFill>
                              <a:srgbClr val="000000"/>
                            </a:solidFill>
                            <a:latin typeface="Arial"/>
                            <a:ea typeface="Arial"/>
                            <a:cs typeface="Arial"/>
                            <a:sym typeface="Arial"/>
                          </a:rPr>
                          <m:t>𝐽</m:t>
                        </m:r>
                      </m:e>
                      <m:sup>
                        <m:d>
                          <m:dPr>
                            <m:ctrlPr>
                              <a:rPr lang="ar-AE" sz="1100" b="0" i="1" u="none" strike="noStrike" cap="none">
                                <a:solidFill>
                                  <a:srgbClr val="000000"/>
                                </a:solidFill>
                                <a:latin typeface="Arial"/>
                                <a:ea typeface="Arial"/>
                                <a:cs typeface="Arial"/>
                                <a:sym typeface="Arial"/>
                              </a:rPr>
                            </m:ctrlPr>
                          </m:dPr>
                          <m:e>
                            <m:r>
                              <a:rPr lang="ar-AE" sz="1100" b="0" i="1" u="none" strike="noStrike" cap="none">
                                <a:solidFill>
                                  <a:srgbClr val="000000"/>
                                </a:solidFill>
                                <a:latin typeface="Arial"/>
                                <a:ea typeface="Arial"/>
                                <a:cs typeface="Arial"/>
                                <a:sym typeface="Arial"/>
                              </a:rPr>
                              <m:t>𝑡</m:t>
                            </m:r>
                            <m:r>
                              <a:rPr lang="ar-AE" sz="1100" b="0" i="0" u="none" strike="noStrike" cap="none">
                                <a:solidFill>
                                  <a:srgbClr val="000000"/>
                                </a:solidFill>
                                <a:latin typeface="Arial"/>
                                <a:ea typeface="Arial"/>
                                <a:cs typeface="Arial"/>
                                <a:sym typeface="Arial"/>
                              </a:rPr>
                              <m:t>−</m:t>
                            </m:r>
                            <m:r>
                              <a:rPr lang="ar-AE" sz="1100" b="0" i="0" u="none" strike="noStrike" cap="none">
                                <a:solidFill>
                                  <a:srgbClr val="000000"/>
                                </a:solidFill>
                                <a:latin typeface="Arial"/>
                                <a:ea typeface="Arial"/>
                                <a:cs typeface="Arial"/>
                                <a:sym typeface="Arial"/>
                              </a:rPr>
                              <m:t>1</m:t>
                            </m:r>
                          </m:e>
                        </m:d>
                      </m:sup>
                    </m:sSup>
                    <m:r>
                      <a:rPr lang="ar-AE" sz="1100" b="0" i="0" u="none" strike="noStrike" cap="none">
                        <a:solidFill>
                          <a:srgbClr val="000000"/>
                        </a:solidFill>
                        <a:latin typeface="Arial"/>
                        <a:ea typeface="Arial"/>
                        <a:cs typeface="Arial"/>
                        <a:sym typeface="Arial"/>
                      </a:rPr>
                      <m:t>∣&lt;</m:t>
                    </m:r>
                    <m:r>
                      <a:rPr lang="ar-AE" sz="1100" b="0" i="1" u="none" strike="noStrike" cap="none">
                        <a:solidFill>
                          <a:srgbClr val="000000"/>
                        </a:solidFill>
                        <a:latin typeface="Arial"/>
                        <a:ea typeface="Arial"/>
                        <a:cs typeface="Arial"/>
                        <a:sym typeface="Arial"/>
                      </a:rPr>
                      <m:t>𝜖</m:t>
                    </m:r>
                  </m:oMath>
                </a14:m>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“Loss is not improving anymore.”</a:t>
                </a:r>
              </a:p>
              <a:p>
                <a:pPr fontAlgn="t"/>
                <a:r>
                  <a:rPr lang="en-GB" sz="1100" b="1" i="0" u="none" strike="noStrike" cap="none" dirty="0">
                    <a:solidFill>
                      <a:srgbClr val="000000"/>
                    </a:solidFill>
                    <a:effectLst/>
                    <a:latin typeface="Arial"/>
                    <a:ea typeface="Arial"/>
                    <a:cs typeface="Arial"/>
                    <a:sym typeface="Arial"/>
                  </a:rPr>
                  <a:t>Max iterations reached</a:t>
                </a:r>
                <a:r>
                  <a:rPr lang="en-GB" sz="1100" b="0" i="0" u="none" strike="noStrike" cap="none" dirty="0">
                    <a:solidFill>
                      <a:srgbClr val="000000"/>
                    </a:solidFill>
                    <a:effectLst/>
                    <a:latin typeface="Arial"/>
                    <a:ea typeface="Arial"/>
                    <a:cs typeface="Arial"/>
                    <a:sym typeface="Arial"/>
                  </a:rPr>
                  <a:t>: e.g., </a:t>
                </a:r>
                <a14:m>
                  <m:oMath xmlns:m="http://schemas.openxmlformats.org/officeDocument/2006/math">
                    <m:r>
                      <a:rPr lang="en-GB" sz="1100" b="0" i="1" u="none" strike="noStrike" cap="none">
                        <a:solidFill>
                          <a:srgbClr val="000000"/>
                        </a:solidFill>
                        <a:latin typeface="Arial"/>
                        <a:ea typeface="Arial"/>
                        <a:cs typeface="Arial"/>
                        <a:sym typeface="Arial"/>
                      </a:rPr>
                      <m:t>𝑇</m:t>
                    </m:r>
                    <m:r>
                      <a:rPr lang="en-GB" sz="1100" b="0" i="0" u="none" strike="noStrike" cap="none">
                        <a:solidFill>
                          <a:srgbClr val="000000"/>
                        </a:solidFill>
                        <a:latin typeface="Arial"/>
                        <a:ea typeface="Arial"/>
                        <a:cs typeface="Arial"/>
                        <a:sym typeface="Arial"/>
                      </a:rPr>
                      <m:t>=</m:t>
                    </m:r>
                    <m:r>
                      <a:rPr lang="en-GB" sz="1100" b="0" i="0" u="none" strike="noStrike" cap="none">
                        <a:solidFill>
                          <a:srgbClr val="000000"/>
                        </a:solidFill>
                        <a:latin typeface="Arial"/>
                        <a:ea typeface="Arial"/>
                        <a:cs typeface="Arial"/>
                        <a:sym typeface="Arial"/>
                      </a:rPr>
                      <m:t>1000</m:t>
                    </m:r>
                  </m:oMath>
                </a14:m>
                <a:r>
                  <a:rPr lang="en-GB" sz="1100" b="0" i="0" u="none" strike="noStrike" cap="none" dirty="0">
                    <a:solidFill>
                      <a:srgbClr val="000000"/>
                    </a:solidFill>
                    <a:effectLst/>
                    <a:latin typeface="Arial"/>
                    <a:ea typeface="Arial"/>
                    <a:cs typeface="Arial"/>
                    <a:sym typeface="Arial"/>
                  </a:rPr>
                  <a:t>or </a:t>
                </a:r>
                <a14:m>
                  <m:oMath xmlns:m="http://schemas.openxmlformats.org/officeDocument/2006/math">
                    <m:r>
                      <a:rPr lang="en-GB" sz="1100" b="0" i="0" u="none" strike="noStrike" cap="none">
                        <a:solidFill>
                          <a:srgbClr val="000000"/>
                        </a:solidFill>
                        <a:latin typeface="Arial"/>
                        <a:ea typeface="Arial"/>
                        <a:cs typeface="Arial"/>
                        <a:sym typeface="Arial"/>
                      </a:rPr>
                      <m:t>10</m:t>
                    </m:r>
                    <m:r>
                      <a:rPr lang="en-GB" sz="1100" b="0" i="0" u="none" strike="noStrike" cap="none">
                        <a:solidFill>
                          <a:srgbClr val="000000"/>
                        </a:solidFill>
                        <a:latin typeface="Arial"/>
                        <a:ea typeface="Arial"/>
                        <a:cs typeface="Arial"/>
                        <a:sym typeface="Arial"/>
                      </a:rPr>
                      <m:t>,</m:t>
                    </m:r>
                    <m:r>
                      <a:rPr lang="en-GB" sz="1100" b="0" i="0" u="none" strike="noStrike" cap="none">
                        <a:solidFill>
                          <a:srgbClr val="000000"/>
                        </a:solidFill>
                        <a:latin typeface="Arial"/>
                        <a:ea typeface="Arial"/>
                        <a:cs typeface="Arial"/>
                        <a:sym typeface="Arial"/>
                      </a:rPr>
                      <m:t>000</m:t>
                    </m:r>
                  </m:oMath>
                </a14:m>
                <a:r>
                  <a:rPr lang="en-GB" sz="1100" b="0" i="0" u="none" strike="noStrike" cap="none" dirty="0">
                    <a:solidFill>
                      <a:srgbClr val="000000"/>
                    </a:solidFill>
                    <a:effectLst/>
                    <a:latin typeface="Arial"/>
                    <a:ea typeface="Arial"/>
                    <a:cs typeface="Arial"/>
                    <a:sym typeface="Arial"/>
                  </a:rPr>
                  <a:t>.</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“We cap compute time.”</a:t>
                </a:r>
              </a:p>
              <a:p>
                <a:pPr fontAlgn="t"/>
                <a:r>
                  <a:rPr lang="en-GB" sz="1100" b="1" i="0" u="none" strike="noStrike" cap="none" dirty="0">
                    <a:solidFill>
                      <a:srgbClr val="000000"/>
                    </a:solidFill>
                    <a:effectLst/>
                    <a:latin typeface="Arial"/>
                    <a:ea typeface="Arial"/>
                    <a:cs typeface="Arial"/>
                    <a:sym typeface="Arial"/>
                  </a:rPr>
                  <a:t>Validation loss starts increasing</a:t>
                </a:r>
                <a:r>
                  <a:rPr lang="en-GB" sz="1100" b="0" i="0" u="none" strike="noStrike" cap="none" dirty="0">
                    <a:solidFill>
                      <a:srgbClr val="000000"/>
                    </a:solidFill>
                    <a:effectLst/>
                    <a:latin typeface="Arial"/>
                    <a:ea typeface="Arial"/>
                    <a:cs typeface="Arial"/>
                    <a:sym typeface="Arial"/>
                  </a:rPr>
                  <a:t> → early stopping (overfitting warning).</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“Model is starting to memorize training; stop before it gets worse on unseen data.”</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stop when improvement becomes tiny, or when validation starts getting worse.”</a:t>
                </a:r>
              </a:p>
              <a:p>
                <a:pPr marL="0" lvl="0" indent="0" algn="l" rtl="0">
                  <a:spcBef>
                    <a:spcPts val="0"/>
                  </a:spcBef>
                  <a:spcAft>
                    <a:spcPts val="0"/>
                  </a:spcAft>
                  <a:buNone/>
                </a:pPr>
                <a:endParaRPr lang="en-US" dirty="0"/>
              </a:p>
            </p:txBody>
          </p:sp>
        </mc:Choice>
        <mc:Fallback>
          <p:sp>
            <p:nvSpPr>
              <p:cNvPr id="833" name="Google Shape;833;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η is the </a:t>
                </a:r>
                <a:r>
                  <a:rPr lang="en-US" sz="1100" b="1" i="0" u="none" strike="noStrike" cap="none" dirty="0">
                    <a:solidFill>
                      <a:srgbClr val="000000"/>
                    </a:solidFill>
                    <a:effectLst/>
                    <a:latin typeface="Arial"/>
                    <a:ea typeface="Arial"/>
                    <a:cs typeface="Arial"/>
                    <a:sym typeface="Arial"/>
                  </a:rPr>
                  <a:t>step size</a:t>
                </a:r>
                <a:r>
                  <a:rPr lang="en-US" sz="1100" b="0" i="0" u="none" strike="noStrike" cap="none" dirty="0">
                    <a:solidFill>
                      <a:srgbClr val="000000"/>
                    </a:solidFill>
                    <a:effectLst/>
                    <a:latin typeface="Arial"/>
                    <a:ea typeface="Arial"/>
                    <a:cs typeface="Arial"/>
                    <a:sym typeface="Arial"/>
                  </a:rPr>
                  <a:t> in gradient descent: how big a jump we take each update. </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big</a:t>
                </a:r>
                <a:r>
                  <a:rPr lang="en-US" sz="1100" b="0" i="0" u="none" strike="noStrike" cap="none" dirty="0">
                    <a:solidFill>
                      <a:srgbClr val="000000"/>
                    </a:solidFill>
                    <a:effectLst/>
                    <a:latin typeface="Arial"/>
                    <a:ea typeface="Arial"/>
                    <a:cs typeface="Arial"/>
                    <a:sym typeface="Arial"/>
                  </a:rPr>
                  <a:t>, you overshoot and bounce around (or blow up).</a:t>
                </a:r>
              </a:p>
              <a:p>
                <a:pPr fontAlgn="t"/>
                <a:r>
                  <a:rPr lang="en-US" sz="1100" b="0" i="0" u="none" strike="noStrike" cap="none" dirty="0">
                    <a:solidFill>
                      <a:srgbClr val="000000"/>
                    </a:solidFill>
                    <a:effectLst/>
                    <a:latin typeface="Arial"/>
                    <a:ea typeface="Arial"/>
                    <a:cs typeface="Arial"/>
                    <a:sym typeface="Arial"/>
                  </a:rPr>
                  <a:t>If your steps are </a:t>
                </a:r>
                <a:r>
                  <a:rPr lang="en-US" sz="1100" b="1" i="0" u="none" strike="noStrike" cap="none" dirty="0">
                    <a:solidFill>
                      <a:srgbClr val="000000"/>
                    </a:solidFill>
                    <a:effectLst/>
                    <a:latin typeface="Arial"/>
                    <a:ea typeface="Arial"/>
                    <a:cs typeface="Arial"/>
                    <a:sym typeface="Arial"/>
                  </a:rPr>
                  <a:t>too small</a:t>
                </a:r>
                <a:r>
                  <a:rPr lang="en-US" sz="1100" b="0" i="0" u="none" strike="noStrike" cap="none" dirty="0">
                    <a:solidFill>
                      <a:srgbClr val="000000"/>
                    </a:solidFill>
                    <a:effectLst/>
                    <a:latin typeface="Arial"/>
                    <a:ea typeface="Arial"/>
                    <a:cs typeface="Arial"/>
                    <a:sym typeface="Arial"/>
                  </a:rPr>
                  <a:t>, you take forever.”</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Plot loss vs iterations</a:t>
                </a:r>
                <a:r>
                  <a:rPr lang="en-US" sz="1100" b="0" i="0" u="none" strike="noStrike" cap="none" dirty="0">
                    <a:solidFill>
                      <a:srgbClr val="000000"/>
                    </a:solidFill>
                    <a:effectLst/>
                    <a:latin typeface="Arial"/>
                    <a:ea typeface="Arial"/>
                    <a:cs typeface="Arial"/>
                    <a:sym typeface="Arial"/>
                  </a:rPr>
                  <a:t> for each learning rate and compare.</a:t>
                </a:r>
              </a:p>
              <a:p>
                <a:pPr fontAlgn="t"/>
                <a:r>
                  <a:rPr lang="en-US" sz="1100" b="0" i="0" u="none" strike="noStrike" cap="none" dirty="0">
                    <a:solidFill>
                      <a:srgbClr val="000000"/>
                    </a:solidFill>
                    <a:effectLst/>
                    <a:latin typeface="Arial"/>
                    <a:ea typeface="Arial"/>
                    <a:cs typeface="Arial"/>
                    <a:sym typeface="Arial"/>
                  </a:rPr>
                  <a:t>If </a:t>
                </a:r>
                <a:r>
                  <a:rPr lang="en-US" sz="1100" b="1" i="0" u="none" strike="noStrike" cap="none" dirty="0">
                    <a:solidFill>
                      <a:srgbClr val="000000"/>
                    </a:solidFill>
                    <a:effectLst/>
                    <a:latin typeface="Arial"/>
                    <a:ea typeface="Arial"/>
                    <a:cs typeface="Arial"/>
                    <a:sym typeface="Arial"/>
                  </a:rPr>
                  <a:t>loss increases</a:t>
                </a:r>
                <a:r>
                  <a:rPr lang="en-US" sz="1100" b="0" i="0" u="none" strike="noStrike" cap="none" dirty="0">
                    <a:solidFill>
                      <a:srgbClr val="000000"/>
                    </a:solidFill>
                    <a:effectLst/>
                    <a:latin typeface="Arial"/>
                    <a:ea typeface="Arial"/>
                    <a:cs typeface="Arial"/>
                    <a:sym typeface="Arial"/>
                  </a:rPr>
                  <a:t> or becomes </a:t>
                </a:r>
                <a:r>
                  <a:rPr lang="en-US" sz="1100" b="1"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it usually means steps are too big → </a:t>
                </a:r>
                <a:r>
                  <a:rPr lang="en-US" sz="1100" b="1" i="0" u="none" strike="noStrike" cap="none" dirty="0">
                    <a:solidFill>
                      <a:srgbClr val="000000"/>
                    </a:solidFill>
                    <a:effectLst/>
                    <a:latin typeface="Arial"/>
                    <a:ea typeface="Arial"/>
                    <a:cs typeface="Arial"/>
                    <a:sym typeface="Arial"/>
                  </a:rPr>
                  <a:t>decrease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If convergence is </a:t>
                </a:r>
                <a:r>
                  <a:rPr lang="en-US" sz="1100" b="1" i="0" u="none" strike="noStrike" cap="none" dirty="0">
                    <a:solidFill>
                      <a:srgbClr val="000000"/>
                    </a:solidFill>
                    <a:effectLst/>
                    <a:latin typeface="Arial"/>
                    <a:ea typeface="Arial"/>
                    <a:cs typeface="Arial"/>
                    <a:sym typeface="Arial"/>
                  </a:rPr>
                  <a:t>too slow</a:t>
                </a:r>
                <a:r>
                  <a:rPr lang="en-US" sz="1100" b="0" i="0" u="none" strike="noStrike" cap="none" dirty="0">
                    <a:solidFill>
                      <a:srgbClr val="000000"/>
                    </a:solidFill>
                    <a:effectLst/>
                    <a:latin typeface="Arial"/>
                    <a:ea typeface="Arial"/>
                    <a:cs typeface="Arial"/>
                    <a:sym typeface="Arial"/>
                  </a:rPr>
                  <a:t>, increase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a:t>
                </a:r>
              </a:p>
              <a:p>
                <a:pPr fontAlgn="t"/>
                <a:r>
                  <a:rPr lang="en-US" sz="1100" b="0" i="0" u="none" strike="noStrike" cap="none" dirty="0">
                    <a:solidFill>
                      <a:srgbClr val="000000"/>
                    </a:solidFill>
                    <a:effectLst/>
                    <a:latin typeface="Arial"/>
                    <a:ea typeface="Arial"/>
                    <a:cs typeface="Arial"/>
                    <a:sym typeface="Arial"/>
                  </a:rPr>
                  <a:t>Use </a:t>
                </a:r>
                <a:r>
                  <a:rPr lang="en-US" sz="1100" b="1" i="0" u="none" strike="noStrike" cap="none" dirty="0">
                    <a:solidFill>
                      <a:srgbClr val="000000"/>
                    </a:solidFill>
                    <a:effectLst/>
                    <a:latin typeface="Arial"/>
                    <a:ea typeface="Arial"/>
                    <a:cs typeface="Arial"/>
                    <a:sym typeface="Arial"/>
                  </a:rPr>
                  <a:t>learning rate schedules</a:t>
                </a:r>
                <a:r>
                  <a:rPr lang="en-US" sz="1100" b="0" i="0" u="none" strike="noStrike" cap="none" dirty="0">
                    <a:solidFill>
                      <a:srgbClr val="000000"/>
                    </a:solidFill>
                    <a:effectLst/>
                    <a:latin typeface="Arial"/>
                    <a:ea typeface="Arial"/>
                    <a:cs typeface="Arial"/>
                    <a:sym typeface="Arial"/>
                  </a:rPr>
                  <a:t> for fine-tuning (reduce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later).</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“Learning rate is the #1 knob: too high = unstable, too low = slow.”</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need a stopping rule so training doesn’t run forever or overfit.</a:t>
                </a:r>
              </a:p>
              <a:p>
                <a:pPr marL="0" lvl="0" indent="0" algn="l" rtl="0">
                  <a:spcBef>
                    <a:spcPts val="0"/>
                  </a:spcBef>
                  <a:spcAft>
                    <a:spcPts val="0"/>
                  </a:spcAft>
                  <a:buNone/>
                </a:pPr>
                <a:endParaRPr lang="en-US" dirty="0"/>
              </a:p>
              <a:p>
                <a:pPr fontAlgn="t"/>
                <a:r>
                  <a:rPr lang="en-GB" sz="1100" b="1" i="0" u="none" strike="noStrike" cap="none" dirty="0">
                    <a:solidFill>
                      <a:srgbClr val="000000"/>
                    </a:solidFill>
                    <a:effectLst/>
                    <a:latin typeface="Arial"/>
                    <a:ea typeface="Arial"/>
                    <a:cs typeface="Arial"/>
                    <a:sym typeface="Arial"/>
                  </a:rPr>
                  <a:t>Gradient magnitude small</a:t>
                </a:r>
                <a:r>
                  <a:rPr lang="en-GB" sz="1100" b="0" i="0" u="none" strike="noStrike" cap="none" dirty="0">
                    <a:solidFill>
                      <a:srgbClr val="000000"/>
                    </a:solidFill>
                    <a:effectLst/>
                    <a:latin typeface="Arial"/>
                    <a:ea typeface="Arial"/>
                    <a:cs typeface="Arial"/>
                    <a:sym typeface="Arial"/>
                  </a:rPr>
                  <a:t>: </a:t>
                </a:r>
                <a:r>
                  <a:rPr lang="en-GB" sz="1100" b="0" i="0" u="none" strike="noStrike" cap="none">
                    <a:solidFill>
                      <a:srgbClr val="000000"/>
                    </a:solidFill>
                    <a:latin typeface="Arial"/>
                    <a:ea typeface="Arial"/>
                    <a:cs typeface="Arial"/>
                    <a:sym typeface="Arial"/>
                  </a:rPr>
                  <a:t>∥∇𝐽∥&lt;𝜖</a:t>
                </a:r>
                <a:r>
                  <a:rPr lang="en-GB" sz="1100" b="0" i="0" u="none" strike="noStrike" cap="none" dirty="0">
                    <a:solidFill>
                      <a:srgbClr val="000000"/>
                    </a:solidFill>
                    <a:effectLst/>
                    <a:latin typeface="Arial"/>
                    <a:ea typeface="Arial"/>
                    <a:cs typeface="Arial"/>
                    <a:sym typeface="Arial"/>
                  </a:rPr>
                  <a:t>(example </a:t>
                </a:r>
                <a:r>
                  <a:rPr lang="en-GB" sz="1100" b="0" i="0" u="none" strike="noStrike" cap="none">
                    <a:solidFill>
                      <a:srgbClr val="000000"/>
                    </a:solidFill>
                    <a:latin typeface="Arial"/>
                    <a:ea typeface="Arial"/>
                    <a:cs typeface="Arial"/>
                    <a:sym typeface="Arial"/>
                  </a:rPr>
                  <a:t>𝜖=</a:t>
                </a:r>
                <a:r>
                  <a:rPr lang="ar-AE" sz="1100" b="0" i="0" u="none" strike="noStrike" cap="none">
                    <a:solidFill>
                      <a:srgbClr val="000000"/>
                    </a:solidFill>
                    <a:latin typeface="Arial"/>
                    <a:ea typeface="Arial"/>
                    <a:cs typeface="Arial"/>
                    <a:sym typeface="Arial"/>
                  </a:rPr>
                  <a:t>10^(−4)</a:t>
                </a:r>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“The slope is almost flat now — we’re near the bottom.”</a:t>
                </a:r>
              </a:p>
              <a:p>
                <a:pPr fontAlgn="t"/>
                <a:r>
                  <a:rPr lang="en-GB" sz="1100" b="1" i="0" u="none" strike="noStrike" cap="none" dirty="0">
                    <a:solidFill>
                      <a:srgbClr val="000000"/>
                    </a:solidFill>
                    <a:effectLst/>
                    <a:latin typeface="Arial"/>
                    <a:ea typeface="Arial"/>
                    <a:cs typeface="Arial"/>
                    <a:sym typeface="Arial"/>
                  </a:rPr>
                  <a:t>Loss change small</a:t>
                </a:r>
                <a:r>
                  <a:rPr lang="en-GB" sz="1100" b="0" i="0" u="none" strike="noStrike" cap="none" dirty="0">
                    <a:solidFill>
                      <a:srgbClr val="000000"/>
                    </a:solidFill>
                    <a:effectLst/>
                    <a:latin typeface="Arial"/>
                    <a:ea typeface="Arial"/>
                    <a:cs typeface="Arial"/>
                    <a:sym typeface="Arial"/>
                  </a:rPr>
                  <a:t>: </a:t>
                </a:r>
                <a:r>
                  <a:rPr lang="en-GB" sz="1100" b="0" i="0" u="none" strike="noStrike" cap="none">
                    <a:solidFill>
                      <a:srgbClr val="000000"/>
                    </a:solidFill>
                    <a:latin typeface="Arial"/>
                    <a:ea typeface="Arial"/>
                    <a:cs typeface="Arial"/>
                    <a:sym typeface="Arial"/>
                  </a:rPr>
                  <a:t>∣</a:t>
                </a:r>
                <a:r>
                  <a:rPr lang="ar-AE" sz="1100" b="0" i="0" u="none" strike="noStrike" cap="none">
                    <a:solidFill>
                      <a:srgbClr val="000000"/>
                    </a:solidFill>
                    <a:latin typeface="Arial"/>
                    <a:ea typeface="Arial"/>
                    <a:cs typeface="Arial"/>
                    <a:sym typeface="Arial"/>
                  </a:rPr>
                  <a:t>𝐽^((𝑡) )−𝐽^((𝑡−1) )∣&lt;𝜖</a:t>
                </a:r>
                <a:r>
                  <a:rPr lang="ar-AE" sz="1100" b="0" i="0" u="none" strike="noStrike" cap="none" dirty="0">
                    <a:solidFill>
                      <a:srgbClr val="000000"/>
                    </a:solidFill>
                    <a:effectLst/>
                    <a:latin typeface="Arial"/>
                    <a:ea typeface="Arial"/>
                    <a:cs typeface="Arial"/>
                    <a:sym typeface="Arial"/>
                  </a:rPr>
                  <a:t>.</a:t>
                </a:r>
                <a:br>
                  <a:rPr lang="ar-AE"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“Loss is not improving anymore.”</a:t>
                </a:r>
              </a:p>
              <a:p>
                <a:pPr fontAlgn="t"/>
                <a:r>
                  <a:rPr lang="en-GB" sz="1100" b="1" i="0" u="none" strike="noStrike" cap="none" dirty="0">
                    <a:solidFill>
                      <a:srgbClr val="000000"/>
                    </a:solidFill>
                    <a:effectLst/>
                    <a:latin typeface="Arial"/>
                    <a:ea typeface="Arial"/>
                    <a:cs typeface="Arial"/>
                    <a:sym typeface="Arial"/>
                  </a:rPr>
                  <a:t>Max iterations reached</a:t>
                </a:r>
                <a:r>
                  <a:rPr lang="en-GB" sz="1100" b="0" i="0" u="none" strike="noStrike" cap="none" dirty="0">
                    <a:solidFill>
                      <a:srgbClr val="000000"/>
                    </a:solidFill>
                    <a:effectLst/>
                    <a:latin typeface="Arial"/>
                    <a:ea typeface="Arial"/>
                    <a:cs typeface="Arial"/>
                    <a:sym typeface="Arial"/>
                  </a:rPr>
                  <a:t>: e.g., </a:t>
                </a:r>
                <a:r>
                  <a:rPr lang="en-GB" sz="1100" b="0" i="0" u="none" strike="noStrike" cap="none">
                    <a:solidFill>
                      <a:srgbClr val="000000"/>
                    </a:solidFill>
                    <a:latin typeface="Arial"/>
                    <a:ea typeface="Arial"/>
                    <a:cs typeface="Arial"/>
                    <a:sym typeface="Arial"/>
                  </a:rPr>
                  <a:t>𝑇=1000</a:t>
                </a:r>
                <a:r>
                  <a:rPr lang="en-GB" sz="1100" b="0" i="0" u="none" strike="noStrike" cap="none" dirty="0">
                    <a:solidFill>
                      <a:srgbClr val="000000"/>
                    </a:solidFill>
                    <a:effectLst/>
                    <a:latin typeface="Arial"/>
                    <a:ea typeface="Arial"/>
                    <a:cs typeface="Arial"/>
                    <a:sym typeface="Arial"/>
                  </a:rPr>
                  <a:t>or </a:t>
                </a:r>
                <a:r>
                  <a:rPr lang="en-GB" sz="1100" b="0" i="0" u="none" strike="noStrike" cap="none">
                    <a:solidFill>
                      <a:srgbClr val="000000"/>
                    </a:solidFill>
                    <a:latin typeface="Arial"/>
                    <a:ea typeface="Arial"/>
                    <a:cs typeface="Arial"/>
                    <a:sym typeface="Arial"/>
                  </a:rPr>
                  <a:t>10,000</a:t>
                </a:r>
                <a:r>
                  <a:rPr lang="en-GB" sz="1100" b="0" i="0" u="none" strike="noStrike" cap="none" dirty="0">
                    <a:solidFill>
                      <a:srgbClr val="000000"/>
                    </a:solidFill>
                    <a:effectLst/>
                    <a:latin typeface="Arial"/>
                    <a:ea typeface="Arial"/>
                    <a:cs typeface="Arial"/>
                    <a:sym typeface="Arial"/>
                  </a:rPr>
                  <a:t>.</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“We cap compute time.”</a:t>
                </a:r>
              </a:p>
              <a:p>
                <a:pPr fontAlgn="t"/>
                <a:r>
                  <a:rPr lang="en-GB" sz="1100" b="1" i="0" u="none" strike="noStrike" cap="none" dirty="0">
                    <a:solidFill>
                      <a:srgbClr val="000000"/>
                    </a:solidFill>
                    <a:effectLst/>
                    <a:latin typeface="Arial"/>
                    <a:ea typeface="Arial"/>
                    <a:cs typeface="Arial"/>
                    <a:sym typeface="Arial"/>
                  </a:rPr>
                  <a:t>Validation loss starts increasing</a:t>
                </a:r>
                <a:r>
                  <a:rPr lang="en-GB" sz="1100" b="0" i="0" u="none" strike="noStrike" cap="none" dirty="0">
                    <a:solidFill>
                      <a:srgbClr val="000000"/>
                    </a:solidFill>
                    <a:effectLst/>
                    <a:latin typeface="Arial"/>
                    <a:ea typeface="Arial"/>
                    <a:cs typeface="Arial"/>
                    <a:sym typeface="Arial"/>
                  </a:rPr>
                  <a:t> → early stopping (overfitting warning).</a:t>
                </a:r>
                <a:br>
                  <a:rPr lang="en-GB" sz="1100" b="0" i="0" u="none" strike="noStrike" cap="none" dirty="0">
                    <a:solidFill>
                      <a:srgbClr val="000000"/>
                    </a:solidFill>
                    <a:effectLst/>
                    <a:latin typeface="Arial"/>
                    <a:ea typeface="Arial"/>
                    <a:cs typeface="Arial"/>
                    <a:sym typeface="Arial"/>
                  </a:rPr>
                </a:br>
                <a:r>
                  <a:rPr lang="en-GB" sz="1100" b="1" i="0" u="none" strike="noStrike" cap="none" dirty="0">
                    <a:solidFill>
                      <a:srgbClr val="000000"/>
                    </a:solidFill>
                    <a:effectLst/>
                    <a:latin typeface="Arial"/>
                    <a:ea typeface="Arial"/>
                    <a:cs typeface="Arial"/>
                    <a:sym typeface="Arial"/>
                  </a:rPr>
                  <a:t>Simple meaning:</a:t>
                </a:r>
                <a:r>
                  <a:rPr lang="en-GB" sz="1100" b="0" i="0" u="none" strike="noStrike" cap="none" dirty="0">
                    <a:solidFill>
                      <a:srgbClr val="000000"/>
                    </a:solidFill>
                    <a:effectLst/>
                    <a:latin typeface="Arial"/>
                    <a:ea typeface="Arial"/>
                    <a:cs typeface="Arial"/>
                    <a:sym typeface="Arial"/>
                  </a:rPr>
                  <a:t> “Model is starting to memorize training; stop before it gets worse on unseen data.”</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“We stop when improvement becomes tiny, or when validation starts getting worse.”</a:t>
                </a:r>
              </a:p>
              <a:p>
                <a:pPr marL="0" lvl="0" indent="0" algn="l" rtl="0">
                  <a:spcBef>
                    <a:spcPts val="0"/>
                  </a:spcBef>
                  <a:spcAft>
                    <a:spcPts val="0"/>
                  </a:spcAft>
                  <a:buNone/>
                </a:pPr>
                <a:endParaRPr lang="en-US" dirty="0"/>
              </a:p>
            </p:txBody>
          </p:sp>
        </mc:Fallback>
      </mc:AlternateContent>
      <p:sp>
        <p:nvSpPr>
          <p:cNvPr id="834" name="Google Shape;834;p3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“Big starting weights can make predictions huge, which makes errors huge, which makes updates explode.”</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 model can only learn patterns that exist in the input features. Better features → easier learning.”</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“Features are the ‘questions’ we allow the model to look at. If we ask better questions, we get better answers.”</a:t>
            </a:r>
          </a:p>
          <a:p>
            <a:pPr marL="0" lvl="0" indent="0" algn="l" rtl="0">
              <a:spcBef>
                <a:spcPts val="0"/>
              </a:spcBef>
              <a:spcAft>
                <a:spcPts val="0"/>
              </a:spcAft>
              <a:buNone/>
            </a:pPr>
            <a:endParaRPr lang="en-US" dirty="0"/>
          </a:p>
          <a:p>
            <a:pPr marL="0" lvl="0" indent="0" algn="l" rtl="0">
              <a:spcBef>
                <a:spcPts val="0"/>
              </a:spcBef>
              <a:spcAft>
                <a:spcPts val="0"/>
              </a:spcAft>
              <a:buNone/>
            </a:pPr>
            <a:endParaRPr lang="en-GB"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if features have different scales, training becomes slow or unstable.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Because gradient descent updates are influenced by feature magnitudes. If one feature is 0–1 and another is 0–1,000,000, the big one dominates updates.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“Scaling makes all features ‘speak the same volume’, so gradient descent can move smoothly.”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847" name="Google Shape;847;p4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55" name="Google Shape;855;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fontAlgn="t"/>
                <a:r>
                  <a:rPr lang="en-US" sz="1100" b="0" i="0" u="none" strike="noStrike" cap="none" dirty="0">
                    <a:solidFill>
                      <a:srgbClr val="000000"/>
                    </a:solidFill>
                    <a:effectLst/>
                    <a:latin typeface="Arial"/>
                    <a:ea typeface="Arial"/>
                    <a:cs typeface="Arial"/>
                    <a:sym typeface="Arial"/>
                  </a:rPr>
                  <a:t>Likely causes:</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Numerical overflow (feature scales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14:m>
                  <m:oMath xmlns:m="http://schemas.openxmlformats.org/officeDocument/2006/math">
                    <m:r>
                      <a:rPr lang="en-US" sz="1100" b="0" i="1" u="none" strike="noStrike" cap="none">
                        <a:solidFill>
                          <a:srgbClr val="000000"/>
                        </a:solidFill>
                        <a:latin typeface="Arial"/>
                        <a:ea typeface="Arial"/>
                        <a:cs typeface="Arial"/>
                        <a:sym typeface="Arial"/>
                      </a:rPr>
                      <m:t>𝜂</m:t>
                    </m:r>
                  </m:oMath>
                </a14:m>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Scale features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usually means the math blew up — most often because steps were too big or numbers were too large.”</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B: Training works but test error high</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Overfitting (too many features relative to data)</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Regularization, more data, or simpler model</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“Low training error + high test error = memorization, not learning.”</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C: Loss oscillating</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14:m>
                  <m:oMath xmlns:m="http://schemas.openxmlformats.org/officeDocument/2006/math">
                    <m:r>
                      <a:rPr lang="en-US" sz="1100" b="0" i="1" u="none" strike="noStrike" cap="none">
                        <a:solidFill>
                          <a:srgbClr val="000000"/>
                        </a:solidFill>
                        <a:latin typeface="Arial"/>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or use learning rate decay</a:t>
                </a:r>
              </a:p>
              <a:p>
                <a:pPr fontAlgn="t"/>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“Oscillation means we keep jumping across the minimum.”</a:t>
                </a:r>
              </a:p>
              <a:p>
                <a:pPr marL="0" lvl="0" indent="0" algn="l" rtl="0">
                  <a:spcBef>
                    <a:spcPts val="0"/>
                  </a:spcBef>
                  <a:spcAft>
                    <a:spcPts val="0"/>
                  </a:spcAft>
                  <a:buNone/>
                </a:pPr>
                <a:endParaRPr lang="en-GB" dirty="0"/>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D: Loss not decreasing</a:t>
                </a:r>
              </a:p>
              <a:p>
                <a:pPr fontAlgn="t"/>
                <a:r>
                  <a:rPr lang="en-US" sz="1100" b="0" i="0" u="none" strike="noStrike" cap="none" dirty="0">
                    <a:solidFill>
                      <a:srgbClr val="000000"/>
                    </a:solidFill>
                    <a:effectLst/>
                    <a:latin typeface="Arial"/>
                    <a:ea typeface="Arial"/>
                    <a:cs typeface="Arial"/>
                    <a:sym typeface="Arial"/>
                  </a:rPr>
                  <a:t>Causes:</a:t>
                </a:r>
              </a:p>
              <a:p>
                <a:pPr fontAlgn="t"/>
                <a:r>
                  <a:rPr lang="en-US" sz="1100" b="0" i="0" u="none" strike="noStrike" cap="none" dirty="0">
                    <a:solidFill>
                      <a:srgbClr val="000000"/>
                    </a:solidFill>
                    <a:effectLst/>
                    <a:latin typeface="Arial"/>
                    <a:ea typeface="Arial"/>
                    <a:cs typeface="Arial"/>
                    <a:sym typeface="Arial"/>
                  </a:rPr>
                  <a:t>Learning rate too small</a:t>
                </a:r>
              </a:p>
              <a:p>
                <a:pPr fontAlgn="t"/>
                <a:r>
                  <a:rPr lang="en-US" sz="1100" b="0" i="0" u="none" strike="noStrike" cap="none" dirty="0">
                    <a:solidFill>
                      <a:srgbClr val="000000"/>
                    </a:solidFill>
                    <a:effectLst/>
                    <a:latin typeface="Arial"/>
                    <a:ea typeface="Arial"/>
                    <a:cs typeface="Arial"/>
                    <a:sym typeface="Arial"/>
                  </a:rPr>
                  <a:t>Bug in gradient computation (check signs!)</a:t>
                </a:r>
              </a:p>
              <a:p>
                <a:pPr fontAlgn="t"/>
                <a:r>
                  <a:rPr lang="en-US" sz="1100" b="0" i="0" u="none" strike="noStrike" cap="none" dirty="0">
                    <a:solidFill>
                      <a:srgbClr val="000000"/>
                    </a:solidFill>
                    <a:effectLst/>
                    <a:latin typeface="Arial"/>
                    <a:ea typeface="Arial"/>
                    <a:cs typeface="Arial"/>
                    <a:sym typeface="Arial"/>
                  </a:rPr>
                  <a:t>Wrong sign in update rule (should be minus)</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Increase </a:t>
                </a:r>
                <a14:m>
                  <m:oMath xmlns:m="http://schemas.openxmlformats.org/officeDocument/2006/math">
                    <m:r>
                      <a:rPr lang="en-US" sz="1100" b="0" i="1" u="none" strike="noStrike" cap="none">
                        <a:solidFill>
                          <a:srgbClr val="000000"/>
                        </a:solidFill>
                        <a:latin typeface="Arial"/>
                        <a:ea typeface="Arial"/>
                        <a:cs typeface="Arial"/>
                        <a:sym typeface="Arial"/>
                      </a:rPr>
                      <m:t>𝜂</m:t>
                    </m:r>
                  </m:oMath>
                </a14:m>
                <a:r>
                  <a:rPr lang="en-US" sz="1100" b="0" i="0" u="none" strike="noStrike" cap="none" dirty="0">
                    <a:solidFill>
                      <a:srgbClr val="000000"/>
                    </a:solidFill>
                    <a:effectLst/>
                    <a:latin typeface="Arial"/>
                    <a:ea typeface="Arial"/>
                    <a:cs typeface="Arial"/>
                    <a:sym typeface="Arial"/>
                  </a:rPr>
                  <a:t>, verify code</a:t>
                </a:r>
              </a:p>
              <a:p>
                <a:pPr fontAlgn="t"/>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“If loss doesn’t go down at all, either we’re moving too slowly… or we’re moving in the wrong direction.”</a:t>
                </a:r>
              </a:p>
              <a:p>
                <a:pPr marL="0" lvl="0" indent="0" algn="l" rtl="0">
                  <a:spcBef>
                    <a:spcPts val="0"/>
                  </a:spcBef>
                  <a:spcAft>
                    <a:spcPts val="0"/>
                  </a:spcAft>
                  <a:buNone/>
                </a:pPr>
                <a:endParaRPr dirty="0"/>
              </a:p>
            </p:txBody>
          </p:sp>
        </mc:Choice>
        <mc:Fallback>
          <p:sp>
            <p:nvSpPr>
              <p:cNvPr id="855" name="Google Shape;855;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fontAlgn="t"/>
                <a:r>
                  <a:rPr lang="en-US" sz="1100" b="0" i="0" u="none" strike="noStrike" cap="none" dirty="0">
                    <a:solidFill>
                      <a:srgbClr val="000000"/>
                    </a:solidFill>
                    <a:effectLst/>
                    <a:latin typeface="Arial"/>
                    <a:ea typeface="Arial"/>
                    <a:cs typeface="Arial"/>
                    <a:sym typeface="Arial"/>
                  </a:rPr>
                  <a:t>Likely causes:</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Numerical overflow (feature scales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r>
                  <a:rPr lang="en-US" sz="1100" b="0" i="0" u="none" strike="noStrike" cap="none">
                    <a:solidFill>
                      <a:srgbClr val="000000"/>
                    </a:solidFill>
                    <a:latin typeface="Arial"/>
                    <a:ea typeface="Arial"/>
                    <a:cs typeface="Arial"/>
                    <a:sym typeface="Arial"/>
                  </a:rPr>
                  <a:t>𝜂</a:t>
                </a:r>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Scale features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NaN</a:t>
                </a:r>
                <a:r>
                  <a:rPr lang="en-US" sz="1100" b="0" i="0" u="none" strike="noStrike" cap="none" dirty="0">
                    <a:solidFill>
                      <a:srgbClr val="000000"/>
                    </a:solidFill>
                    <a:effectLst/>
                    <a:latin typeface="Arial"/>
                    <a:ea typeface="Arial"/>
                    <a:cs typeface="Arial"/>
                    <a:sym typeface="Arial"/>
                  </a:rPr>
                  <a:t> usually means the math blew up — most often because steps were too big or numbers were too large.”</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B: Training works but test error high</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Overfitting (too many features relative to data)</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Regularization, more data, or simpler model</a:t>
                </a:r>
              </a:p>
              <a:p>
                <a:pPr marL="158750" indent="0" fontAlgn="t">
                  <a:buNone/>
                </a:pP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“Low training error + high test error = memorization, not learning.”</a:t>
                </a:r>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C: Loss oscillating</a:t>
                </a:r>
              </a:p>
              <a:p>
                <a:pPr fontAlgn="t"/>
                <a:r>
                  <a:rPr lang="en-US" sz="1100" b="0" i="0" u="none" strike="noStrike" cap="none" dirty="0">
                    <a:solidFill>
                      <a:srgbClr val="000000"/>
                    </a:solidFill>
                    <a:effectLst/>
                    <a:latin typeface="Arial"/>
                    <a:ea typeface="Arial"/>
                    <a:cs typeface="Arial"/>
                    <a:sym typeface="Arial"/>
                  </a:rPr>
                  <a:t>Cause:</a:t>
                </a:r>
              </a:p>
              <a:p>
                <a:pPr fontAlgn="t"/>
                <a:r>
                  <a:rPr lang="en-US" sz="1100" b="0" i="0" u="none" strike="noStrike" cap="none" dirty="0">
                    <a:solidFill>
                      <a:srgbClr val="000000"/>
                    </a:solidFill>
                    <a:effectLst/>
                    <a:latin typeface="Arial"/>
                    <a:ea typeface="Arial"/>
                    <a:cs typeface="Arial"/>
                    <a:sym typeface="Arial"/>
                  </a:rPr>
                  <a:t>Learning rate too large</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Decrease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or use learning rate decay</a:t>
                </a:r>
              </a:p>
              <a:p>
                <a:pPr fontAlgn="t"/>
                <a:endParaRPr lang="en-US" sz="1100" b="0" i="0" u="none" strike="noStrike" cap="none" dirty="0">
                  <a:solidFill>
                    <a:srgbClr val="000000"/>
                  </a:solidFill>
                  <a:effectLst/>
                  <a:latin typeface="Arial"/>
                  <a:ea typeface="Arial"/>
                  <a:cs typeface="Arial"/>
                  <a:sym typeface="Arial"/>
                </a:endParaRPr>
              </a:p>
              <a:p>
                <a:pPr fontAlgn="t"/>
                <a:r>
                  <a:rPr lang="en-US" sz="1100" b="0" i="0" u="none" strike="noStrike" cap="none" dirty="0">
                    <a:solidFill>
                      <a:srgbClr val="000000"/>
                    </a:solidFill>
                    <a:effectLst/>
                    <a:latin typeface="Arial"/>
                    <a:ea typeface="Arial"/>
                    <a:cs typeface="Arial"/>
                    <a:sym typeface="Arial"/>
                  </a:rPr>
                  <a:t>“Oscillation means we keep jumping across the minimum.”</a:t>
                </a:r>
              </a:p>
              <a:p>
                <a:pPr marL="0" lvl="0" indent="0" algn="l" rtl="0">
                  <a:spcBef>
                    <a:spcPts val="0"/>
                  </a:spcBef>
                  <a:spcAft>
                    <a:spcPts val="0"/>
                  </a:spcAft>
                  <a:buNone/>
                </a:pPr>
                <a:endParaRPr lang="en-GB" dirty="0"/>
              </a:p>
              <a:p>
                <a:pPr marL="0" lvl="0" indent="0" algn="l" rtl="0">
                  <a:spcBef>
                    <a:spcPts val="0"/>
                  </a:spcBef>
                  <a:spcAft>
                    <a:spcPts val="0"/>
                  </a:spcAft>
                  <a:buNone/>
                </a:pPr>
                <a:endParaRPr lang="en-US" dirty="0"/>
              </a:p>
              <a:p>
                <a:pPr fontAlgn="t"/>
                <a:r>
                  <a:rPr lang="en-US" sz="1100" b="1" i="0" u="none" strike="noStrike" cap="none" dirty="0">
                    <a:solidFill>
                      <a:srgbClr val="000000"/>
                    </a:solidFill>
                    <a:effectLst/>
                    <a:latin typeface="Arial"/>
                    <a:ea typeface="Arial"/>
                    <a:cs typeface="Arial"/>
                    <a:sym typeface="Arial"/>
                  </a:rPr>
                  <a:t>Symptom D: Loss not decreasing</a:t>
                </a:r>
              </a:p>
              <a:p>
                <a:pPr fontAlgn="t"/>
                <a:r>
                  <a:rPr lang="en-US" sz="1100" b="0" i="0" u="none" strike="noStrike" cap="none" dirty="0">
                    <a:solidFill>
                      <a:srgbClr val="000000"/>
                    </a:solidFill>
                    <a:effectLst/>
                    <a:latin typeface="Arial"/>
                    <a:ea typeface="Arial"/>
                    <a:cs typeface="Arial"/>
                    <a:sym typeface="Arial"/>
                  </a:rPr>
                  <a:t>Causes:</a:t>
                </a:r>
              </a:p>
              <a:p>
                <a:pPr fontAlgn="t"/>
                <a:r>
                  <a:rPr lang="en-US" sz="1100" b="0" i="0" u="none" strike="noStrike" cap="none" dirty="0">
                    <a:solidFill>
                      <a:srgbClr val="000000"/>
                    </a:solidFill>
                    <a:effectLst/>
                    <a:latin typeface="Arial"/>
                    <a:ea typeface="Arial"/>
                    <a:cs typeface="Arial"/>
                    <a:sym typeface="Arial"/>
                  </a:rPr>
                  <a:t>Learning rate too small</a:t>
                </a:r>
              </a:p>
              <a:p>
                <a:pPr fontAlgn="t"/>
                <a:r>
                  <a:rPr lang="en-US" sz="1100" b="0" i="0" u="none" strike="noStrike" cap="none" dirty="0">
                    <a:solidFill>
                      <a:srgbClr val="000000"/>
                    </a:solidFill>
                    <a:effectLst/>
                    <a:latin typeface="Arial"/>
                    <a:ea typeface="Arial"/>
                    <a:cs typeface="Arial"/>
                    <a:sym typeface="Arial"/>
                  </a:rPr>
                  <a:t>Bug in gradient computation (check signs!)</a:t>
                </a:r>
              </a:p>
              <a:p>
                <a:pPr fontAlgn="t"/>
                <a:r>
                  <a:rPr lang="en-US" sz="1100" b="0" i="0" u="none" strike="noStrike" cap="none" dirty="0">
                    <a:solidFill>
                      <a:srgbClr val="000000"/>
                    </a:solidFill>
                    <a:effectLst/>
                    <a:latin typeface="Arial"/>
                    <a:ea typeface="Arial"/>
                    <a:cs typeface="Arial"/>
                    <a:sym typeface="Arial"/>
                  </a:rPr>
                  <a:t>Wrong sign in update rule (should be minus)</a:t>
                </a:r>
              </a:p>
              <a:p>
                <a:pPr fontAlgn="t"/>
                <a:r>
                  <a:rPr lang="en-US" sz="1100" b="0" i="0" u="none" strike="noStrike" cap="none" dirty="0">
                    <a:solidFill>
                      <a:srgbClr val="000000"/>
                    </a:solidFill>
                    <a:effectLst/>
                    <a:latin typeface="Arial"/>
                    <a:ea typeface="Arial"/>
                    <a:cs typeface="Arial"/>
                    <a:sym typeface="Arial"/>
                  </a:rPr>
                  <a:t>Fix:</a:t>
                </a:r>
              </a:p>
              <a:p>
                <a:pPr fontAlgn="t"/>
                <a:r>
                  <a:rPr lang="en-US" sz="1100" b="0" i="0" u="none" strike="noStrike" cap="none" dirty="0">
                    <a:solidFill>
                      <a:srgbClr val="000000"/>
                    </a:solidFill>
                    <a:effectLst/>
                    <a:latin typeface="Arial"/>
                    <a:ea typeface="Arial"/>
                    <a:cs typeface="Arial"/>
                    <a:sym typeface="Arial"/>
                  </a:rPr>
                  <a:t>Increase </a:t>
                </a:r>
                <a:r>
                  <a:rPr lang="en-US" sz="1100" b="0" i="0" u="none" strike="noStrike" cap="none">
                    <a:solidFill>
                      <a:srgbClr val="000000"/>
                    </a:solidFill>
                    <a:latin typeface="Arial"/>
                    <a:ea typeface="Arial"/>
                    <a:cs typeface="Arial"/>
                    <a:sym typeface="Arial"/>
                  </a:rPr>
                  <a:t>𝜂</a:t>
                </a:r>
                <a:r>
                  <a:rPr lang="en-US" sz="1100" b="0" i="0" u="none" strike="noStrike" cap="none" dirty="0">
                    <a:solidFill>
                      <a:srgbClr val="000000"/>
                    </a:solidFill>
                    <a:effectLst/>
                    <a:latin typeface="Arial"/>
                    <a:ea typeface="Arial"/>
                    <a:cs typeface="Arial"/>
                    <a:sym typeface="Arial"/>
                  </a:rPr>
                  <a:t>, verify code</a:t>
                </a:r>
              </a:p>
              <a:p>
                <a:pPr fontAlgn="t"/>
                <a:endParaRPr lang="en-US" sz="1100" b="0" i="0" u="none" strike="noStrike" cap="none" dirty="0">
                  <a:solidFill>
                    <a:srgbClr val="000000"/>
                  </a:solidFill>
                  <a:effectLst/>
                  <a:latin typeface="Arial"/>
                  <a:ea typeface="Arial"/>
                  <a:cs typeface="Arial"/>
                  <a:sym typeface="Arial"/>
                </a:endParaRPr>
              </a:p>
              <a:p>
                <a:pPr marL="158750" indent="0" fontAlgn="t">
                  <a:buNone/>
                </a:pPr>
                <a:r>
                  <a:rPr lang="en-US" sz="1100" b="0" i="0" u="none" strike="noStrike" cap="none" dirty="0">
                    <a:solidFill>
                      <a:srgbClr val="000000"/>
                    </a:solidFill>
                    <a:effectLst/>
                    <a:latin typeface="Arial"/>
                    <a:ea typeface="Arial"/>
                    <a:cs typeface="Arial"/>
                    <a:sym typeface="Arial"/>
                  </a:rPr>
                  <a:t>“If loss doesn’t go down at all, either we’re moving too slowly… or we’re moving in the wrong direction.”</a:t>
                </a:r>
              </a:p>
              <a:p>
                <a:pPr marL="0" lvl="0" indent="0" algn="l" rtl="0">
                  <a:spcBef>
                    <a:spcPts val="0"/>
                  </a:spcBef>
                  <a:spcAft>
                    <a:spcPts val="0"/>
                  </a:spcAft>
                  <a:buNone/>
                </a:pPr>
                <a:endParaRPr dirty="0"/>
              </a:p>
            </p:txBody>
          </p:sp>
        </mc:Fallback>
      </mc:AlternateContent>
      <p:sp>
        <p:nvSpPr>
          <p:cNvPr id="856" name="Google Shape;856;p4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p4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𝐷</m:t>
                    </m:r>
                    <m:r>
                      <a:rPr lang="en-IN" sz="1100" b="0" i="0" u="none" strike="noStrike" cap="none">
                        <a:solidFill>
                          <a:srgbClr val="000000"/>
                        </a:solidFill>
                        <a:latin typeface="Cambria Math" panose="02040503050406030204" pitchFamily="18" charset="0"/>
                        <a:ea typeface="Arial"/>
                        <a:cs typeface="Arial"/>
                        <a:sym typeface="Arial"/>
                      </a:rPr>
                      <m:t>=</m:t>
                    </m:r>
                    <m:d>
                      <m:dPr>
                        <m:begChr m:val="{"/>
                        <m:endChr m:val="}"/>
                        <m:ctrlPr>
                          <a:rPr lang="ar-AE" sz="1100" b="0" i="1" u="none" strike="noStrike" cap="none">
                            <a:solidFill>
                              <a:srgbClr val="000000"/>
                            </a:solidFill>
                            <a:latin typeface="Cambria Math" panose="02040503050406030204" pitchFamily="18" charset="0"/>
                            <a:ea typeface="Arial"/>
                            <a:cs typeface="Arial"/>
                            <a:sym typeface="Arial"/>
                          </a:rPr>
                        </m:ctrlPr>
                      </m:dPr>
                      <m:e>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e>
                    </m:d>
                  </m:oMath>
                </a14:m>
                <a:r>
                  <a:rPr lang="en-US" dirty="0">
                    <a:effectLst/>
                  </a:rPr>
                  <a:t> </a:t>
                </a:r>
                <a:r>
                  <a:rPr lang="en-IN" dirty="0"/>
                  <a:t>consisting of input-output pairs. The model's weight vector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𝑤</m:t>
                    </m:r>
                  </m:oMath>
                </a14:m>
                <a:r>
                  <a:rPr lang="en-IN" dirty="0"/>
                  <a:t> is initialized, often to zero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0" u="none" strike="noStrike" cap="none">
                                <a:solidFill>
                                  <a:srgbClr val="000000"/>
                                </a:solidFill>
                                <a:latin typeface="Cambria Math" panose="02040503050406030204" pitchFamily="18" charset="0"/>
                                <a:ea typeface="Arial"/>
                                <a:cs typeface="Arial"/>
                                <a:sym typeface="Arial"/>
                              </a:rPr>
                              <m:t>0</m:t>
                            </m:r>
                          </m:e>
                        </m:d>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0</m:t>
                    </m:r>
                    <m:r>
                      <a:rPr lang="en-US" sz="1100" b="0" i="0" u="none" strike="noStrike" cap="none" smtClean="0">
                        <a:solidFill>
                          <a:srgbClr val="000000"/>
                        </a:solidFill>
                        <a:latin typeface="Cambria Math" panose="02040503050406030204" pitchFamily="18" charset="0"/>
                        <a:ea typeface="Arial"/>
                        <a:cs typeface="Arial"/>
                        <a:sym typeface="Arial"/>
                      </a:rPr>
                      <m:t> </m:t>
                    </m:r>
                  </m:oMath>
                </a14:m>
                <a:endParaRPr lang="en-US" b="1" dirty="0"/>
              </a:p>
              <a:p>
                <a:r>
                  <a:rPr lang="en-US" b="1" dirty="0"/>
                  <a:t>2. </a:t>
                </a:r>
                <a:r>
                  <a:rPr lang="ar-AE" b="1" dirty="0"/>
                  <a:t> </a:t>
                </a:r>
                <a:r>
                  <a:rPr lang="en-IN" b="1" dirty="0"/>
                  <a:t>Model:</a:t>
                </a:r>
                <a:r>
                  <a:rPr lang="en-IN" dirty="0"/>
                  <a:t> The initialized weights are used in a linear activation function to make a prediction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𝑦</m:t>
                    </m:r>
                  </m:oMath>
                </a14:m>
                <a:r>
                  <a:rPr lang="en-IN" dirty="0"/>
                  <a:t> based on the input features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0" u="none" strike="noStrike" cap="none">
                            <a:solidFill>
                              <a:srgbClr val="000000"/>
                            </a:solidFill>
                            <a:latin typeface="Cambria Math" panose="02040503050406030204" pitchFamily="18" charset="0"/>
                            <a:ea typeface="Arial"/>
                            <a:cs typeface="Arial"/>
                            <a:sym typeface="Arial"/>
                          </a:rPr>
                          <m:t>1</m:t>
                        </m:r>
                      </m:sub>
                    </m:sSub>
                    <m:r>
                      <a:rPr lang="ar-AE" sz="1100" b="0" i="0" u="none" strike="noStrike" cap="none">
                        <a:solidFill>
                          <a:srgbClr val="000000"/>
                        </a:solidFill>
                        <a:latin typeface="Cambria Math" panose="02040503050406030204" pitchFamily="18" charset="0"/>
                        <a:ea typeface="Arial"/>
                        <a:cs typeface="Arial"/>
                        <a:sym typeface="Arial"/>
                      </a:rPr>
                      <m:t>,</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0" u="none" strike="noStrike" cap="none">
                            <a:solidFill>
                              <a:srgbClr val="000000"/>
                            </a:solidFill>
                            <a:latin typeface="Cambria Math" panose="02040503050406030204" pitchFamily="18" charset="0"/>
                            <a:ea typeface="Arial"/>
                            <a:cs typeface="Arial"/>
                            <a:sym typeface="Arial"/>
                          </a:rPr>
                          <m:t>2</m:t>
                        </m:r>
                      </m:sub>
                    </m:sSub>
                    <m:r>
                      <a:rPr lang="ar-AE" sz="1100" b="0" i="0" u="none" strike="noStrike" cap="none">
                        <a:solidFill>
                          <a:srgbClr val="000000"/>
                        </a:solidFill>
                        <a:latin typeface="Cambria Math" panose="02040503050406030204" pitchFamily="18" charset="0"/>
                        <a:ea typeface="Arial"/>
                        <a:cs typeface="Arial"/>
                        <a:sym typeface="Arial"/>
                      </a:rPr>
                      <m:t>,…,</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1" u="none" strike="noStrike" cap="none">
                            <a:solidFill>
                              <a:srgbClr val="000000"/>
                            </a:solidFill>
                            <a:latin typeface="Cambria Math" panose="02040503050406030204" pitchFamily="18" charset="0"/>
                            <a:ea typeface="Arial"/>
                            <a:cs typeface="Arial"/>
                            <a:sym typeface="Arial"/>
                          </a:rPr>
                          <m:t>𝑑</m:t>
                        </m:r>
                      </m:sub>
                    </m:sSub>
                    <m:r>
                      <a:rPr lang="en-US" sz="1100" b="0" i="0" u="none" strike="noStrike" cap="none" smtClean="0">
                        <a:solidFill>
                          <a:srgbClr val="000000"/>
                        </a:solidFill>
                        <a:latin typeface="Cambria Math" panose="02040503050406030204" pitchFamily="18" charset="0"/>
                        <a:ea typeface="Arial"/>
                        <a:cs typeface="Arial"/>
                        <a:sym typeface="Arial"/>
                      </a:rPr>
                      <m:t> </m:t>
                    </m:r>
                  </m:oMath>
                </a14:m>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14:m>
                  <m:oMath xmlns:m="http://schemas.openxmlformats.org/officeDocument/2006/math">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𝜂</m:t>
                    </m:r>
                    <m:r>
                      <m:rPr>
                        <m:sty m:val="p"/>
                      </m:rP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𝐽</m:t>
                    </m:r>
                  </m:oMath>
                </a14:m>
                <a:r>
                  <a:rPr lang="en-IN" dirty="0">
                    <a:effectLst/>
                  </a:rPr>
                  <a:t>)</a:t>
                </a:r>
                <a:r>
                  <a:rPr lang="en-IN" dirty="0"/>
                  <a:t> which indicates the direction of the steepest descent towards the minimum loss, is used to update the current weights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e>
                        </m:d>
                      </m:sup>
                    </m:sSup>
                  </m:oMath>
                </a14:m>
                <a:r>
                  <a:rPr lang="en-US" dirty="0">
                    <a:effectLst/>
                  </a:rPr>
                  <a:t> </a:t>
                </a:r>
                <a:r>
                  <a:rPr lang="en-IN" dirty="0"/>
                  <a:t>to new weights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1</m:t>
                            </m:r>
                          </m:e>
                        </m:d>
                      </m:sup>
                    </m:sSup>
                  </m:oMath>
                </a14:m>
                <a:r>
                  <a:rPr lang="ar-AE" dirty="0"/>
                  <a:t>. </a:t>
                </a:r>
                <a:r>
                  <a:rPr lang="en-IN" dirty="0"/>
                  <a:t>This "iterate" step repeats until the model converges to a minimum loss.</a:t>
                </a:r>
              </a:p>
              <a:p>
                <a:pPr marL="158750" indent="0">
                  <a:buNone/>
                </a:pPr>
                <a:endParaRPr dirty="0"/>
              </a:p>
            </p:txBody>
          </p:sp>
        </mc:Choice>
        <mc:Fallback xmlns="">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r>
                  <a:rPr lang="en-IN" sz="1100" b="0" i="0" u="none" strike="noStrike" cap="none">
                    <a:solidFill>
                      <a:srgbClr val="000000"/>
                    </a:solidFill>
                    <a:latin typeface="Arial"/>
                    <a:ea typeface="Arial"/>
                    <a:cs typeface="Arial"/>
                    <a:sym typeface="Arial"/>
                  </a:rPr>
                  <a:t>𝐷=</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𝑥^((𝑖) )ⓜ,𝑦^((𝑖) ) )}</a:t>
                </a:r>
                <a:r>
                  <a:rPr lang="en-US" dirty="0">
                    <a:effectLst/>
                  </a:rPr>
                  <a:t> </a:t>
                </a:r>
                <a:r>
                  <a:rPr lang="en-IN" dirty="0"/>
                  <a:t>consisting of input-output pairs. The model's weight vector </a:t>
                </a:r>
                <a:r>
                  <a:rPr lang="en-IN" sz="1100" b="0" i="0" u="none" strike="noStrike" cap="none">
                    <a:solidFill>
                      <a:srgbClr val="000000"/>
                    </a:solidFill>
                    <a:latin typeface="Arial"/>
                    <a:ea typeface="Arial"/>
                    <a:cs typeface="Arial"/>
                    <a:sym typeface="Arial"/>
                  </a:rPr>
                  <a:t>𝑤</a:t>
                </a:r>
                <a:r>
                  <a:rPr lang="en-IN" dirty="0"/>
                  <a:t> is initialized, often to zero (</a:t>
                </a:r>
                <a:r>
                  <a:rPr lang="ar-AE" sz="1100" b="0" i="0" u="none" strike="noStrike" cap="none">
                    <a:solidFill>
                      <a:srgbClr val="000000"/>
                    </a:solidFill>
                    <a:latin typeface="Arial"/>
                    <a:ea typeface="Arial"/>
                    <a:cs typeface="Arial"/>
                    <a:sym typeface="Arial"/>
                  </a:rPr>
                  <a:t>𝑤^((0) )=0</a:t>
                </a:r>
                <a:r>
                  <a:rPr lang="en-US" sz="1100" b="0" i="0" u="none" strike="noStrike" cap="none">
                    <a:solidFill>
                      <a:srgbClr val="000000"/>
                    </a:solidFill>
                    <a:latin typeface="Cambria Math" panose="02040503050406030204" pitchFamily="18" charset="0"/>
                    <a:ea typeface="Arial"/>
                    <a:cs typeface="Arial"/>
                    <a:sym typeface="Arial"/>
                  </a:rPr>
                  <a:t> </a:t>
                </a:r>
                <a:endParaRPr lang="en-US" b="1" dirty="0"/>
              </a:p>
              <a:p>
                <a:r>
                  <a:rPr lang="en-US" b="1" dirty="0"/>
                  <a:t>2. </a:t>
                </a:r>
                <a:r>
                  <a:rPr lang="ar-AE" b="1" dirty="0"/>
                  <a:t> </a:t>
                </a:r>
                <a:r>
                  <a:rPr lang="en-IN" b="1" dirty="0"/>
                  <a:t>Model:</a:t>
                </a:r>
                <a:r>
                  <a:rPr lang="en-IN" dirty="0"/>
                  <a:t> The initialized weights are used in a linear activation function to make a prediction </a:t>
                </a:r>
                <a:r>
                  <a:rPr lang="en-IN" sz="1100" b="0" i="0" u="none" strike="noStrike" cap="none">
                    <a:solidFill>
                      <a:srgbClr val="000000"/>
                    </a:solidFill>
                    <a:latin typeface="Arial"/>
                    <a:ea typeface="Arial"/>
                    <a:cs typeface="Arial"/>
                    <a:sym typeface="Arial"/>
                  </a:rPr>
                  <a:t>𝑦</a:t>
                </a:r>
                <a:r>
                  <a:rPr lang="en-IN" dirty="0"/>
                  <a:t> based on the input features </a:t>
                </a:r>
                <a:r>
                  <a:rPr lang="ar-AE" sz="1100" b="0" i="0" u="none" strike="noStrike" cap="none">
                    <a:solidFill>
                      <a:srgbClr val="000000"/>
                    </a:solidFill>
                    <a:latin typeface="Arial"/>
                    <a:ea typeface="Arial"/>
                    <a:cs typeface="Arial"/>
                    <a:sym typeface="Arial"/>
                  </a:rPr>
                  <a:t>𝑥_1,𝑥_2,…,𝑥_𝑑</a:t>
                </a:r>
                <a:r>
                  <a:rPr lang="en-US" sz="1100" b="0" i="0" u="none" strike="noStrike" cap="none">
                    <a:solidFill>
                      <a:srgbClr val="000000"/>
                    </a:solidFill>
                    <a:latin typeface="Cambria Math" panose="02040503050406030204" pitchFamily="18" charset="0"/>
                    <a:ea typeface="Arial"/>
                    <a:cs typeface="Arial"/>
                    <a:sym typeface="Arial"/>
                  </a:rPr>
                  <a:t>  </a:t>
                </a:r>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r>
                  <a:rPr lang="en-IN" sz="1100" b="0" i="0" u="none" strike="noStrike" cap="none">
                    <a:solidFill>
                      <a:srgbClr val="000000"/>
                    </a:solidFill>
                    <a:latin typeface="Arial"/>
                    <a:ea typeface="Arial"/>
                    <a:cs typeface="Arial"/>
                    <a:sym typeface="Arial"/>
                  </a:rPr>
                  <a:t>−𝜂∇𝐽</a:t>
                </a:r>
                <a:r>
                  <a:rPr lang="en-IN" dirty="0">
                    <a:effectLst/>
                  </a:rPr>
                  <a:t>)</a:t>
                </a:r>
                <a:r>
                  <a:rPr lang="en-IN" dirty="0"/>
                  <a:t> which indicates the direction of the steepest descent towards the minimum loss, is used to update the current weights </a:t>
                </a:r>
                <a:r>
                  <a:rPr lang="ar-AE" sz="1100" b="0" i="0" u="none" strike="noStrike" cap="none">
                    <a:solidFill>
                      <a:srgbClr val="000000"/>
                    </a:solidFill>
                    <a:latin typeface="Arial"/>
                    <a:ea typeface="Arial"/>
                    <a:cs typeface="Arial"/>
                    <a:sym typeface="Arial"/>
                  </a:rPr>
                  <a:t>𝑤^((𝑡) )</a:t>
                </a:r>
                <a:r>
                  <a:rPr lang="en-US" dirty="0">
                    <a:effectLst/>
                  </a:rPr>
                  <a:t> </a:t>
                </a:r>
                <a:r>
                  <a:rPr lang="en-IN" dirty="0"/>
                  <a:t>to new weights </a:t>
                </a:r>
                <a:r>
                  <a:rPr lang="ar-AE" sz="1100" b="0" i="0" u="none" strike="noStrike" cap="none">
                    <a:solidFill>
                      <a:srgbClr val="000000"/>
                    </a:solidFill>
                    <a:latin typeface="Arial"/>
                    <a:ea typeface="Arial"/>
                    <a:cs typeface="Arial"/>
                    <a:sym typeface="Arial"/>
                  </a:rPr>
                  <a:t>𝑤^((𝑡+1) )</a:t>
                </a:r>
                <a:r>
                  <a:rPr lang="ar-AE" dirty="0"/>
                  <a:t>. </a:t>
                </a:r>
                <a:r>
                  <a:rPr lang="en-IN" dirty="0"/>
                  <a:t>This "iterate" step repeats until the model converges to a minimum loss.</a:t>
                </a:r>
              </a:p>
              <a:p>
                <a:pPr marL="158750" indent="0">
                  <a:buNone/>
                </a:pPr>
                <a:endParaRPr dirty="0"/>
              </a:p>
            </p:txBody>
          </p:sp>
        </mc:Fallback>
      </mc:AlternateContent>
      <p:sp>
        <p:nvSpPr>
          <p:cNvPr id="898" name="Google Shape;898;p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4" name="Google Shape;964;p4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4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0" name="Google Shape;990;p4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rgbClr val="1B1472"/>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6">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rgbClr val="1B1472"/>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4.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19.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0.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4.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ppt/slides/ppt/slides/slide1.xml" TargetMode="External"/><Relationship Id="rId4" Type="http://schemas.openxmlformats.org/officeDocument/2006/relationships/hyperlink" Target="https://drive.google.com/file/d/1Qs9sAvBcfyr_bCpAKam9hRDXEw-K-ONF/view?usp=sharing"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6.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25.png"/><Relationship Id="rId14" Type="http://schemas.openxmlformats.org/officeDocument/2006/relationships/hyperlink" Target="http://ppt/slides/ppt/slides/slide25.x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20.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32.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hyperlink" Target="http://ppt/slides/ppt/slides/slide1.x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429894" marR="422275"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3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R</a:t>
            </a:r>
            <a:r>
              <a:rPr lang="en-US" sz="1150">
                <a:latin typeface="Cambria"/>
                <a:ea typeface="Cambria"/>
                <a:cs typeface="Cambria"/>
                <a:sym typeface="Cambria"/>
              </a:rPr>
              <a:t>EGRESSION</a:t>
            </a:r>
            <a:endParaRPr sz="1150">
              <a:latin typeface="Cambria"/>
              <a:ea typeface="Cambria"/>
              <a:cs typeface="Cambria"/>
              <a:sym typeface="Cambria"/>
            </a:endParaRPr>
          </a:p>
        </p:txBody>
      </p:sp>
      <p:sp>
        <p:nvSpPr>
          <p:cNvPr id="48" name="Google Shape;48;p7"/>
          <p:cNvSpPr txBox="1"/>
          <p:nvPr/>
        </p:nvSpPr>
        <p:spPr>
          <a:xfrm>
            <a:off x="4132173" y="2325276"/>
            <a:ext cx="1280795" cy="39243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DNN Team</a:t>
            </a:r>
            <a:endParaRPr sz="950">
              <a:latin typeface="Arial"/>
              <a:ea typeface="Arial"/>
              <a:cs typeface="Arial"/>
              <a:sym typeface="Arial"/>
            </a:endParaRPr>
          </a:p>
          <a:p>
            <a:pPr marL="311150" marR="5080" lvl="0" indent="-299085" algn="l" rtl="0">
              <a:lnSpc>
                <a:spcPct val="126699"/>
              </a:lnSpc>
              <a:spcBef>
                <a:spcPts val="90"/>
              </a:spcBef>
              <a:spcAft>
                <a:spcPts val="0"/>
              </a:spcAft>
              <a:buNone/>
            </a:pPr>
            <a:r>
              <a:rPr lang="en-US" sz="950">
                <a:solidFill>
                  <a:srgbClr val="1B1472"/>
                </a:solidFill>
                <a:latin typeface="Arial"/>
                <a:ea typeface="Arial"/>
                <a:cs typeface="Arial"/>
                <a:sym typeface="Arial"/>
              </a:rPr>
              <a:t>BITS Pilani WILP</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4" name="Google Shape;54;p8"/>
          <p:cNvGrpSpPr/>
          <p:nvPr/>
        </p:nvGrpSpPr>
        <p:grpSpPr>
          <a:xfrm>
            <a:off x="0" y="3141936"/>
            <a:ext cx="5760261" cy="92075"/>
            <a:chOff x="0" y="3141936"/>
            <a:chExt cx="5760261" cy="92075"/>
          </a:xfrm>
        </p:grpSpPr>
        <p:sp>
          <p:nvSpPr>
            <p:cNvPr id="55" name="Google Shape;55;p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 name="Google Shape;56;p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 name="Google Shape;59;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 name="Google Shape;60;p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2/ 46</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6" name="Google Shape;66;p9"/>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7" name="Google Shape;67;p9"/>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1</a:t>
            </a:r>
            <a:endParaRPr sz="800">
              <a:latin typeface="Calibri"/>
              <a:ea typeface="Calibri"/>
              <a:cs typeface="Calibri"/>
              <a:sym typeface="Calibri"/>
            </a:endParaRPr>
          </a:p>
        </p:txBody>
      </p:sp>
      <p:pic>
        <p:nvPicPr>
          <p:cNvPr id="68" name="Google Shape;68;p9"/>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69" name="Google Shape;69;p9"/>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 name="Google Shape;70;p9"/>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1" name="Google Shape;71;p9"/>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2" name="Google Shape;72;p9"/>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3" name="Google Shape;73;p9"/>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4" name="Google Shape;74;p9"/>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5" name="Google Shape;75;p9"/>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6" name="Google Shape;76;p9"/>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 name="Google Shape;77;p9"/>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8" name="Google Shape;78;p9"/>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9" name="Google Shape;79;p9"/>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0" name="Google Shape;80;p9"/>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1" name="Google Shape;81;p9"/>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 name="Google Shape;82;p9"/>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3" name="Google Shape;83;p9"/>
          <p:cNvGrpSpPr/>
          <p:nvPr/>
        </p:nvGrpSpPr>
        <p:grpSpPr>
          <a:xfrm>
            <a:off x="0" y="3109250"/>
            <a:ext cx="5760261" cy="92075"/>
            <a:chOff x="0" y="3109250"/>
            <a:chExt cx="5760261" cy="92075"/>
          </a:xfrm>
        </p:grpSpPr>
        <p:sp>
          <p:nvSpPr>
            <p:cNvPr id="84" name="Google Shape;84;p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5" name="Google Shape;85;p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 name="Google Shape;86;p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7" name="Google Shape;87;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8" name="Google Shape;88;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 name="Google Shape;89;p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3</a:t>
            </a:fld>
            <a:r>
              <a:rPr lang="en-US"/>
              <a:t>/ 46</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529" name="Google Shape;529;p31"/>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530" name="Google Shape;530;p31"/>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531" name="Google Shape;531;p31"/>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532" name="Google Shape;532;p31"/>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533" name="Google Shape;533;p31"/>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534" name="Google Shape;534;p31"/>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535" name="Google Shape;535;p31"/>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536" name="Google Shape;536;p31"/>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4</a:t>
            </a:r>
            <a:endParaRPr sz="800">
              <a:latin typeface="Calibri"/>
              <a:ea typeface="Calibri"/>
              <a:cs typeface="Calibri"/>
              <a:sym typeface="Calibri"/>
            </a:endParaRPr>
          </a:p>
        </p:txBody>
      </p:sp>
      <p:pic>
        <p:nvPicPr>
          <p:cNvPr id="537" name="Google Shape;537;p31"/>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538" name="Google Shape;538;p31"/>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539" name="Google Shape;539;p31"/>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540" name="Google Shape;540;p31"/>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541" name="Google Shape;541;p31"/>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542" name="Google Shape;542;p31"/>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543" name="Google Shape;543;p31"/>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544" name="Google Shape;544;p31"/>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545" name="Google Shape;545;p31"/>
          <p:cNvSpPr txBox="1"/>
          <p:nvPr/>
        </p:nvSpPr>
        <p:spPr>
          <a:xfrm>
            <a:off x="563029" y="58789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546" name="Google Shape;546;p31"/>
          <p:cNvGrpSpPr/>
          <p:nvPr/>
        </p:nvGrpSpPr>
        <p:grpSpPr>
          <a:xfrm>
            <a:off x="0" y="3141936"/>
            <a:ext cx="5760261" cy="92075"/>
            <a:chOff x="0" y="3141936"/>
            <a:chExt cx="5760261" cy="92075"/>
          </a:xfrm>
        </p:grpSpPr>
        <p:sp>
          <p:nvSpPr>
            <p:cNvPr id="547" name="Google Shape;547;p3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8" name="Google Shape;548;p3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9" name="Google Shape;549;p3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0" name="Google Shape;550;p3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51" name="Google Shape;551;p3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552" name="Google Shape;552;p3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a:t>
            </a:fld>
            <a:r>
              <a:rPr lang="en-US"/>
              <a:t> / 46</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3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grpSp>
        <p:nvGrpSpPr>
          <p:cNvPr id="558" name="Google Shape;558;p32"/>
          <p:cNvGrpSpPr/>
          <p:nvPr/>
        </p:nvGrpSpPr>
        <p:grpSpPr>
          <a:xfrm>
            <a:off x="0" y="3141936"/>
            <a:ext cx="5760261" cy="92075"/>
            <a:chOff x="0" y="3141936"/>
            <a:chExt cx="5760261" cy="92075"/>
          </a:xfrm>
        </p:grpSpPr>
        <p:sp>
          <p:nvSpPr>
            <p:cNvPr id="559" name="Google Shape;559;p3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0" name="Google Shape;560;p3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1" name="Google Shape;561;p3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62" name="Google Shape;562;p3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63" name="Google Shape;563;p3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64" name="Google Shape;564;p3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a:t>
            </a:fld>
            <a:r>
              <a:rPr lang="en-US"/>
              <a:t> / 46</a:t>
            </a:r>
            <a:endParaRPr/>
          </a:p>
        </p:txBody>
      </p:sp>
      <p:pic>
        <p:nvPicPr>
          <p:cNvPr id="565" name="Google Shape;565;p32"/>
          <p:cNvPicPr preferRelativeResize="0"/>
          <p:nvPr/>
        </p:nvPicPr>
        <p:blipFill>
          <a:blip r:embed="rId4">
            <a:alphaModFix/>
          </a:blip>
          <a:stretch>
            <a:fillRect/>
          </a:stretch>
        </p:blipFill>
        <p:spPr>
          <a:xfrm>
            <a:off x="152400" y="559200"/>
            <a:ext cx="5461002" cy="2429186"/>
          </a:xfrm>
          <a:prstGeom prst="rect">
            <a:avLst/>
          </a:prstGeom>
          <a:noFill/>
          <a:ln>
            <a:noFill/>
          </a:ln>
        </p:spPr>
      </p:pic>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I</a:t>
            </a:r>
            <a:r>
              <a:rPr lang="en-US" cap="small">
                <a:solidFill>
                  <a:srgbClr val="FFFFFF"/>
                </a:solidFill>
              </a:rPr>
              <a:t>nitialization</a:t>
            </a:r>
            <a:endParaRPr/>
          </a:p>
        </p:txBody>
      </p:sp>
      <p:grpSp>
        <p:nvGrpSpPr>
          <p:cNvPr id="571" name="Google Shape;571;p33"/>
          <p:cNvGrpSpPr/>
          <p:nvPr/>
        </p:nvGrpSpPr>
        <p:grpSpPr>
          <a:xfrm>
            <a:off x="0" y="3109250"/>
            <a:ext cx="5760261" cy="92075"/>
            <a:chOff x="0" y="3109250"/>
            <a:chExt cx="5760261" cy="92075"/>
          </a:xfrm>
        </p:grpSpPr>
        <p:sp>
          <p:nvSpPr>
            <p:cNvPr id="572" name="Google Shape;572;p3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3" name="Google Shape;573;p3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4" name="Google Shape;574;p3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5" name="Google Shape;575;p3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76" name="Google Shape;576;p3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77" name="Google Shape;577;p3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a:t>
            </a:fld>
            <a:r>
              <a:rPr lang="en-US"/>
              <a:t> / 46</a:t>
            </a:r>
            <a:endParaRPr/>
          </a:p>
        </p:txBody>
      </p:sp>
      <p:pic>
        <p:nvPicPr>
          <p:cNvPr id="578" name="Google Shape;578;p33"/>
          <p:cNvPicPr preferRelativeResize="0"/>
          <p:nvPr/>
        </p:nvPicPr>
        <p:blipFill>
          <a:blip r:embed="rId4">
            <a:alphaModFix/>
          </a:blip>
          <a:stretch>
            <a:fillRect/>
          </a:stretch>
        </p:blipFill>
        <p:spPr>
          <a:xfrm>
            <a:off x="152400" y="550235"/>
            <a:ext cx="5150208" cy="2406616"/>
          </a:xfrm>
          <a:prstGeom prst="rect">
            <a:avLst/>
          </a:prstGeom>
          <a:noFill/>
          <a:ln>
            <a:noFill/>
          </a:ln>
        </p:spPr>
      </p:pic>
      <p:sp>
        <p:nvSpPr>
          <p:cNvPr id="4" name="TextBox 3">
            <a:extLst>
              <a:ext uri="{FF2B5EF4-FFF2-40B4-BE49-F238E27FC236}">
                <a16:creationId xmlns:a16="http://schemas.microsoft.com/office/drawing/2014/main" id="{A16F4CBC-DCAF-9325-68A2-79A41B91A1F7}"/>
              </a:ext>
            </a:extLst>
          </p:cNvPr>
          <p:cNvSpPr txBox="1"/>
          <p:nvPr/>
        </p:nvSpPr>
        <p:spPr>
          <a:xfrm>
            <a:off x="6291" y="2793259"/>
            <a:ext cx="5607109" cy="284693"/>
          </a:xfrm>
          <a:prstGeom prst="rect">
            <a:avLst/>
          </a:prstGeom>
          <a:noFill/>
        </p:spPr>
        <p:txBody>
          <a:bodyPr wrap="square">
            <a:spAutoFit/>
          </a:bodyPr>
          <a:lstStyle/>
          <a:p>
            <a:pPr fontAlgn="t">
              <a:lnSpc>
                <a:spcPts val="1500"/>
              </a:lnSpc>
              <a:buNone/>
            </a:pPr>
            <a:r>
              <a:rPr lang="en-US" sz="1100" b="0" i="0" dirty="0">
                <a:effectLst/>
                <a:latin typeface="Segoe UI" panose="020B0502040204020203" pitchFamily="34" charset="0"/>
              </a:rPr>
              <a:t>Because we predicted 0 for everything, our error is large, so loss is 7.5</a:t>
            </a: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3F5A42-3E51-3DC9-DE96-4F91093ED5B2}"/>
              </a:ext>
            </a:extLst>
          </p:cNvPr>
          <p:cNvPicPr>
            <a:picLocks noChangeAspect="1"/>
          </p:cNvPicPr>
          <p:nvPr/>
        </p:nvPicPr>
        <p:blipFill>
          <a:blip r:embed="rId2"/>
          <a:stretch>
            <a:fillRect/>
          </a:stretch>
        </p:blipFill>
        <p:spPr>
          <a:xfrm>
            <a:off x="281068" y="675864"/>
            <a:ext cx="3792167" cy="1873458"/>
          </a:xfrm>
          <a:prstGeom prst="rect">
            <a:avLst/>
          </a:prstGeom>
        </p:spPr>
      </p:pic>
    </p:spTree>
    <p:extLst>
      <p:ext uri="{BB962C8B-B14F-4D97-AF65-F5344CB8AC3E}">
        <p14:creationId xmlns:p14="http://schemas.microsoft.com/office/powerpoint/2010/main" val="427878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C</a:t>
            </a:r>
            <a:r>
              <a:rPr lang="en-US" cap="small">
                <a:solidFill>
                  <a:srgbClr val="FFFFFF"/>
                </a:solidFill>
              </a:rPr>
              <a:t>omputing</a:t>
            </a:r>
            <a:r>
              <a:rPr lang="en-US">
                <a:solidFill>
                  <a:srgbClr val="FFFFFF"/>
                </a:solidFill>
              </a:rPr>
              <a:t> G</a:t>
            </a:r>
            <a:r>
              <a:rPr lang="en-US" cap="small">
                <a:solidFill>
                  <a:srgbClr val="FFFFFF"/>
                </a:solidFill>
              </a:rPr>
              <a:t>radient</a:t>
            </a:r>
            <a:endParaRPr/>
          </a:p>
        </p:txBody>
      </p:sp>
      <p:grpSp>
        <p:nvGrpSpPr>
          <p:cNvPr id="584" name="Google Shape;584;p34"/>
          <p:cNvGrpSpPr/>
          <p:nvPr/>
        </p:nvGrpSpPr>
        <p:grpSpPr>
          <a:xfrm>
            <a:off x="0" y="3141936"/>
            <a:ext cx="5760261" cy="92075"/>
            <a:chOff x="0" y="3141936"/>
            <a:chExt cx="5760261" cy="92075"/>
          </a:xfrm>
        </p:grpSpPr>
        <p:sp>
          <p:nvSpPr>
            <p:cNvPr id="585" name="Google Shape;585;p3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6" name="Google Shape;586;p3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7" name="Google Shape;587;p3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8" name="Google Shape;588;p3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89" name="Google Shape;589;p3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90" name="Google Shape;590;p3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a:t>
            </a:fld>
            <a:r>
              <a:rPr lang="en-US"/>
              <a:t> / 46</a:t>
            </a:r>
            <a:endParaRPr/>
          </a:p>
        </p:txBody>
      </p:sp>
      <p:pic>
        <p:nvPicPr>
          <p:cNvPr id="591" name="Google Shape;591;p34"/>
          <p:cNvPicPr preferRelativeResize="0"/>
          <p:nvPr/>
        </p:nvPicPr>
        <p:blipFill>
          <a:blip r:embed="rId4">
            <a:alphaModFix/>
          </a:blip>
          <a:stretch>
            <a:fillRect/>
          </a:stretch>
        </p:blipFill>
        <p:spPr>
          <a:xfrm>
            <a:off x="152400" y="550235"/>
            <a:ext cx="5305272" cy="2435037"/>
          </a:xfrm>
          <a:prstGeom prst="rect">
            <a:avLst/>
          </a:prstGeom>
          <a:noFill/>
          <a:ln>
            <a:noFill/>
          </a:ln>
        </p:spPr>
      </p:pic>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3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W</a:t>
            </a:r>
            <a:r>
              <a:rPr lang="en-US" cap="small">
                <a:solidFill>
                  <a:srgbClr val="FFFFFF"/>
                </a:solidFill>
              </a:rPr>
              <a:t>eight</a:t>
            </a:r>
            <a:r>
              <a:rPr lang="en-US">
                <a:solidFill>
                  <a:srgbClr val="FFFFFF"/>
                </a:solidFill>
              </a:rPr>
              <a:t> U</a:t>
            </a:r>
            <a:r>
              <a:rPr lang="en-US" cap="small">
                <a:solidFill>
                  <a:srgbClr val="FFFFFF"/>
                </a:solidFill>
              </a:rPr>
              <a:t>pdate</a:t>
            </a:r>
            <a:endParaRPr/>
          </a:p>
        </p:txBody>
      </p:sp>
      <p:grpSp>
        <p:nvGrpSpPr>
          <p:cNvPr id="597" name="Google Shape;597;p35"/>
          <p:cNvGrpSpPr/>
          <p:nvPr/>
        </p:nvGrpSpPr>
        <p:grpSpPr>
          <a:xfrm>
            <a:off x="0" y="3109250"/>
            <a:ext cx="5760261" cy="92075"/>
            <a:chOff x="0" y="3109250"/>
            <a:chExt cx="5760261" cy="92075"/>
          </a:xfrm>
        </p:grpSpPr>
        <p:sp>
          <p:nvSpPr>
            <p:cNvPr id="598" name="Google Shape;598;p3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9" name="Google Shape;599;p3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0" name="Google Shape;600;p3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01" name="Google Shape;601;p3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02" name="Google Shape;602;p3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3" name="Google Shape;603;p3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a:t>
            </a:fld>
            <a:r>
              <a:rPr lang="en-US"/>
              <a:t> / 46</a:t>
            </a:r>
            <a:endParaRPr/>
          </a:p>
        </p:txBody>
      </p:sp>
      <p:pic>
        <p:nvPicPr>
          <p:cNvPr id="604" name="Google Shape;604;p35"/>
          <p:cNvPicPr preferRelativeResize="0"/>
          <p:nvPr/>
        </p:nvPicPr>
        <p:blipFill>
          <a:blip r:embed="rId4">
            <a:alphaModFix/>
          </a:blip>
          <a:stretch>
            <a:fillRect/>
          </a:stretch>
        </p:blipFill>
        <p:spPr>
          <a:xfrm>
            <a:off x="152400" y="550235"/>
            <a:ext cx="5446129" cy="2406614"/>
          </a:xfrm>
          <a:prstGeom prst="rect">
            <a:avLst/>
          </a:prstGeom>
          <a:noFill/>
          <a:ln>
            <a:noFill/>
          </a:ln>
        </p:spPr>
      </p:pic>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3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N</a:t>
            </a:r>
            <a:r>
              <a:rPr lang="en-US" cap="small">
                <a:solidFill>
                  <a:srgbClr val="FFFFFF"/>
                </a:solidFill>
              </a:rPr>
              <a:t>ew</a:t>
            </a:r>
            <a:r>
              <a:rPr lang="en-US">
                <a:solidFill>
                  <a:srgbClr val="FFFFFF"/>
                </a:solidFill>
              </a:rPr>
              <a:t> L</a:t>
            </a:r>
            <a:r>
              <a:rPr lang="en-US" cap="small">
                <a:solidFill>
                  <a:srgbClr val="FFFFFF"/>
                </a:solidFill>
              </a:rPr>
              <a:t>oss</a:t>
            </a:r>
            <a:endParaRPr/>
          </a:p>
        </p:txBody>
      </p:sp>
      <p:grpSp>
        <p:nvGrpSpPr>
          <p:cNvPr id="610" name="Google Shape;610;p36"/>
          <p:cNvGrpSpPr/>
          <p:nvPr/>
        </p:nvGrpSpPr>
        <p:grpSpPr>
          <a:xfrm>
            <a:off x="0" y="3109250"/>
            <a:ext cx="5760261" cy="92075"/>
            <a:chOff x="0" y="3109250"/>
            <a:chExt cx="5760261" cy="92075"/>
          </a:xfrm>
        </p:grpSpPr>
        <p:sp>
          <p:nvSpPr>
            <p:cNvPr id="611" name="Google Shape;611;p3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2" name="Google Shape;612;p3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3" name="Google Shape;613;p3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14" name="Google Shape;614;p3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15" name="Google Shape;615;p3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16" name="Google Shape;616;p3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10</a:t>
            </a:fld>
            <a:r>
              <a:rPr lang="en-US"/>
              <a:t> / 46</a:t>
            </a:r>
            <a:endParaRPr/>
          </a:p>
        </p:txBody>
      </p:sp>
      <p:pic>
        <p:nvPicPr>
          <p:cNvPr id="617" name="Google Shape;617;p36"/>
          <p:cNvPicPr preferRelativeResize="0"/>
          <p:nvPr/>
        </p:nvPicPr>
        <p:blipFill>
          <a:blip r:embed="rId4">
            <a:alphaModFix/>
          </a:blip>
          <a:stretch>
            <a:fillRect/>
          </a:stretch>
        </p:blipFill>
        <p:spPr>
          <a:xfrm>
            <a:off x="152400" y="550235"/>
            <a:ext cx="5265756" cy="2406615"/>
          </a:xfrm>
          <a:prstGeom prst="rect">
            <a:avLst/>
          </a:prstGeom>
          <a:noFill/>
          <a:ln>
            <a:noFill/>
          </a:ln>
        </p:spPr>
      </p:pic>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97" name="Google Shape;697;p3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98" name="Google Shape;698;p3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699" name="Google Shape;699;p3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00" name="Google Shape;700;p3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1" name="Google Shape;701;p3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02" name="Google Shape;702;p3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03" name="Google Shape;703;p3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04" name="Google Shape;704;p3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05" name="Google Shape;705;p3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06" name="Google Shape;706;p3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5</a:t>
            </a:r>
            <a:endParaRPr sz="800">
              <a:latin typeface="Calibri"/>
              <a:ea typeface="Calibri"/>
              <a:cs typeface="Calibri"/>
              <a:sym typeface="Calibri"/>
            </a:endParaRPr>
          </a:p>
        </p:txBody>
      </p:sp>
      <p:pic>
        <p:nvPicPr>
          <p:cNvPr id="707" name="Google Shape;707;p3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08" name="Google Shape;708;p3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09" name="Google Shape;709;p3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10" name="Google Shape;710;p3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11" name="Google Shape;711;p3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12" name="Google Shape;712;p3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13" name="Google Shape;713;p38"/>
          <p:cNvSpPr txBox="1"/>
          <p:nvPr/>
        </p:nvSpPr>
        <p:spPr>
          <a:xfrm>
            <a:off x="563029" y="500281"/>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14" name="Google Shape;714;p38"/>
          <p:cNvGrpSpPr/>
          <p:nvPr/>
        </p:nvGrpSpPr>
        <p:grpSpPr>
          <a:xfrm>
            <a:off x="0" y="3109250"/>
            <a:ext cx="5760261" cy="92075"/>
            <a:chOff x="0" y="3109250"/>
            <a:chExt cx="5760261" cy="92075"/>
          </a:xfrm>
        </p:grpSpPr>
        <p:sp>
          <p:nvSpPr>
            <p:cNvPr id="715" name="Google Shape;715;p3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6" name="Google Shape;716;p3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7" name="Google Shape;717;p3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8" name="Google Shape;718;p3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19" name="Google Shape;719;p3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20" name="Google Shape;720;p3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11</a:t>
            </a:fld>
            <a:r>
              <a:rPr lang="en-US"/>
              <a:t> / 46</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odel</a:t>
            </a:r>
            <a:r>
              <a:rPr lang="en-US">
                <a:solidFill>
                  <a:srgbClr val="FFFFFF"/>
                </a:solidFill>
              </a:rPr>
              <a:t> E</a:t>
            </a:r>
            <a:r>
              <a:rPr lang="en-US" cap="small">
                <a:solidFill>
                  <a:srgbClr val="FFFFFF"/>
                </a:solidFill>
              </a:rPr>
              <a:t>valuation</a:t>
            </a:r>
            <a:r>
              <a:rPr lang="en-US">
                <a:solidFill>
                  <a:srgbClr val="FFFFFF"/>
                </a:solidFill>
              </a:rPr>
              <a:t>: T</a:t>
            </a:r>
            <a:r>
              <a:rPr lang="en-US" cap="small">
                <a:solidFill>
                  <a:srgbClr val="FFFFFF"/>
                </a:solidFill>
              </a:rPr>
              <a:t>raining</a:t>
            </a:r>
            <a:r>
              <a:rPr lang="en-US">
                <a:solidFill>
                  <a:srgbClr val="FFFFFF"/>
                </a:solidFill>
              </a:rPr>
              <a:t> </a:t>
            </a:r>
            <a:r>
              <a:rPr lang="en-US" cap="small">
                <a:solidFill>
                  <a:srgbClr val="FFFFFF"/>
                </a:solidFill>
              </a:rPr>
              <a:t>vs</a:t>
            </a:r>
            <a:r>
              <a:rPr lang="en-US">
                <a:solidFill>
                  <a:srgbClr val="FFFFFF"/>
                </a:solidFill>
              </a:rPr>
              <a:t> T</a:t>
            </a:r>
            <a:r>
              <a:rPr lang="en-US" cap="small">
                <a:solidFill>
                  <a:srgbClr val="FFFFFF"/>
                </a:solidFill>
              </a:rPr>
              <a:t>est</a:t>
            </a:r>
            <a:r>
              <a:rPr lang="en-US">
                <a:solidFill>
                  <a:srgbClr val="FFFFFF"/>
                </a:solidFill>
              </a:rPr>
              <a:t> E</a:t>
            </a:r>
            <a:r>
              <a:rPr lang="en-US" cap="small">
                <a:solidFill>
                  <a:srgbClr val="FFFFFF"/>
                </a:solidFill>
              </a:rPr>
              <a:t>rror</a:t>
            </a:r>
            <a:endParaRPr/>
          </a:p>
        </p:txBody>
      </p:sp>
      <p:grpSp>
        <p:nvGrpSpPr>
          <p:cNvPr id="726" name="Google Shape;726;p39"/>
          <p:cNvGrpSpPr/>
          <p:nvPr/>
        </p:nvGrpSpPr>
        <p:grpSpPr>
          <a:xfrm>
            <a:off x="0" y="3109250"/>
            <a:ext cx="5760261" cy="92075"/>
            <a:chOff x="0" y="3109250"/>
            <a:chExt cx="5760261" cy="92075"/>
          </a:xfrm>
        </p:grpSpPr>
        <p:sp>
          <p:nvSpPr>
            <p:cNvPr id="727" name="Google Shape;727;p3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8" name="Google Shape;728;p3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9" name="Google Shape;729;p3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0" name="Google Shape;730;p3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31" name="Google Shape;731;p3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32" name="Google Shape;732;p3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12</a:t>
            </a:fld>
            <a:r>
              <a:rPr lang="en-US"/>
              <a:t> / 46</a:t>
            </a:r>
            <a:endParaRPr/>
          </a:p>
        </p:txBody>
      </p:sp>
      <p:pic>
        <p:nvPicPr>
          <p:cNvPr id="733" name="Google Shape;733;p39"/>
          <p:cNvPicPr preferRelativeResize="0"/>
          <p:nvPr/>
        </p:nvPicPr>
        <p:blipFill>
          <a:blip r:embed="rId4">
            <a:alphaModFix/>
          </a:blip>
          <a:stretch>
            <a:fillRect/>
          </a:stretch>
        </p:blipFill>
        <p:spPr>
          <a:xfrm>
            <a:off x="152400" y="550235"/>
            <a:ext cx="5150208" cy="2406616"/>
          </a:xfrm>
          <a:prstGeom prst="rect">
            <a:avLst/>
          </a:prstGeom>
          <a:noFill/>
          <a:ln>
            <a:noFill/>
          </a:ln>
        </p:spPr>
      </p:pic>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4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valuation</a:t>
            </a:r>
            <a:r>
              <a:rPr lang="en-US">
                <a:solidFill>
                  <a:srgbClr val="FFFFFF"/>
                </a:solidFill>
              </a:rPr>
              <a:t> M</a:t>
            </a:r>
            <a:r>
              <a:rPr lang="en-US" cap="small">
                <a:solidFill>
                  <a:srgbClr val="FFFFFF"/>
                </a:solidFill>
              </a:rPr>
              <a:t>etrics</a:t>
            </a:r>
            <a:endParaRPr/>
          </a:p>
        </p:txBody>
      </p:sp>
      <p:grpSp>
        <p:nvGrpSpPr>
          <p:cNvPr id="739" name="Google Shape;739;p40"/>
          <p:cNvGrpSpPr/>
          <p:nvPr/>
        </p:nvGrpSpPr>
        <p:grpSpPr>
          <a:xfrm>
            <a:off x="0" y="3109250"/>
            <a:ext cx="5760261" cy="92075"/>
            <a:chOff x="0" y="3109250"/>
            <a:chExt cx="5760261" cy="92075"/>
          </a:xfrm>
        </p:grpSpPr>
        <p:sp>
          <p:nvSpPr>
            <p:cNvPr id="740" name="Google Shape;740;p4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1" name="Google Shape;741;p4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2" name="Google Shape;742;p4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43" name="Google Shape;743;p4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44" name="Google Shape;744;p4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45" name="Google Shape;745;p4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13</a:t>
            </a:fld>
            <a:r>
              <a:rPr lang="en-US"/>
              <a:t> / 46</a:t>
            </a:r>
            <a:endParaRPr/>
          </a:p>
        </p:txBody>
      </p:sp>
      <p:pic>
        <p:nvPicPr>
          <p:cNvPr id="746" name="Google Shape;746;p40"/>
          <p:cNvPicPr preferRelativeResize="0"/>
          <p:nvPr/>
        </p:nvPicPr>
        <p:blipFill>
          <a:blip r:embed="rId4">
            <a:alphaModFix/>
          </a:blip>
          <a:stretch>
            <a:fillRect/>
          </a:stretch>
        </p:blipFill>
        <p:spPr>
          <a:xfrm>
            <a:off x="152400" y="550235"/>
            <a:ext cx="5096950" cy="2406616"/>
          </a:xfrm>
          <a:prstGeom prst="rect">
            <a:avLst/>
          </a:prstGeom>
          <a:noFill/>
          <a:ln>
            <a:noFill/>
          </a:ln>
        </p:spPr>
      </p:pic>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sz="1550" i="1">
                <a:solidFill>
                  <a:srgbClr val="FFFFFF"/>
                </a:solidFill>
                <a:latin typeface="Arial"/>
                <a:ea typeface="Arial"/>
                <a:cs typeface="Arial"/>
                <a:sym typeface="Arial"/>
              </a:rPr>
              <a:t>R</a:t>
            </a:r>
            <a:r>
              <a:rPr lang="en-US" sz="1575" baseline="30000">
                <a:solidFill>
                  <a:srgbClr val="FFFFFF"/>
                </a:solidFill>
                <a:latin typeface="Arial"/>
                <a:ea typeface="Arial"/>
                <a:cs typeface="Arial"/>
                <a:sym typeface="Arial"/>
              </a:rPr>
              <a:t>2 </a:t>
            </a:r>
            <a:r>
              <a:rPr lang="en-US" sz="1700">
                <a:solidFill>
                  <a:srgbClr val="FFFFFF"/>
                </a:solidFill>
              </a:rPr>
              <a:t>S</a:t>
            </a:r>
            <a:r>
              <a:rPr lang="en-US" sz="1700" cap="small">
                <a:solidFill>
                  <a:srgbClr val="FFFFFF"/>
                </a:solidFill>
              </a:rPr>
              <a:t>core</a:t>
            </a:r>
            <a:r>
              <a:rPr lang="en-US" sz="1700">
                <a:solidFill>
                  <a:srgbClr val="FFFFFF"/>
                </a:solidFill>
              </a:rPr>
              <a:t> (C</a:t>
            </a:r>
            <a:r>
              <a:rPr lang="en-US" sz="1700" cap="small">
                <a:solidFill>
                  <a:srgbClr val="FFFFFF"/>
                </a:solidFill>
              </a:rPr>
              <a:t>oefficient</a:t>
            </a:r>
            <a:r>
              <a:rPr lang="en-US" sz="1700">
                <a:solidFill>
                  <a:srgbClr val="FFFFFF"/>
                </a:solidFill>
              </a:rPr>
              <a:t> </a:t>
            </a:r>
            <a:r>
              <a:rPr lang="en-US" sz="1700" cap="small">
                <a:solidFill>
                  <a:srgbClr val="FFFFFF"/>
                </a:solidFill>
              </a:rPr>
              <a:t>of</a:t>
            </a:r>
            <a:r>
              <a:rPr lang="en-US" sz="1700">
                <a:solidFill>
                  <a:srgbClr val="FFFFFF"/>
                </a:solidFill>
              </a:rPr>
              <a:t> D</a:t>
            </a:r>
            <a:r>
              <a:rPr lang="en-US" sz="1700" cap="small">
                <a:solidFill>
                  <a:srgbClr val="FFFFFF"/>
                </a:solidFill>
              </a:rPr>
              <a:t>etermination</a:t>
            </a:r>
            <a:r>
              <a:rPr lang="en-US" sz="1700">
                <a:solidFill>
                  <a:srgbClr val="FFFFFF"/>
                </a:solidFill>
              </a:rPr>
              <a:t>)</a:t>
            </a:r>
            <a:endParaRPr sz="1700">
              <a:latin typeface="Arial"/>
              <a:ea typeface="Arial"/>
              <a:cs typeface="Arial"/>
              <a:sym typeface="Arial"/>
            </a:endParaRPr>
          </a:p>
        </p:txBody>
      </p:sp>
      <p:grpSp>
        <p:nvGrpSpPr>
          <p:cNvPr id="752" name="Google Shape;752;p41"/>
          <p:cNvGrpSpPr/>
          <p:nvPr/>
        </p:nvGrpSpPr>
        <p:grpSpPr>
          <a:xfrm>
            <a:off x="0" y="3109250"/>
            <a:ext cx="5760261" cy="92075"/>
            <a:chOff x="0" y="3109250"/>
            <a:chExt cx="5760261" cy="92075"/>
          </a:xfrm>
        </p:grpSpPr>
        <p:sp>
          <p:nvSpPr>
            <p:cNvPr id="753" name="Google Shape;753;p4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4" name="Google Shape;754;p4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4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56" name="Google Shape;756;p4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57" name="Google Shape;757;p4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58" name="Google Shape;758;p4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14</a:t>
            </a:fld>
            <a:r>
              <a:rPr lang="en-US"/>
              <a:t> / 46</a:t>
            </a:r>
            <a:endParaRPr/>
          </a:p>
        </p:txBody>
      </p:sp>
      <p:pic>
        <p:nvPicPr>
          <p:cNvPr id="759" name="Google Shape;759;p41"/>
          <p:cNvPicPr preferRelativeResize="0"/>
          <p:nvPr/>
        </p:nvPicPr>
        <p:blipFill>
          <a:blip r:embed="rId4">
            <a:alphaModFix/>
          </a:blip>
          <a:stretch>
            <a:fillRect/>
          </a:stretch>
        </p:blipFill>
        <p:spPr>
          <a:xfrm>
            <a:off x="152400" y="550235"/>
            <a:ext cx="5311150" cy="2406615"/>
          </a:xfrm>
          <a:prstGeom prst="rect">
            <a:avLst/>
          </a:prstGeom>
          <a:noFill/>
          <a:ln>
            <a:noFill/>
          </a:ln>
        </p:spPr>
      </p:pic>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4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765" name="Google Shape;765;p42"/>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766" name="Google Shape;766;p42"/>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767" name="Google Shape;767;p42"/>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68" name="Google Shape;768;p42"/>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69" name="Google Shape;769;p42"/>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70" name="Google Shape;770;p42"/>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71" name="Google Shape;771;p42"/>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72" name="Google Shape;772;p42"/>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73" name="Google Shape;773;p42"/>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74" name="Google Shape;774;p42"/>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75" name="Google Shape;775;p42"/>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6" name="Google Shape;776;p42"/>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6</a:t>
            </a:r>
            <a:endParaRPr sz="800">
              <a:latin typeface="Calibri"/>
              <a:ea typeface="Calibri"/>
              <a:cs typeface="Calibri"/>
              <a:sym typeface="Calibri"/>
            </a:endParaRPr>
          </a:p>
        </p:txBody>
      </p:sp>
      <p:pic>
        <p:nvPicPr>
          <p:cNvPr id="777" name="Google Shape;777;p42"/>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78" name="Google Shape;778;p42"/>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79" name="Google Shape;779;p42"/>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80" name="Google Shape;780;p42"/>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81" name="Google Shape;781;p42"/>
          <p:cNvSpPr txBox="1"/>
          <p:nvPr/>
        </p:nvSpPr>
        <p:spPr>
          <a:xfrm>
            <a:off x="563025" y="56598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3333B2"/>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82" name="Google Shape;782;p42"/>
          <p:cNvGrpSpPr/>
          <p:nvPr/>
        </p:nvGrpSpPr>
        <p:grpSpPr>
          <a:xfrm>
            <a:off x="0" y="3109250"/>
            <a:ext cx="5760261" cy="92075"/>
            <a:chOff x="0" y="3109250"/>
            <a:chExt cx="5760261" cy="92075"/>
          </a:xfrm>
        </p:grpSpPr>
        <p:sp>
          <p:nvSpPr>
            <p:cNvPr id="783" name="Google Shape;783;p4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4" name="Google Shape;784;p4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5" name="Google Shape;785;p4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86" name="Google Shape;786;p4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87" name="Google Shape;787;p4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88" name="Google Shape;788;p4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15</a:t>
            </a:fld>
            <a:r>
              <a:rPr lang="en-US"/>
              <a:t> / 46</a:t>
            </a:r>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4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P</a:t>
            </a:r>
            <a:r>
              <a:rPr lang="en-US" cap="small">
                <a:solidFill>
                  <a:srgbClr val="FFFFFF"/>
                </a:solidFill>
              </a:rPr>
              <a:t>erceptron</a:t>
            </a:r>
            <a:r>
              <a:rPr lang="en-US">
                <a:solidFill>
                  <a:srgbClr val="FFFFFF"/>
                </a:solidFill>
              </a:rPr>
              <a:t> D</a:t>
            </a:r>
            <a:r>
              <a:rPr lang="en-US" cap="small">
                <a:solidFill>
                  <a:srgbClr val="FFFFFF"/>
                </a:solidFill>
              </a:rPr>
              <a:t>emo</a:t>
            </a:r>
            <a:r>
              <a:rPr lang="en-US">
                <a:solidFill>
                  <a:srgbClr val="FFFFFF"/>
                </a:solidFill>
              </a:rPr>
              <a:t> P</a:t>
            </a:r>
            <a:r>
              <a:rPr lang="en-US" cap="small">
                <a:solidFill>
                  <a:srgbClr val="FFFFFF"/>
                </a:solidFill>
              </a:rPr>
              <a:t>ython</a:t>
            </a:r>
            <a:r>
              <a:rPr lang="en-US">
                <a:solidFill>
                  <a:srgbClr val="FFFFFF"/>
                </a:solidFill>
              </a:rPr>
              <a:t> C</a:t>
            </a:r>
            <a:r>
              <a:rPr lang="en-US" cap="small">
                <a:solidFill>
                  <a:srgbClr val="FFFFFF"/>
                </a:solidFill>
              </a:rPr>
              <a:t>ode</a:t>
            </a:r>
            <a:endParaRPr/>
          </a:p>
        </p:txBody>
      </p:sp>
      <p:pic>
        <p:nvPicPr>
          <p:cNvPr id="794" name="Google Shape;794;p43"/>
          <p:cNvPicPr preferRelativeResize="0"/>
          <p:nvPr/>
        </p:nvPicPr>
        <p:blipFill rotWithShape="1">
          <a:blip r:embed="rId3">
            <a:alphaModFix/>
          </a:blip>
          <a:srcRect/>
          <a:stretch/>
        </p:blipFill>
        <p:spPr>
          <a:xfrm>
            <a:off x="513702" y="1017866"/>
            <a:ext cx="69291" cy="69291"/>
          </a:xfrm>
          <a:prstGeom prst="rect">
            <a:avLst/>
          </a:prstGeom>
          <a:noFill/>
          <a:ln>
            <a:noFill/>
          </a:ln>
        </p:spPr>
      </p:pic>
      <p:sp>
        <p:nvSpPr>
          <p:cNvPr id="795" name="Google Shape;795;p43"/>
          <p:cNvSpPr txBox="1"/>
          <p:nvPr/>
        </p:nvSpPr>
        <p:spPr>
          <a:xfrm>
            <a:off x="347294" y="925166"/>
            <a:ext cx="5065395" cy="1891657"/>
          </a:xfrm>
          <a:prstGeom prst="rect">
            <a:avLst/>
          </a:prstGeom>
          <a:noFill/>
          <a:ln>
            <a:noFill/>
          </a:ln>
        </p:spPr>
        <p:txBody>
          <a:bodyPr spcFirstLastPara="1" wrap="square" lIns="0" tIns="12050" rIns="0" bIns="0" anchor="t" anchorCtr="0">
            <a:spAutoFit/>
          </a:bodyPr>
          <a:lstStyle/>
          <a:p>
            <a:pPr marL="309880" marR="1232535" lvl="0"/>
            <a:r>
              <a:rPr lang="en-GB" sz="1200" dirty="0">
                <a:latin typeface="Calibri"/>
                <a:ea typeface="Calibri"/>
                <a:cs typeface="Calibri"/>
                <a:sym typeface="Calibri"/>
                <a:hlinkClick r:id="rId4"/>
              </a:rPr>
              <a:t>https://drive.google.com/file/d/1Qs9sAvBcfyr_bCpAKam9hRDXEw-K-ONF/view?usp=sharing</a:t>
            </a:r>
            <a:endParaRPr lang="en-GB" sz="1200" dirty="0">
              <a:latin typeface="Calibri"/>
              <a:ea typeface="Calibri"/>
              <a:cs typeface="Calibri"/>
              <a:sym typeface="Calibri"/>
            </a:endParaRPr>
          </a:p>
          <a:p>
            <a:pPr marL="309880" marR="1232535" lvl="0"/>
            <a:endParaRPr lang="en-GB" sz="1200" dirty="0">
              <a:latin typeface="Calibri"/>
              <a:ea typeface="Calibri"/>
              <a:cs typeface="Calibri"/>
              <a:sym typeface="Calibri"/>
            </a:endParaRPr>
          </a:p>
          <a:p>
            <a:pPr marL="309880" marR="1232535" lvl="0"/>
            <a:r>
              <a:rPr lang="en-GB" sz="1200" dirty="0">
                <a:latin typeface="Calibri"/>
                <a:ea typeface="Calibri"/>
                <a:cs typeface="Calibri"/>
                <a:sym typeface="Calibri"/>
              </a:rPr>
              <a:t>Already shown in webinar.</a:t>
            </a:r>
          </a:p>
          <a:p>
            <a:pPr marL="0" lvl="0" indent="0" algn="l" rtl="0">
              <a:lnSpc>
                <a:spcPct val="100000"/>
              </a:lnSpc>
              <a:spcBef>
                <a:spcPts val="360"/>
              </a:spcBef>
              <a:spcAft>
                <a:spcPts val="0"/>
              </a:spcAft>
              <a:buNone/>
            </a:pPr>
            <a:endParaRPr sz="1200" dirty="0">
              <a:latin typeface="Calibri"/>
              <a:ea typeface="Calibri"/>
              <a:cs typeface="Calibri"/>
              <a:sym typeface="Calibri"/>
            </a:endParaRPr>
          </a:p>
          <a:p>
            <a:pPr marL="12700" lvl="0" indent="0" algn="just" rtl="0">
              <a:lnSpc>
                <a:spcPct val="100000"/>
              </a:lnSpc>
              <a:spcBef>
                <a:spcPts val="0"/>
              </a:spcBef>
              <a:spcAft>
                <a:spcPts val="0"/>
              </a:spcAft>
              <a:buNone/>
            </a:pPr>
            <a:r>
              <a:rPr lang="en-US" sz="1050" dirty="0">
                <a:latin typeface="Arial"/>
                <a:ea typeface="Arial"/>
                <a:cs typeface="Arial"/>
                <a:sym typeface="Arial"/>
              </a:rPr>
              <a:t>Student pl note:</a:t>
            </a:r>
            <a:endParaRPr sz="1050" dirty="0">
              <a:latin typeface="Arial"/>
              <a:ea typeface="Arial"/>
              <a:cs typeface="Arial"/>
              <a:sym typeface="Arial"/>
            </a:endParaRPr>
          </a:p>
          <a:p>
            <a:pPr marL="12700" marR="5080" lvl="0" indent="0" algn="just" rtl="0">
              <a:lnSpc>
                <a:spcPct val="114700"/>
              </a:lnSpc>
              <a:spcBef>
                <a:spcPts val="0"/>
              </a:spcBef>
              <a:spcAft>
                <a:spcPts val="0"/>
              </a:spcAft>
              <a:buNone/>
            </a:pPr>
            <a:r>
              <a:rPr lang="en-US" sz="1050" dirty="0">
                <a:latin typeface="Arial"/>
                <a:ea typeface="Arial"/>
                <a:cs typeface="Arial"/>
                <a:sym typeface="Arial"/>
              </a:rPr>
              <a:t>The Python notebook is shared for anyone who has access to the link and the access is restricted to </a:t>
            </a:r>
            <a:r>
              <a:rPr lang="en-US" sz="1050" dirty="0">
                <a:solidFill>
                  <a:srgbClr val="FF0000"/>
                </a:solidFill>
                <a:latin typeface="Arial"/>
                <a:ea typeface="Arial"/>
                <a:cs typeface="Arial"/>
                <a:sym typeface="Arial"/>
              </a:rPr>
              <a:t>use BITS email id</a:t>
            </a:r>
            <a:r>
              <a:rPr lang="en-US" sz="1050" dirty="0">
                <a:latin typeface="Arial"/>
                <a:ea typeface="Arial"/>
                <a:cs typeface="Arial"/>
                <a:sym typeface="Arial"/>
              </a:rPr>
              <a:t>. So please do not access from non-BITS email id and send requests for access. Access for non-BITS email id will NOT be granted.</a:t>
            </a:r>
            <a:endParaRPr sz="1050" dirty="0">
              <a:latin typeface="Arial"/>
              <a:ea typeface="Arial"/>
              <a:cs typeface="Arial"/>
              <a:sym typeface="Arial"/>
            </a:endParaRPr>
          </a:p>
        </p:txBody>
      </p:sp>
      <p:grpSp>
        <p:nvGrpSpPr>
          <p:cNvPr id="796" name="Google Shape;796;p43"/>
          <p:cNvGrpSpPr/>
          <p:nvPr/>
        </p:nvGrpSpPr>
        <p:grpSpPr>
          <a:xfrm>
            <a:off x="0" y="3109250"/>
            <a:ext cx="5760261" cy="92075"/>
            <a:chOff x="0" y="3109250"/>
            <a:chExt cx="5760261" cy="92075"/>
          </a:xfrm>
        </p:grpSpPr>
        <p:sp>
          <p:nvSpPr>
            <p:cNvPr id="797" name="Google Shape;797;p4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8" name="Google Shape;798;p4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9" name="Google Shape;799;p4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00" name="Google Shape;800;p4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01" name="Google Shape;801;p4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5"/>
              </a:rPr>
              <a:t>D</a:t>
            </a:r>
            <a:r>
              <a:rPr lang="en-US" sz="600" u="sng" cap="small">
                <a:solidFill>
                  <a:schemeClr val="hlink"/>
                </a:solidFill>
                <a:latin typeface="Calibri"/>
                <a:ea typeface="Calibri"/>
                <a:cs typeface="Calibri"/>
                <a:sym typeface="Calibri"/>
                <a:hlinkClick r:id="rId5"/>
              </a:rPr>
              <a:t>eep</a:t>
            </a:r>
            <a:r>
              <a:rPr lang="en-US" sz="600" u="sng">
                <a:solidFill>
                  <a:schemeClr val="hlink"/>
                </a:solidFill>
                <a:latin typeface="Calibri"/>
                <a:ea typeface="Calibri"/>
                <a:cs typeface="Calibri"/>
                <a:sym typeface="Calibri"/>
                <a:hlinkClick r:id="rId5"/>
              </a:rPr>
              <a:t> L</a:t>
            </a:r>
            <a:r>
              <a:rPr lang="en-US" sz="600" u="sng" cap="small">
                <a:solidFill>
                  <a:schemeClr val="hlink"/>
                </a:solidFill>
                <a:latin typeface="Calibri"/>
                <a:ea typeface="Calibri"/>
                <a:cs typeface="Calibri"/>
                <a:sym typeface="Calibri"/>
                <a:hlinkClick r:id="rId5"/>
              </a:rPr>
              <a:t>earning</a:t>
            </a:r>
            <a:endParaRPr sz="600">
              <a:latin typeface="Calibri"/>
              <a:ea typeface="Calibri"/>
              <a:cs typeface="Calibri"/>
              <a:sym typeface="Calibri"/>
            </a:endParaRPr>
          </a:p>
        </p:txBody>
      </p:sp>
      <p:sp>
        <p:nvSpPr>
          <p:cNvPr id="802" name="Google Shape;802;p4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16</a:t>
            </a:fld>
            <a:r>
              <a:rPr lang="en-US"/>
              <a:t> / 46</a:t>
            </a:r>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4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08" name="Google Shape;808;p44"/>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09" name="Google Shape;809;p44"/>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10" name="Google Shape;810;p44"/>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11" name="Google Shape;811;p44"/>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12" name="Google Shape;812;p44"/>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13" name="Google Shape;813;p44"/>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14" name="Google Shape;814;p44"/>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15" name="Google Shape;815;p44"/>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16" name="Google Shape;816;p44"/>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17" name="Google Shape;817;p44"/>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18" name="Google Shape;818;p44"/>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19" name="Google Shape;819;p44"/>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20" name="Google Shape;820;p44"/>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21" name="Google Shape;821;p44"/>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7</a:t>
            </a:r>
            <a:endParaRPr sz="800">
              <a:latin typeface="Calibri"/>
              <a:ea typeface="Calibri"/>
              <a:cs typeface="Calibri"/>
              <a:sym typeface="Calibri"/>
            </a:endParaRPr>
          </a:p>
        </p:txBody>
      </p:sp>
      <p:pic>
        <p:nvPicPr>
          <p:cNvPr id="822" name="Google Shape;822;p44"/>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23" name="Google Shape;823;p44"/>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4" name="Google Shape;824;p44"/>
          <p:cNvSpPr txBox="1"/>
          <p:nvPr/>
        </p:nvSpPr>
        <p:spPr>
          <a:xfrm>
            <a:off x="563029" y="562863"/>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25" name="Google Shape;825;p44"/>
          <p:cNvGrpSpPr/>
          <p:nvPr/>
        </p:nvGrpSpPr>
        <p:grpSpPr>
          <a:xfrm>
            <a:off x="0" y="3109250"/>
            <a:ext cx="5760261" cy="92075"/>
            <a:chOff x="0" y="3109250"/>
            <a:chExt cx="5760261" cy="92075"/>
          </a:xfrm>
        </p:grpSpPr>
        <p:sp>
          <p:nvSpPr>
            <p:cNvPr id="826" name="Google Shape;826;p4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7" name="Google Shape;827;p4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8" name="Google Shape;828;p4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29" name="Google Shape;829;p4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30" name="Google Shape;830;p4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31" name="Google Shape;831;p4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46</a:t>
            </a:r>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4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ips</a:t>
            </a:r>
            <a:r>
              <a:rPr lang="en-US">
                <a:solidFill>
                  <a:srgbClr val="FFFFFF"/>
                </a:solidFill>
              </a:rPr>
              <a:t> </a:t>
            </a:r>
            <a:r>
              <a:rPr lang="en-US" cap="small">
                <a:solidFill>
                  <a:srgbClr val="FFFFFF"/>
                </a:solidFill>
              </a:rPr>
              <a:t>for</a:t>
            </a:r>
            <a:r>
              <a:rPr lang="en-US">
                <a:solidFill>
                  <a:srgbClr val="FFFFFF"/>
                </a:solidFill>
              </a:rPr>
              <a:t> I</a:t>
            </a:r>
            <a:r>
              <a:rPr lang="en-US" cap="small">
                <a:solidFill>
                  <a:srgbClr val="FFFFFF"/>
                </a:solidFill>
              </a:rPr>
              <a:t>mplementation</a:t>
            </a:r>
            <a:endParaRPr/>
          </a:p>
        </p:txBody>
      </p:sp>
      <p:grpSp>
        <p:nvGrpSpPr>
          <p:cNvPr id="837" name="Google Shape;837;p45"/>
          <p:cNvGrpSpPr/>
          <p:nvPr/>
        </p:nvGrpSpPr>
        <p:grpSpPr>
          <a:xfrm>
            <a:off x="0" y="3109250"/>
            <a:ext cx="5760261" cy="92075"/>
            <a:chOff x="0" y="3109250"/>
            <a:chExt cx="5760261" cy="92075"/>
          </a:xfrm>
        </p:grpSpPr>
        <p:sp>
          <p:nvSpPr>
            <p:cNvPr id="838" name="Google Shape;838;p4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9" name="Google Shape;839;p4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0" name="Google Shape;840;p4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41" name="Google Shape;841;p4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42" name="Google Shape;842;p4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43" name="Google Shape;843;p4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46</a:t>
            </a:r>
            <a:endParaRPr/>
          </a:p>
        </p:txBody>
      </p:sp>
      <p:pic>
        <p:nvPicPr>
          <p:cNvPr id="844" name="Google Shape;844;p45"/>
          <p:cNvPicPr preferRelativeResize="0"/>
          <p:nvPr/>
        </p:nvPicPr>
        <p:blipFill>
          <a:blip r:embed="rId4">
            <a:alphaModFix/>
          </a:blip>
          <a:stretch>
            <a:fillRect/>
          </a:stretch>
        </p:blipFill>
        <p:spPr>
          <a:xfrm>
            <a:off x="152400" y="550235"/>
            <a:ext cx="4998733" cy="2406616"/>
          </a:xfrm>
          <a:prstGeom prst="rect">
            <a:avLst/>
          </a:prstGeom>
          <a:noFill/>
          <a:ln>
            <a:noFill/>
          </a:ln>
        </p:spPr>
      </p:pic>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4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ore</a:t>
            </a:r>
            <a:r>
              <a:rPr lang="en-US">
                <a:solidFill>
                  <a:srgbClr val="FFFFFF"/>
                </a:solidFill>
              </a:rPr>
              <a:t> P</a:t>
            </a:r>
            <a:r>
              <a:rPr lang="en-US" cap="small">
                <a:solidFill>
                  <a:srgbClr val="FFFFFF"/>
                </a:solidFill>
              </a:rPr>
              <a:t>ractical</a:t>
            </a:r>
            <a:r>
              <a:rPr lang="en-US">
                <a:solidFill>
                  <a:srgbClr val="FFFFFF"/>
                </a:solidFill>
              </a:rPr>
              <a:t> T</a:t>
            </a:r>
            <a:r>
              <a:rPr lang="en-US" cap="small">
                <a:solidFill>
                  <a:srgbClr val="FFFFFF"/>
                </a:solidFill>
              </a:rPr>
              <a:t>ips</a:t>
            </a:r>
            <a:endParaRPr/>
          </a:p>
        </p:txBody>
      </p:sp>
      <p:sp>
        <p:nvSpPr>
          <p:cNvPr id="850" name="Google Shape;850;p4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51" name="Google Shape;851;p4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52" name="Google Shape;852;p46"/>
          <p:cNvSpPr txBox="1"/>
          <p:nvPr/>
        </p:nvSpPr>
        <p:spPr>
          <a:xfrm>
            <a:off x="4674248" y="3137672"/>
            <a:ext cx="29273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Calibri"/>
                <a:ea typeface="Calibri"/>
                <a:cs typeface="Calibri"/>
                <a:sym typeface="Calibri"/>
              </a:rPr>
              <a:t>40 / 46</a:t>
            </a:r>
            <a:endParaRPr sz="600">
              <a:latin typeface="Calibri"/>
              <a:ea typeface="Calibri"/>
              <a:cs typeface="Calibri"/>
              <a:sym typeface="Calibri"/>
            </a:endParaRPr>
          </a:p>
        </p:txBody>
      </p:sp>
      <p:pic>
        <p:nvPicPr>
          <p:cNvPr id="853" name="Google Shape;853;p46"/>
          <p:cNvPicPr preferRelativeResize="0"/>
          <p:nvPr/>
        </p:nvPicPr>
        <p:blipFill>
          <a:blip r:embed="rId4">
            <a:alphaModFix/>
          </a:blip>
          <a:stretch>
            <a:fillRect/>
          </a:stretch>
        </p:blipFill>
        <p:spPr>
          <a:xfrm>
            <a:off x="152400" y="550235"/>
            <a:ext cx="5397140" cy="2435038"/>
          </a:xfrm>
          <a:prstGeom prst="rect">
            <a:avLst/>
          </a:prstGeom>
          <a:noFill/>
          <a:ln>
            <a:noFill/>
          </a:ln>
        </p:spPr>
      </p:pic>
      <p:sp>
        <p:nvSpPr>
          <p:cNvPr id="4" name="TextBox 3">
            <a:extLst>
              <a:ext uri="{FF2B5EF4-FFF2-40B4-BE49-F238E27FC236}">
                <a16:creationId xmlns:a16="http://schemas.microsoft.com/office/drawing/2014/main" id="{43EFF0D0-E693-DE8D-9FF4-62A679DB71B7}"/>
              </a:ext>
            </a:extLst>
          </p:cNvPr>
          <p:cNvSpPr txBox="1"/>
          <p:nvPr/>
        </p:nvSpPr>
        <p:spPr>
          <a:xfrm>
            <a:off x="152400" y="2842926"/>
            <a:ext cx="5296117" cy="477054"/>
          </a:xfrm>
          <a:prstGeom prst="rect">
            <a:avLst/>
          </a:prstGeom>
          <a:noFill/>
        </p:spPr>
        <p:txBody>
          <a:bodyPr wrap="square">
            <a:spAutoFit/>
          </a:bodyPr>
          <a:lstStyle/>
          <a:p>
            <a:pPr fontAlgn="t">
              <a:lnSpc>
                <a:spcPts val="1500"/>
              </a:lnSpc>
              <a:buFont typeface="Arial" panose="020B0604020202020204" pitchFamily="34" charset="0"/>
              <a:buChar char="•"/>
            </a:pPr>
            <a:r>
              <a:rPr lang="en-US" sz="1000" b="1" i="0" dirty="0">
                <a:effectLst/>
                <a:latin typeface="Segoe UI" panose="020B0502040204020203" pitchFamily="34" charset="0"/>
              </a:rPr>
              <a:t>Min Max - Sensitive to outliers</a:t>
            </a:r>
            <a:r>
              <a:rPr lang="en-US" sz="1000" b="0" i="0" dirty="0">
                <a:effectLst/>
                <a:latin typeface="Segoe UI" panose="020B0502040204020203" pitchFamily="34" charset="0"/>
              </a:rPr>
              <a:t>: if one extreme max exists, everything else squashes near 0.</a:t>
            </a: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1C31E6-9BDC-C999-50C3-9A18F1DC64F7}"/>
              </a:ext>
            </a:extLst>
          </p:cNvPr>
          <p:cNvPicPr>
            <a:picLocks noChangeAspect="1"/>
          </p:cNvPicPr>
          <p:nvPr/>
        </p:nvPicPr>
        <p:blipFill>
          <a:blip r:embed="rId2"/>
          <a:stretch>
            <a:fillRect/>
          </a:stretch>
        </p:blipFill>
        <p:spPr>
          <a:xfrm>
            <a:off x="98714" y="495254"/>
            <a:ext cx="3257892" cy="2136532"/>
          </a:xfrm>
          <a:prstGeom prst="rect">
            <a:avLst/>
          </a:prstGeom>
        </p:spPr>
      </p:pic>
    </p:spTree>
    <p:extLst>
      <p:ext uri="{BB962C8B-B14F-4D97-AF65-F5344CB8AC3E}">
        <p14:creationId xmlns:p14="http://schemas.microsoft.com/office/powerpoint/2010/main" val="797713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1C3B9-4927-C5CA-337F-8BD46C5E69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18299E-4F8C-E104-9EB2-31B3B1C58EB1}"/>
              </a:ext>
            </a:extLst>
          </p:cNvPr>
          <p:cNvPicPr>
            <a:picLocks noChangeAspect="1"/>
          </p:cNvPicPr>
          <p:nvPr/>
        </p:nvPicPr>
        <p:blipFill>
          <a:blip r:embed="rId2"/>
          <a:stretch>
            <a:fillRect/>
          </a:stretch>
        </p:blipFill>
        <p:spPr>
          <a:xfrm>
            <a:off x="72735" y="497266"/>
            <a:ext cx="3647235" cy="2576134"/>
          </a:xfrm>
          <a:prstGeom prst="rect">
            <a:avLst/>
          </a:prstGeom>
        </p:spPr>
      </p:pic>
    </p:spTree>
    <p:extLst>
      <p:ext uri="{BB962C8B-B14F-4D97-AF65-F5344CB8AC3E}">
        <p14:creationId xmlns:p14="http://schemas.microsoft.com/office/powerpoint/2010/main" val="1654189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7518A-9A08-2579-C0DA-D95AB50DCC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19304B-284C-E033-B990-98CEC136F467}"/>
              </a:ext>
            </a:extLst>
          </p:cNvPr>
          <p:cNvPicPr>
            <a:picLocks noChangeAspect="1"/>
          </p:cNvPicPr>
          <p:nvPr/>
        </p:nvPicPr>
        <p:blipFill>
          <a:blip r:embed="rId2"/>
          <a:stretch>
            <a:fillRect/>
          </a:stretch>
        </p:blipFill>
        <p:spPr>
          <a:xfrm>
            <a:off x="192231" y="563317"/>
            <a:ext cx="3484233" cy="2291873"/>
          </a:xfrm>
          <a:prstGeom prst="rect">
            <a:avLst/>
          </a:prstGeom>
        </p:spPr>
      </p:pic>
    </p:spTree>
    <p:extLst>
      <p:ext uri="{BB962C8B-B14F-4D97-AF65-F5344CB8AC3E}">
        <p14:creationId xmlns:p14="http://schemas.microsoft.com/office/powerpoint/2010/main" val="1450830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4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D</a:t>
            </a:r>
            <a:r>
              <a:rPr lang="en-US" cap="small">
                <a:solidFill>
                  <a:srgbClr val="FFFFFF"/>
                </a:solidFill>
              </a:rPr>
              <a:t>ebugging</a:t>
            </a:r>
            <a:r>
              <a:rPr lang="en-US">
                <a:solidFill>
                  <a:srgbClr val="FFFFFF"/>
                </a:solidFill>
              </a:rPr>
              <a:t> C</a:t>
            </a:r>
            <a:r>
              <a:rPr lang="en-US" cap="small">
                <a:solidFill>
                  <a:srgbClr val="FFFFFF"/>
                </a:solidFill>
              </a:rPr>
              <a:t>hecklist</a:t>
            </a:r>
            <a:endParaRPr/>
          </a:p>
        </p:txBody>
      </p:sp>
      <p:grpSp>
        <p:nvGrpSpPr>
          <p:cNvPr id="859" name="Google Shape;859;p47"/>
          <p:cNvGrpSpPr/>
          <p:nvPr/>
        </p:nvGrpSpPr>
        <p:grpSpPr>
          <a:xfrm>
            <a:off x="0" y="3109250"/>
            <a:ext cx="5760261" cy="92075"/>
            <a:chOff x="0" y="3109250"/>
            <a:chExt cx="5760261" cy="92075"/>
          </a:xfrm>
        </p:grpSpPr>
        <p:sp>
          <p:nvSpPr>
            <p:cNvPr id="860" name="Google Shape;860;p4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1" name="Google Shape;861;p4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2" name="Google Shape;862;p4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63" name="Google Shape;863;p4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64" name="Google Shape;864;p4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65" name="Google Shape;865;p4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46</a:t>
            </a:r>
            <a:endParaRPr/>
          </a:p>
        </p:txBody>
      </p:sp>
      <p:pic>
        <p:nvPicPr>
          <p:cNvPr id="866" name="Google Shape;866;p47"/>
          <p:cNvPicPr preferRelativeResize="0"/>
          <p:nvPr/>
        </p:nvPicPr>
        <p:blipFill>
          <a:blip r:embed="rId4">
            <a:alphaModFix/>
          </a:blip>
          <a:stretch>
            <a:fillRect/>
          </a:stretch>
        </p:blipFill>
        <p:spPr>
          <a:xfrm>
            <a:off x="152400" y="550235"/>
            <a:ext cx="5322624" cy="2406616"/>
          </a:xfrm>
          <a:prstGeom prst="rect">
            <a:avLst/>
          </a:prstGeom>
          <a:noFill/>
          <a:ln>
            <a:noFill/>
          </a:ln>
        </p:spPr>
      </p:pic>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72" name="Google Shape;872;p4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73" name="Google Shape;873;p4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74" name="Google Shape;874;p4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75" name="Google Shape;875;p4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76" name="Google Shape;876;p4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77" name="Google Shape;877;p4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78" name="Google Shape;878;p4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79" name="Google Shape;879;p4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80" name="Google Shape;880;p4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81" name="Google Shape;881;p4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82" name="Google Shape;882;p4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83" name="Google Shape;883;p4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84" name="Google Shape;884;p4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85" name="Google Shape;885;p4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86" name="Google Shape;886;p4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87" name="Google Shape;887;p4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8</a:t>
            </a:r>
            <a:endParaRPr sz="800">
              <a:latin typeface="Calibri"/>
              <a:ea typeface="Calibri"/>
              <a:cs typeface="Calibri"/>
              <a:sym typeface="Calibri"/>
            </a:endParaRPr>
          </a:p>
        </p:txBody>
      </p:sp>
      <p:sp>
        <p:nvSpPr>
          <p:cNvPr id="888" name="Google Shape;888;p48"/>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89" name="Google Shape;889;p48"/>
          <p:cNvGrpSpPr/>
          <p:nvPr/>
        </p:nvGrpSpPr>
        <p:grpSpPr>
          <a:xfrm>
            <a:off x="0" y="3109250"/>
            <a:ext cx="5760261" cy="92075"/>
            <a:chOff x="0" y="3109250"/>
            <a:chExt cx="5760261" cy="92075"/>
          </a:xfrm>
        </p:grpSpPr>
        <p:sp>
          <p:nvSpPr>
            <p:cNvPr id="890" name="Google Shape;890;p4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1" name="Google Shape;891;p4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2" name="Google Shape;892;p4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93" name="Google Shape;893;p4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94" name="Google Shape;894;p4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5" name="Google Shape;895;p4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46</a:t>
            </a:r>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4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P</a:t>
            </a:r>
            <a:r>
              <a:rPr lang="en-US" cap="small">
                <a:solidFill>
                  <a:srgbClr val="FFFFFF"/>
                </a:solidFill>
              </a:rPr>
              <a:t>utting</a:t>
            </a:r>
            <a:r>
              <a:rPr lang="en-US">
                <a:solidFill>
                  <a:srgbClr val="FFFFFF"/>
                </a:solidFill>
              </a:rPr>
              <a:t> I</a:t>
            </a:r>
            <a:r>
              <a:rPr lang="en-US" cap="small">
                <a:solidFill>
                  <a:srgbClr val="FFFFFF"/>
                </a:solidFill>
              </a:rPr>
              <a:t>t</a:t>
            </a:r>
            <a:r>
              <a:rPr lang="en-US">
                <a:solidFill>
                  <a:srgbClr val="FFFFFF"/>
                </a:solidFill>
              </a:rPr>
              <a:t> A</a:t>
            </a:r>
            <a:r>
              <a:rPr lang="en-US" cap="small">
                <a:solidFill>
                  <a:srgbClr val="FFFFFF"/>
                </a:solidFill>
              </a:rPr>
              <a:t>ll</a:t>
            </a:r>
            <a:r>
              <a:rPr lang="en-US">
                <a:solidFill>
                  <a:srgbClr val="FFFFFF"/>
                </a:solidFill>
              </a:rPr>
              <a:t> T</a:t>
            </a:r>
            <a:r>
              <a:rPr lang="en-US" cap="small">
                <a:solidFill>
                  <a:srgbClr val="FFFFFF"/>
                </a:solidFill>
              </a:rPr>
              <a:t>ogether</a:t>
            </a:r>
            <a:endParaRPr/>
          </a:p>
        </p:txBody>
      </p:sp>
      <p:grpSp>
        <p:nvGrpSpPr>
          <p:cNvPr id="901" name="Google Shape;901;p49"/>
          <p:cNvGrpSpPr/>
          <p:nvPr/>
        </p:nvGrpSpPr>
        <p:grpSpPr>
          <a:xfrm>
            <a:off x="1079987" y="504721"/>
            <a:ext cx="3600207" cy="2340448"/>
            <a:chOff x="1079987" y="504721"/>
            <a:chExt cx="3600207" cy="2340448"/>
          </a:xfrm>
        </p:grpSpPr>
        <p:sp>
          <p:nvSpPr>
            <p:cNvPr id="902" name="Google Shape;902;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3" name="Google Shape;903;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4" name="Google Shape;904;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5" name="Google Shape;905;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6" name="Google Shape;906;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7" name="Google Shape;907;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8" name="Google Shape;908;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9" name="Google Shape;909;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10" name="Google Shape;910;p49"/>
          <p:cNvSpPr txBox="1"/>
          <p:nvPr/>
        </p:nvSpPr>
        <p:spPr>
          <a:xfrm>
            <a:off x="2054809" y="1560403"/>
            <a:ext cx="16510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b="1">
                <a:solidFill>
                  <a:srgbClr val="EC2027"/>
                </a:solidFill>
                <a:latin typeface="Arial"/>
                <a:ea typeface="Arial"/>
                <a:cs typeface="Arial"/>
                <a:sym typeface="Arial"/>
              </a:rPr>
              <a:t>Linear Regression Model</a:t>
            </a:r>
            <a:endParaRPr sz="1050">
              <a:latin typeface="Arial"/>
              <a:ea typeface="Arial"/>
              <a:cs typeface="Arial"/>
              <a:sym typeface="Arial"/>
            </a:endParaRPr>
          </a:p>
        </p:txBody>
      </p:sp>
      <p:sp>
        <p:nvSpPr>
          <p:cNvPr id="911" name="Google Shape;911;p49"/>
          <p:cNvSpPr txBox="1"/>
          <p:nvPr/>
        </p:nvSpPr>
        <p:spPr>
          <a:xfrm>
            <a:off x="1061636" y="537323"/>
            <a:ext cx="1477010" cy="685800"/>
          </a:xfrm>
          <a:prstGeom prst="rect">
            <a:avLst/>
          </a:prstGeom>
          <a:noFill/>
          <a:ln>
            <a:noFill/>
          </a:ln>
        </p:spPr>
        <p:txBody>
          <a:bodyPr spcFirstLastPara="1" wrap="square" lIns="0" tIns="16500" rIns="0" bIns="0" anchor="t" anchorCtr="0">
            <a:spAutoFit/>
          </a:bodyPr>
          <a:lstStyle/>
          <a:p>
            <a:pPr marL="89535" lvl="0" indent="0" algn="l" rtl="0">
              <a:lnSpc>
                <a:spcPct val="100000"/>
              </a:lnSpc>
              <a:spcBef>
                <a:spcPts val="0"/>
              </a:spcBef>
              <a:spcAft>
                <a:spcPts val="0"/>
              </a:spcAft>
              <a:buNone/>
            </a:pPr>
            <a:r>
              <a:rPr lang="en-US" sz="950" b="1" dirty="0">
                <a:solidFill>
                  <a:srgbClr val="1B1472"/>
                </a:solidFill>
                <a:latin typeface="Arial"/>
                <a:ea typeface="Arial"/>
                <a:cs typeface="Arial"/>
                <a:sym typeface="Arial"/>
              </a:rPr>
              <a:t>1. Data &amp; Initialization</a:t>
            </a:r>
            <a:endParaRPr sz="950" dirty="0">
              <a:latin typeface="Arial"/>
              <a:ea typeface="Arial"/>
              <a:cs typeface="Arial"/>
              <a:sym typeface="Arial"/>
            </a:endParaRPr>
          </a:p>
          <a:p>
            <a:pPr marL="0" lvl="0" indent="0" algn="l" rtl="0">
              <a:lnSpc>
                <a:spcPct val="100000"/>
              </a:lnSpc>
              <a:spcBef>
                <a:spcPts val="180"/>
              </a:spcBef>
              <a:spcAft>
                <a:spcPts val="0"/>
              </a:spcAft>
              <a:buNone/>
            </a:pPr>
            <a:endParaRPr sz="950" dirty="0">
              <a:latin typeface="Arial"/>
              <a:ea typeface="Arial"/>
              <a:cs typeface="Arial"/>
              <a:sym typeface="Arial"/>
            </a:endParaRPr>
          </a:p>
          <a:p>
            <a:pPr marL="0" lvl="0" indent="0" algn="ctr" rtl="0">
              <a:lnSpc>
                <a:spcPct val="100000"/>
              </a:lnSpc>
              <a:spcBef>
                <a:spcPts val="5"/>
              </a:spcBef>
              <a:spcAft>
                <a:spcPts val="0"/>
              </a:spcAft>
              <a:buNone/>
            </a:pPr>
            <a:r>
              <a:rPr lang="en-US" sz="1100" dirty="0">
                <a:latin typeface="Lucida Sans"/>
                <a:ea typeface="Lucida Sans"/>
                <a:cs typeface="Lucida Sans"/>
                <a:sym typeface="Lucida Sans"/>
              </a:rPr>
              <a:t>D </a:t>
            </a:r>
            <a:r>
              <a:rPr lang="en-US" sz="1100" dirty="0">
                <a:latin typeface="Tahoma"/>
                <a:ea typeface="Tahoma"/>
                <a:cs typeface="Tahoma"/>
                <a:sym typeface="Tahoma"/>
              </a:rPr>
              <a:t>= </a:t>
            </a:r>
            <a:r>
              <a:rPr lang="en-US" sz="1100" dirty="0">
                <a:latin typeface="Lucida Sans"/>
                <a:ea typeface="Lucida Sans"/>
                <a:cs typeface="Lucida Sans"/>
                <a:sym typeface="Lucida Sans"/>
              </a:rPr>
              <a:t>{</a:t>
            </a:r>
            <a:r>
              <a:rPr lang="en-US" sz="1100" dirty="0">
                <a:latin typeface="Tahoma"/>
                <a:ea typeface="Tahoma"/>
                <a:cs typeface="Tahoma"/>
                <a:sym typeface="Tahoma"/>
              </a:rPr>
              <a:t>(</a:t>
            </a:r>
            <a:r>
              <a:rPr lang="en-US" sz="950" b="1" dirty="0">
                <a:latin typeface="Arial"/>
                <a:ea typeface="Arial"/>
                <a:cs typeface="Arial"/>
                <a:sym typeface="Arial"/>
              </a:rPr>
              <a:t>x</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i="1" dirty="0">
                <a:latin typeface="Georgia"/>
                <a:ea typeface="Georgia"/>
                <a:cs typeface="Georgia"/>
                <a:sym typeface="Georgia"/>
              </a:rPr>
              <a:t>, </a:t>
            </a:r>
            <a:r>
              <a:rPr lang="en-US" sz="950" i="1" dirty="0">
                <a:latin typeface="Arial"/>
                <a:ea typeface="Arial"/>
                <a:cs typeface="Arial"/>
                <a:sym typeface="Arial"/>
              </a:rPr>
              <a:t>y </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dirty="0">
                <a:latin typeface="Tahoma"/>
                <a:ea typeface="Tahoma"/>
                <a:cs typeface="Tahoma"/>
                <a:sym typeface="Tahoma"/>
              </a:rPr>
              <a:t>)</a:t>
            </a:r>
            <a:r>
              <a:rPr lang="en-US" sz="1100" dirty="0">
                <a:latin typeface="Lucida Sans"/>
                <a:ea typeface="Lucida Sans"/>
                <a:cs typeface="Lucida Sans"/>
                <a:sym typeface="Lucida Sans"/>
              </a:rPr>
              <a:t>}</a:t>
            </a:r>
            <a:endParaRPr sz="1100" dirty="0">
              <a:latin typeface="Lucida Sans"/>
              <a:ea typeface="Lucida Sans"/>
              <a:cs typeface="Lucida Sans"/>
              <a:sym typeface="Lucida Sans"/>
            </a:endParaRPr>
          </a:p>
          <a:p>
            <a:pPr marL="0" lvl="0" indent="0" algn="ctr" rtl="0">
              <a:lnSpc>
                <a:spcPct val="100000"/>
              </a:lnSpc>
              <a:spcBef>
                <a:spcPts val="110"/>
              </a:spcBef>
              <a:spcAft>
                <a:spcPts val="0"/>
              </a:spcAft>
              <a:buNone/>
            </a:pPr>
            <a:r>
              <a:rPr lang="en-US" sz="1425" b="1" baseline="-25000" dirty="0">
                <a:latin typeface="Arial"/>
                <a:ea typeface="Arial"/>
                <a:cs typeface="Arial"/>
                <a:sym typeface="Arial"/>
              </a:rPr>
              <a:t>w</a:t>
            </a:r>
            <a:r>
              <a:rPr lang="en-US" sz="800" dirty="0">
                <a:latin typeface="Tahoma"/>
                <a:ea typeface="Tahoma"/>
                <a:cs typeface="Tahoma"/>
                <a:sym typeface="Tahoma"/>
              </a:rPr>
              <a:t>(</a:t>
            </a:r>
            <a:r>
              <a:rPr lang="en-US" sz="700" dirty="0">
                <a:latin typeface="Arial"/>
                <a:ea typeface="Arial"/>
                <a:cs typeface="Arial"/>
                <a:sym typeface="Arial"/>
              </a:rPr>
              <a:t>0</a:t>
            </a:r>
            <a:r>
              <a:rPr lang="en-US" sz="800" dirty="0">
                <a:latin typeface="Tahoma"/>
                <a:ea typeface="Tahoma"/>
                <a:cs typeface="Tahoma"/>
                <a:sym typeface="Tahoma"/>
              </a:rPr>
              <a:t>) </a:t>
            </a:r>
            <a:r>
              <a:rPr lang="en-US" sz="1650" baseline="-25000" dirty="0">
                <a:latin typeface="Tahoma"/>
                <a:ea typeface="Tahoma"/>
                <a:cs typeface="Tahoma"/>
                <a:sym typeface="Tahoma"/>
              </a:rPr>
              <a:t>= </a:t>
            </a:r>
            <a:r>
              <a:rPr lang="en-US" sz="1425" b="1" baseline="-25000" dirty="0">
                <a:latin typeface="Arial"/>
                <a:ea typeface="Arial"/>
                <a:cs typeface="Arial"/>
                <a:sym typeface="Arial"/>
              </a:rPr>
              <a:t>0</a:t>
            </a:r>
            <a:endParaRPr sz="1425" baseline="-25000" dirty="0">
              <a:latin typeface="Arial"/>
              <a:ea typeface="Arial"/>
              <a:cs typeface="Arial"/>
              <a:sym typeface="Arial"/>
            </a:endParaRPr>
          </a:p>
        </p:txBody>
      </p:sp>
      <p:grpSp>
        <p:nvGrpSpPr>
          <p:cNvPr id="912" name="Google Shape;912;p49"/>
          <p:cNvGrpSpPr/>
          <p:nvPr/>
        </p:nvGrpSpPr>
        <p:grpSpPr>
          <a:xfrm>
            <a:off x="3533072" y="671776"/>
            <a:ext cx="804407" cy="565901"/>
            <a:chOff x="3533072" y="671776"/>
            <a:chExt cx="804407" cy="565901"/>
          </a:xfrm>
        </p:grpSpPr>
        <p:pic>
          <p:nvPicPr>
            <p:cNvPr id="913" name="Google Shape;913;p49"/>
            <p:cNvPicPr preferRelativeResize="0"/>
            <p:nvPr/>
          </p:nvPicPr>
          <p:blipFill rotWithShape="1">
            <a:blip r:embed="rId3">
              <a:alphaModFix/>
            </a:blip>
            <a:srcRect/>
            <a:stretch/>
          </p:blipFill>
          <p:spPr>
            <a:xfrm>
              <a:off x="3533072" y="671776"/>
              <a:ext cx="133892" cy="133892"/>
            </a:xfrm>
            <a:prstGeom prst="rect">
              <a:avLst/>
            </a:prstGeom>
            <a:noFill/>
            <a:ln>
              <a:noFill/>
            </a:ln>
          </p:spPr>
        </p:pic>
        <p:pic>
          <p:nvPicPr>
            <p:cNvPr id="914" name="Google Shape;914;p49"/>
            <p:cNvPicPr preferRelativeResize="0"/>
            <p:nvPr/>
          </p:nvPicPr>
          <p:blipFill rotWithShape="1">
            <a:blip r:embed="rId3">
              <a:alphaModFix/>
            </a:blip>
            <a:srcRect/>
            <a:stretch/>
          </p:blipFill>
          <p:spPr>
            <a:xfrm>
              <a:off x="3533072" y="887781"/>
              <a:ext cx="133892" cy="133892"/>
            </a:xfrm>
            <a:prstGeom prst="rect">
              <a:avLst/>
            </a:prstGeom>
            <a:noFill/>
            <a:ln>
              <a:noFill/>
            </a:ln>
          </p:spPr>
        </p:pic>
        <p:pic>
          <p:nvPicPr>
            <p:cNvPr id="915" name="Google Shape;915;p49"/>
            <p:cNvPicPr preferRelativeResize="0"/>
            <p:nvPr/>
          </p:nvPicPr>
          <p:blipFill rotWithShape="1">
            <a:blip r:embed="rId4">
              <a:alphaModFix/>
            </a:blip>
            <a:srcRect/>
            <a:stretch/>
          </p:blipFill>
          <p:spPr>
            <a:xfrm>
              <a:off x="3533072" y="1103785"/>
              <a:ext cx="133892" cy="133892"/>
            </a:xfrm>
            <a:prstGeom prst="rect">
              <a:avLst/>
            </a:prstGeom>
            <a:noFill/>
            <a:ln>
              <a:noFill/>
            </a:ln>
          </p:spPr>
        </p:pic>
        <p:pic>
          <p:nvPicPr>
            <p:cNvPr id="916" name="Google Shape;916;p49"/>
            <p:cNvPicPr preferRelativeResize="0"/>
            <p:nvPr/>
          </p:nvPicPr>
          <p:blipFill rotWithShape="1">
            <a:blip r:embed="rId5">
              <a:alphaModFix/>
            </a:blip>
            <a:srcRect/>
            <a:stretch/>
          </p:blipFill>
          <p:spPr>
            <a:xfrm>
              <a:off x="3948729" y="835431"/>
              <a:ext cx="238592" cy="238592"/>
            </a:xfrm>
            <a:prstGeom prst="rect">
              <a:avLst/>
            </a:prstGeom>
            <a:noFill/>
            <a:ln>
              <a:noFill/>
            </a:ln>
          </p:spPr>
        </p:pic>
        <p:sp>
          <p:nvSpPr>
            <p:cNvPr id="917" name="Google Shape;917;p49"/>
            <p:cNvSpPr/>
            <p:nvPr/>
          </p:nvSpPr>
          <p:spPr>
            <a:xfrm>
              <a:off x="3660799" y="766775"/>
              <a:ext cx="290195" cy="133985"/>
            </a:xfrm>
            <a:custGeom>
              <a:avLst/>
              <a:gdLst/>
              <a:ahLst/>
              <a:cxnLst/>
              <a:rect l="l" t="t" r="r" b="b"/>
              <a:pathLst>
                <a:path w="290195" h="133984" extrusionOk="0">
                  <a:moveTo>
                    <a:pt x="0" y="0"/>
                  </a:moveTo>
                  <a:lnTo>
                    <a:pt x="289725" y="13372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8" name="Google Shape;918;p49"/>
            <p:cNvSpPr/>
            <p:nvPr/>
          </p:nvSpPr>
          <p:spPr>
            <a:xfrm>
              <a:off x="3909155" y="853172"/>
              <a:ext cx="46355" cy="71755"/>
            </a:xfrm>
            <a:custGeom>
              <a:avLst/>
              <a:gdLst/>
              <a:ahLst/>
              <a:cxnLst/>
              <a:rect l="l" t="t" r="r" b="b"/>
              <a:pathLst>
                <a:path w="46354" h="71755" extrusionOk="0">
                  <a:moveTo>
                    <a:pt x="33111" y="0"/>
                  </a:moveTo>
                  <a:lnTo>
                    <a:pt x="31771" y="16480"/>
                  </a:lnTo>
                  <a:lnTo>
                    <a:pt x="34028" y="30066"/>
                  </a:lnTo>
                  <a:lnTo>
                    <a:pt x="39040" y="40979"/>
                  </a:lnTo>
                  <a:lnTo>
                    <a:pt x="45964" y="49444"/>
                  </a:lnTo>
                  <a:lnTo>
                    <a:pt x="35031" y="49667"/>
                  </a:lnTo>
                  <a:lnTo>
                    <a:pt x="23474" y="52934"/>
                  </a:lnTo>
                  <a:lnTo>
                    <a:pt x="11671" y="60030"/>
                  </a:lnTo>
                  <a:lnTo>
                    <a:pt x="0"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9" name="Google Shape;919;p49"/>
            <p:cNvSpPr/>
            <p:nvPr/>
          </p:nvSpPr>
          <p:spPr>
            <a:xfrm>
              <a:off x="3666964" y="954727"/>
              <a:ext cx="271780" cy="0"/>
            </a:xfrm>
            <a:custGeom>
              <a:avLst/>
              <a:gdLst/>
              <a:ahLst/>
              <a:cxnLst/>
              <a:rect l="l" t="t" r="r" b="b"/>
              <a:pathLst>
                <a:path w="271779" h="120000" extrusionOk="0">
                  <a:moveTo>
                    <a:pt x="0" y="0"/>
                  </a:moveTo>
                  <a:lnTo>
                    <a:pt x="271642"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0" name="Google Shape;920;p49"/>
            <p:cNvSpPr/>
            <p:nvPr/>
          </p:nvSpPr>
          <p:spPr>
            <a:xfrm>
              <a:off x="3911277"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1" name="Google Shape;921;p49"/>
            <p:cNvSpPr/>
            <p:nvPr/>
          </p:nvSpPr>
          <p:spPr>
            <a:xfrm>
              <a:off x="3660799" y="1008958"/>
              <a:ext cx="290195" cy="133985"/>
            </a:xfrm>
            <a:custGeom>
              <a:avLst/>
              <a:gdLst/>
              <a:ahLst/>
              <a:cxnLst/>
              <a:rect l="l" t="t" r="r" b="b"/>
              <a:pathLst>
                <a:path w="290195" h="133984" extrusionOk="0">
                  <a:moveTo>
                    <a:pt x="0" y="133720"/>
                  </a:moveTo>
                  <a:lnTo>
                    <a:pt x="28972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2" name="Google Shape;922;p49"/>
            <p:cNvSpPr/>
            <p:nvPr/>
          </p:nvSpPr>
          <p:spPr>
            <a:xfrm>
              <a:off x="3909155" y="984539"/>
              <a:ext cx="46355" cy="71755"/>
            </a:xfrm>
            <a:custGeom>
              <a:avLst/>
              <a:gdLst/>
              <a:ahLst/>
              <a:cxnLst/>
              <a:rect l="l" t="t" r="r" b="b"/>
              <a:pathLst>
                <a:path w="46354" h="71755" extrusionOk="0">
                  <a:moveTo>
                    <a:pt x="0" y="0"/>
                  </a:moveTo>
                  <a:lnTo>
                    <a:pt x="11671" y="11712"/>
                  </a:lnTo>
                  <a:lnTo>
                    <a:pt x="23474" y="18808"/>
                  </a:lnTo>
                  <a:lnTo>
                    <a:pt x="35031" y="22075"/>
                  </a:lnTo>
                  <a:lnTo>
                    <a:pt x="45964" y="22298"/>
                  </a:lnTo>
                  <a:lnTo>
                    <a:pt x="39040" y="30763"/>
                  </a:lnTo>
                  <a:lnTo>
                    <a:pt x="34028" y="41676"/>
                  </a:lnTo>
                  <a:lnTo>
                    <a:pt x="31771" y="55262"/>
                  </a:lnTo>
                  <a:lnTo>
                    <a:pt x="33111"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3" name="Google Shape;923;p49"/>
            <p:cNvSpPr/>
            <p:nvPr/>
          </p:nvSpPr>
          <p:spPr>
            <a:xfrm>
              <a:off x="4187321" y="954727"/>
              <a:ext cx="145415" cy="0"/>
            </a:xfrm>
            <a:custGeom>
              <a:avLst/>
              <a:gdLst/>
              <a:ahLst/>
              <a:cxnLst/>
              <a:rect l="l" t="t" r="r" b="b"/>
              <a:pathLst>
                <a:path w="145414" h="120000" extrusionOk="0">
                  <a:moveTo>
                    <a:pt x="0" y="0"/>
                  </a:moveTo>
                  <a:lnTo>
                    <a:pt x="145103"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4" name="Google Shape;924;p49"/>
            <p:cNvSpPr/>
            <p:nvPr/>
          </p:nvSpPr>
          <p:spPr>
            <a:xfrm>
              <a:off x="4305095"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25" name="Google Shape;925;p49"/>
          <p:cNvSpPr txBox="1"/>
          <p:nvPr/>
        </p:nvSpPr>
        <p:spPr>
          <a:xfrm>
            <a:off x="3221663" y="535633"/>
            <a:ext cx="1477010" cy="827405"/>
          </a:xfrm>
          <a:prstGeom prst="rect">
            <a:avLst/>
          </a:prstGeom>
          <a:noFill/>
          <a:ln>
            <a:noFill/>
          </a:ln>
        </p:spPr>
        <p:txBody>
          <a:bodyPr spcFirstLastPara="1" wrap="square" lIns="0" tIns="16500" rIns="0" bIns="0" anchor="t" anchorCtr="0">
            <a:spAutoFit/>
          </a:bodyPr>
          <a:lstStyle/>
          <a:p>
            <a:pPr marL="484505" lvl="0" indent="0" algn="l" rtl="0">
              <a:lnSpc>
                <a:spcPct val="107263"/>
              </a:lnSpc>
              <a:spcBef>
                <a:spcPts val="0"/>
              </a:spcBef>
              <a:spcAft>
                <a:spcPts val="0"/>
              </a:spcAft>
              <a:buNone/>
            </a:pPr>
            <a:r>
              <a:rPr lang="en-US" sz="950" b="1">
                <a:solidFill>
                  <a:srgbClr val="1B1472"/>
                </a:solidFill>
                <a:latin typeface="Arial"/>
                <a:ea typeface="Arial"/>
                <a:cs typeface="Arial"/>
                <a:sym typeface="Arial"/>
              </a:rPr>
              <a:t>2. Model</a:t>
            </a:r>
            <a:endParaRPr sz="950">
              <a:latin typeface="Arial"/>
              <a:ea typeface="Arial"/>
              <a:cs typeface="Arial"/>
              <a:sym typeface="Arial"/>
            </a:endParaRPr>
          </a:p>
          <a:p>
            <a:pPr marL="154940" lvl="0" indent="0" algn="l" rtl="0">
              <a:lnSpc>
                <a:spcPct val="96000"/>
              </a:lnSpc>
              <a:spcBef>
                <a:spcPts val="0"/>
              </a:spcBef>
              <a:spcAft>
                <a:spcPts val="0"/>
              </a:spcAft>
              <a:buNone/>
            </a:pPr>
            <a:r>
              <a:rPr lang="en-US" sz="700" i="1">
                <a:latin typeface="Arial"/>
                <a:ea typeface="Arial"/>
                <a:cs typeface="Arial"/>
                <a:sym typeface="Arial"/>
              </a:rPr>
              <a:t>x</a:t>
            </a:r>
            <a:r>
              <a:rPr lang="en-US" sz="750" baseline="-25000">
                <a:latin typeface="Arial"/>
                <a:ea typeface="Arial"/>
                <a:cs typeface="Arial"/>
                <a:sym typeface="Arial"/>
              </a:rPr>
              <a:t>1</a:t>
            </a:r>
            <a:endParaRPr sz="750" baseline="-25000">
              <a:latin typeface="Arial"/>
              <a:ea typeface="Arial"/>
              <a:cs typeface="Arial"/>
              <a:sym typeface="Arial"/>
            </a:endParaRPr>
          </a:p>
          <a:p>
            <a:pPr marL="0" lvl="0" indent="0" algn="l" rtl="0">
              <a:lnSpc>
                <a:spcPct val="100000"/>
              </a:lnSpc>
              <a:spcBef>
                <a:spcPts val="40"/>
              </a:spcBef>
              <a:spcAft>
                <a:spcPts val="0"/>
              </a:spcAft>
              <a:buNone/>
            </a:pPr>
            <a:endParaRPr sz="500">
              <a:latin typeface="Arial"/>
              <a:ea typeface="Arial"/>
              <a:cs typeface="Arial"/>
              <a:sym typeface="Arial"/>
            </a:endParaRPr>
          </a:p>
          <a:p>
            <a:pPr marL="154940" lvl="0" indent="0" algn="l" rtl="0">
              <a:lnSpc>
                <a:spcPct val="100000"/>
              </a:lnSpc>
              <a:spcBef>
                <a:spcPts val="0"/>
              </a:spcBef>
              <a:spcAft>
                <a:spcPts val="0"/>
              </a:spcAft>
              <a:buNone/>
            </a:pPr>
            <a:r>
              <a:rPr lang="en-US" sz="1050" i="1" baseline="30000">
                <a:latin typeface="Arial"/>
                <a:ea typeface="Arial"/>
                <a:cs typeface="Arial"/>
                <a:sym typeface="Arial"/>
              </a:rPr>
              <a:t>x</a:t>
            </a:r>
            <a:r>
              <a:rPr lang="en-US" sz="750" baseline="30000">
                <a:latin typeface="Arial"/>
                <a:ea typeface="Arial"/>
                <a:cs typeface="Arial"/>
                <a:sym typeface="Arial"/>
              </a:rPr>
              <a:t>2	</a:t>
            </a:r>
            <a:r>
              <a:rPr lang="en-US" sz="800">
                <a:latin typeface="Tahoma"/>
                <a:ea typeface="Tahoma"/>
                <a:cs typeface="Tahoma"/>
                <a:sym typeface="Tahoma"/>
              </a:rPr>
              <a:t>Σ	</a:t>
            </a:r>
            <a:r>
              <a:rPr lang="en-US" sz="950" i="1">
                <a:latin typeface="Arial"/>
                <a:ea typeface="Arial"/>
                <a:cs typeface="Arial"/>
                <a:sym typeface="Arial"/>
              </a:rPr>
              <a:t>y</a:t>
            </a:r>
            <a:r>
              <a:rPr lang="en-US" sz="1650" baseline="30000">
                <a:latin typeface="Tahoma"/>
                <a:ea typeface="Tahoma"/>
                <a:cs typeface="Tahoma"/>
                <a:sym typeface="Tahoma"/>
              </a:rPr>
              <a:t>ˆ</a:t>
            </a:r>
            <a:endParaRPr sz="1650" baseline="30000">
              <a:latin typeface="Tahoma"/>
              <a:ea typeface="Tahoma"/>
              <a:cs typeface="Tahoma"/>
              <a:sym typeface="Tahoma"/>
            </a:endParaRPr>
          </a:p>
          <a:p>
            <a:pPr marL="0" lvl="0" indent="0" algn="l" rtl="0">
              <a:lnSpc>
                <a:spcPct val="100000"/>
              </a:lnSpc>
              <a:spcBef>
                <a:spcPts val="15"/>
              </a:spcBef>
              <a:spcAft>
                <a:spcPts val="0"/>
              </a:spcAft>
              <a:buNone/>
            </a:pPr>
            <a:endParaRPr sz="500">
              <a:latin typeface="Tahoma"/>
              <a:ea typeface="Tahoma"/>
              <a:cs typeface="Tahoma"/>
              <a:sym typeface="Tahoma"/>
            </a:endParaRPr>
          </a:p>
          <a:p>
            <a:pPr marL="148590" lvl="0" indent="0" algn="l" rtl="0">
              <a:lnSpc>
                <a:spcPct val="100000"/>
              </a:lnSpc>
              <a:spcBef>
                <a:spcPts val="0"/>
              </a:spcBef>
              <a:spcAft>
                <a:spcPts val="0"/>
              </a:spcAft>
              <a:buNone/>
            </a:pPr>
            <a:r>
              <a:rPr lang="en-US" sz="700" i="1">
                <a:latin typeface="Arial"/>
                <a:ea typeface="Arial"/>
                <a:cs typeface="Arial"/>
                <a:sym typeface="Arial"/>
              </a:rPr>
              <a:t>x</a:t>
            </a:r>
            <a:r>
              <a:rPr lang="en-US" sz="750" i="1" baseline="-25000">
                <a:latin typeface="Arial"/>
                <a:ea typeface="Arial"/>
                <a:cs typeface="Arial"/>
                <a:sym typeface="Arial"/>
              </a:rPr>
              <a:t>d</a:t>
            </a:r>
            <a:endParaRPr sz="750" baseline="-25000">
              <a:latin typeface="Arial"/>
              <a:ea typeface="Arial"/>
              <a:cs typeface="Arial"/>
              <a:sym typeface="Arial"/>
            </a:endParaRPr>
          </a:p>
          <a:p>
            <a:pPr marL="323215" lvl="0" indent="0" algn="l" rtl="0">
              <a:lnSpc>
                <a:spcPct val="100000"/>
              </a:lnSpc>
              <a:spcBef>
                <a:spcPts val="305"/>
              </a:spcBef>
              <a:spcAft>
                <a:spcPts val="0"/>
              </a:spcAft>
              <a:buNone/>
            </a:pPr>
            <a:r>
              <a:rPr lang="en-US" sz="700">
                <a:latin typeface="Arial"/>
                <a:ea typeface="Arial"/>
                <a:cs typeface="Arial"/>
                <a:sym typeface="Arial"/>
              </a:rPr>
              <a:t>Linear Activation Function</a:t>
            </a:r>
            <a:endParaRPr sz="700">
              <a:latin typeface="Arial"/>
              <a:ea typeface="Arial"/>
              <a:cs typeface="Arial"/>
              <a:sym typeface="Arial"/>
            </a:endParaRPr>
          </a:p>
        </p:txBody>
      </p:sp>
      <p:grpSp>
        <p:nvGrpSpPr>
          <p:cNvPr id="926" name="Google Shape;926;p49"/>
          <p:cNvGrpSpPr/>
          <p:nvPr/>
        </p:nvGrpSpPr>
        <p:grpSpPr>
          <a:xfrm>
            <a:off x="3600018" y="2322745"/>
            <a:ext cx="720090" cy="205307"/>
            <a:chOff x="3600018" y="2322745"/>
            <a:chExt cx="720090" cy="205307"/>
          </a:xfrm>
        </p:grpSpPr>
        <p:sp>
          <p:nvSpPr>
            <p:cNvPr id="927" name="Google Shape;927;p49"/>
            <p:cNvSpPr/>
            <p:nvPr/>
          </p:nvSpPr>
          <p:spPr>
            <a:xfrm>
              <a:off x="3600018" y="2322745"/>
              <a:ext cx="720090" cy="180340"/>
            </a:xfrm>
            <a:custGeom>
              <a:avLst/>
              <a:gdLst/>
              <a:ahLst/>
              <a:cxnLst/>
              <a:rect l="l" t="t" r="r" b="b"/>
              <a:pathLst>
                <a:path w="720089" h="180339" extrusionOk="0">
                  <a:moveTo>
                    <a:pt x="0" y="0"/>
                  </a:moveTo>
                  <a:lnTo>
                    <a:pt x="10612" y="10482"/>
                  </a:lnTo>
                  <a:lnTo>
                    <a:pt x="14689" y="14392"/>
                  </a:lnTo>
                  <a:lnTo>
                    <a:pt x="44066" y="41374"/>
                  </a:lnTo>
                  <a:lnTo>
                    <a:pt x="58755" y="53965"/>
                  </a:lnTo>
                  <a:lnTo>
                    <a:pt x="62831" y="57376"/>
                  </a:lnTo>
                  <a:lnTo>
                    <a:pt x="69368" y="62712"/>
                  </a:lnTo>
                  <a:lnTo>
                    <a:pt x="73444" y="65957"/>
                  </a:lnTo>
                  <a:lnTo>
                    <a:pt x="77520" y="69201"/>
                  </a:lnTo>
                  <a:lnTo>
                    <a:pt x="84057" y="74272"/>
                  </a:lnTo>
                  <a:lnTo>
                    <a:pt x="88133" y="77349"/>
                  </a:lnTo>
                  <a:lnTo>
                    <a:pt x="92209" y="80427"/>
                  </a:lnTo>
                  <a:lnTo>
                    <a:pt x="128124" y="105351"/>
                  </a:lnTo>
                  <a:lnTo>
                    <a:pt x="146889" y="116923"/>
                  </a:lnTo>
                  <a:lnTo>
                    <a:pt x="150965" y="119336"/>
                  </a:lnTo>
                  <a:lnTo>
                    <a:pt x="157501" y="123075"/>
                  </a:lnTo>
                  <a:lnTo>
                    <a:pt x="161577" y="125322"/>
                  </a:lnTo>
                  <a:lnTo>
                    <a:pt x="165653" y="127569"/>
                  </a:lnTo>
                  <a:lnTo>
                    <a:pt x="190955" y="140313"/>
                  </a:lnTo>
                  <a:lnTo>
                    <a:pt x="195031" y="142227"/>
                  </a:lnTo>
                  <a:lnTo>
                    <a:pt x="201568" y="145163"/>
                  </a:lnTo>
                  <a:lnTo>
                    <a:pt x="205644" y="146910"/>
                  </a:lnTo>
                  <a:lnTo>
                    <a:pt x="209720" y="148658"/>
                  </a:lnTo>
                  <a:lnTo>
                    <a:pt x="216257" y="151328"/>
                  </a:lnTo>
                  <a:lnTo>
                    <a:pt x="220333" y="152909"/>
                  </a:lnTo>
                  <a:lnTo>
                    <a:pt x="224409" y="154490"/>
                  </a:lnTo>
                  <a:lnTo>
                    <a:pt x="230946" y="156893"/>
                  </a:lnTo>
                  <a:lnTo>
                    <a:pt x="235022" y="158309"/>
                  </a:lnTo>
                  <a:lnTo>
                    <a:pt x="239098" y="159724"/>
                  </a:lnTo>
                  <a:lnTo>
                    <a:pt x="279089" y="170910"/>
                  </a:lnTo>
                  <a:lnTo>
                    <a:pt x="293778" y="173915"/>
                  </a:lnTo>
                  <a:lnTo>
                    <a:pt x="297854" y="174665"/>
                  </a:lnTo>
                  <a:lnTo>
                    <a:pt x="304391" y="175733"/>
                  </a:lnTo>
                  <a:lnTo>
                    <a:pt x="308467" y="176316"/>
                  </a:lnTo>
                  <a:lnTo>
                    <a:pt x="312543" y="176899"/>
                  </a:lnTo>
                  <a:lnTo>
                    <a:pt x="337844" y="179320"/>
                  </a:lnTo>
                  <a:lnTo>
                    <a:pt x="341920" y="179571"/>
                  </a:lnTo>
                  <a:lnTo>
                    <a:pt x="348457" y="179840"/>
                  </a:lnTo>
                  <a:lnTo>
                    <a:pt x="352533" y="179925"/>
                  </a:lnTo>
                  <a:lnTo>
                    <a:pt x="356609" y="180009"/>
                  </a:lnTo>
                  <a:lnTo>
                    <a:pt x="363146" y="180012"/>
                  </a:lnTo>
                  <a:lnTo>
                    <a:pt x="367222" y="179930"/>
                  </a:lnTo>
                  <a:lnTo>
                    <a:pt x="371298" y="179849"/>
                  </a:lnTo>
                  <a:lnTo>
                    <a:pt x="396600" y="178145"/>
                  </a:lnTo>
                  <a:lnTo>
                    <a:pt x="400676" y="177731"/>
                  </a:lnTo>
                  <a:lnTo>
                    <a:pt x="425978" y="173959"/>
                  </a:lnTo>
                  <a:lnTo>
                    <a:pt x="430054" y="173212"/>
                  </a:lnTo>
                  <a:lnTo>
                    <a:pt x="436591" y="171878"/>
                  </a:lnTo>
                  <a:lnTo>
                    <a:pt x="440667" y="170965"/>
                  </a:lnTo>
                  <a:lnTo>
                    <a:pt x="444743" y="170052"/>
                  </a:lnTo>
                  <a:lnTo>
                    <a:pt x="470044" y="163187"/>
                  </a:lnTo>
                  <a:lnTo>
                    <a:pt x="474120" y="161941"/>
                  </a:lnTo>
                  <a:lnTo>
                    <a:pt x="480657" y="159809"/>
                  </a:lnTo>
                  <a:lnTo>
                    <a:pt x="484733" y="158397"/>
                  </a:lnTo>
                  <a:lnTo>
                    <a:pt x="488809" y="156984"/>
                  </a:lnTo>
                  <a:lnTo>
                    <a:pt x="495346" y="154586"/>
                  </a:lnTo>
                  <a:lnTo>
                    <a:pt x="499422" y="153008"/>
                  </a:lnTo>
                  <a:lnTo>
                    <a:pt x="503498" y="151430"/>
                  </a:lnTo>
                  <a:lnTo>
                    <a:pt x="539413" y="135321"/>
                  </a:lnTo>
                  <a:lnTo>
                    <a:pt x="572867" y="117071"/>
                  </a:lnTo>
                  <a:lnTo>
                    <a:pt x="576943" y="114661"/>
                  </a:lnTo>
                  <a:lnTo>
                    <a:pt x="602244" y="98504"/>
                  </a:lnTo>
                  <a:lnTo>
                    <a:pt x="606321" y="95761"/>
                  </a:lnTo>
                  <a:lnTo>
                    <a:pt x="612857" y="91229"/>
                  </a:lnTo>
                  <a:lnTo>
                    <a:pt x="616933" y="88320"/>
                  </a:lnTo>
                  <a:lnTo>
                    <a:pt x="621009" y="85411"/>
                  </a:lnTo>
                  <a:lnTo>
                    <a:pt x="646311" y="66155"/>
                  </a:lnTo>
                  <a:lnTo>
                    <a:pt x="650387" y="62913"/>
                  </a:lnTo>
                  <a:lnTo>
                    <a:pt x="656924" y="57581"/>
                  </a:lnTo>
                  <a:lnTo>
                    <a:pt x="661000" y="54174"/>
                  </a:lnTo>
                  <a:lnTo>
                    <a:pt x="665076" y="50766"/>
                  </a:lnTo>
                  <a:lnTo>
                    <a:pt x="694454" y="24675"/>
                  </a:lnTo>
                  <a:lnTo>
                    <a:pt x="705067" y="14633"/>
                  </a:lnTo>
                  <a:lnTo>
                    <a:pt x="709143" y="10726"/>
                  </a:lnTo>
                  <a:lnTo>
                    <a:pt x="719756" y="252"/>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928" name="Google Shape;928;p49"/>
            <p:cNvPicPr preferRelativeResize="0"/>
            <p:nvPr/>
          </p:nvPicPr>
          <p:blipFill rotWithShape="1">
            <a:blip r:embed="rId6">
              <a:alphaModFix/>
            </a:blip>
            <a:srcRect/>
            <a:stretch/>
          </p:blipFill>
          <p:spPr>
            <a:xfrm>
              <a:off x="3934717" y="2353681"/>
              <a:ext cx="210368" cy="174371"/>
            </a:xfrm>
            <a:prstGeom prst="rect">
              <a:avLst/>
            </a:prstGeom>
            <a:noFill/>
            <a:ln>
              <a:noFill/>
            </a:ln>
          </p:spPr>
        </p:pic>
      </p:grpSp>
      <p:sp>
        <p:nvSpPr>
          <p:cNvPr id="929" name="Google Shape;929;p49"/>
          <p:cNvSpPr txBox="1"/>
          <p:nvPr/>
        </p:nvSpPr>
        <p:spPr>
          <a:xfrm>
            <a:off x="3247063" y="1978747"/>
            <a:ext cx="1426210" cy="814705"/>
          </a:xfrm>
          <a:prstGeom prst="rect">
            <a:avLst/>
          </a:prstGeom>
          <a:noFill/>
          <a:ln>
            <a:noFill/>
          </a:ln>
        </p:spPr>
        <p:txBody>
          <a:bodyPr spcFirstLastPara="1" wrap="square" lIns="0" tIns="16500" rIns="0" bIns="0" anchor="t" anchorCtr="0">
            <a:spAutoFit/>
          </a:bodyPr>
          <a:lstStyle/>
          <a:p>
            <a:pPr marL="358775" lvl="0" indent="0" algn="l" rtl="0">
              <a:lnSpc>
                <a:spcPct val="100000"/>
              </a:lnSpc>
              <a:spcBef>
                <a:spcPts val="0"/>
              </a:spcBef>
              <a:spcAft>
                <a:spcPts val="0"/>
              </a:spcAft>
              <a:buNone/>
            </a:pPr>
            <a:r>
              <a:rPr lang="en-US" sz="950" b="1">
                <a:solidFill>
                  <a:srgbClr val="1B1472"/>
                </a:solidFill>
                <a:latin typeface="Arial"/>
                <a:ea typeface="Arial"/>
                <a:cs typeface="Arial"/>
                <a:sym typeface="Arial"/>
              </a:rPr>
              <a:t>3. Objective</a:t>
            </a:r>
            <a:endParaRPr sz="950">
              <a:latin typeface="Arial"/>
              <a:ea typeface="Arial"/>
              <a:cs typeface="Arial"/>
              <a:sym typeface="Arial"/>
            </a:endParaRPr>
          </a:p>
          <a:p>
            <a:pPr marL="826135" lvl="0" indent="0" algn="l" rtl="0">
              <a:lnSpc>
                <a:spcPct val="100000"/>
              </a:lnSpc>
              <a:spcBef>
                <a:spcPts val="844"/>
              </a:spcBef>
              <a:spcAft>
                <a:spcPts val="0"/>
              </a:spcAft>
              <a:buNone/>
            </a:pPr>
            <a:r>
              <a:rPr lang="en-US" sz="500">
                <a:solidFill>
                  <a:srgbClr val="FF0000"/>
                </a:solidFill>
                <a:latin typeface="Arial"/>
                <a:ea typeface="Arial"/>
                <a:cs typeface="Arial"/>
                <a:sym typeface="Arial"/>
              </a:rPr>
              <a:t>minimum</a:t>
            </a:r>
            <a:endParaRPr sz="500">
              <a:latin typeface="Arial"/>
              <a:ea typeface="Arial"/>
              <a:cs typeface="Arial"/>
              <a:sym typeface="Arial"/>
            </a:endParaRPr>
          </a:p>
          <a:p>
            <a:pPr marL="0" lvl="0" indent="0" algn="l" rtl="0">
              <a:lnSpc>
                <a:spcPct val="100000"/>
              </a:lnSpc>
              <a:spcBef>
                <a:spcPts val="0"/>
              </a:spcBef>
              <a:spcAft>
                <a:spcPts val="0"/>
              </a:spcAft>
              <a:buNone/>
            </a:pPr>
            <a:endParaRPr sz="500">
              <a:latin typeface="Arial"/>
              <a:ea typeface="Arial"/>
              <a:cs typeface="Arial"/>
              <a:sym typeface="Arial"/>
            </a:endParaRPr>
          </a:p>
          <a:p>
            <a:pPr marL="0" lvl="0" indent="0" algn="l" rtl="0">
              <a:lnSpc>
                <a:spcPct val="100000"/>
              </a:lnSpc>
              <a:spcBef>
                <a:spcPts val="270"/>
              </a:spcBef>
              <a:spcAft>
                <a:spcPts val="0"/>
              </a:spcAft>
              <a:buNone/>
            </a:pPr>
            <a:endParaRPr sz="500">
              <a:latin typeface="Arial"/>
              <a:ea typeface="Arial"/>
              <a:cs typeface="Arial"/>
              <a:sym typeface="Arial"/>
            </a:endParaRPr>
          </a:p>
          <a:p>
            <a:pPr marL="0" lvl="0" indent="0" algn="ctr" rtl="0">
              <a:lnSpc>
                <a:spcPct val="100000"/>
              </a:lnSpc>
              <a:spcBef>
                <a:spcPts val="0"/>
              </a:spcBef>
              <a:spcAft>
                <a:spcPts val="0"/>
              </a:spcAft>
              <a:buNone/>
            </a:pPr>
            <a:r>
              <a:rPr lang="en-US" sz="700" i="1">
                <a:latin typeface="Arial"/>
                <a:ea typeface="Arial"/>
                <a:cs typeface="Arial"/>
                <a:sym typeface="Arial"/>
              </a:rPr>
              <a:t>J</a:t>
            </a:r>
            <a:r>
              <a:rPr lang="en-US" sz="800">
                <a:latin typeface="Tahoma"/>
                <a:ea typeface="Tahoma"/>
                <a:cs typeface="Tahoma"/>
                <a:sym typeface="Tahoma"/>
              </a:rPr>
              <a:t>(</a:t>
            </a:r>
            <a:r>
              <a:rPr lang="en-US" sz="700" b="1">
                <a:latin typeface="Arial"/>
                <a:ea typeface="Arial"/>
                <a:cs typeface="Arial"/>
                <a:sym typeface="Arial"/>
              </a:rPr>
              <a:t>w</a:t>
            </a:r>
            <a:r>
              <a:rPr lang="en-US" sz="800">
                <a:latin typeface="Tahoma"/>
                <a:ea typeface="Tahoma"/>
                <a:cs typeface="Tahoma"/>
                <a:sym typeface="Tahoma"/>
              </a:rPr>
              <a:t>)</a:t>
            </a:r>
            <a:endParaRPr sz="800">
              <a:latin typeface="Tahoma"/>
              <a:ea typeface="Tahoma"/>
              <a:cs typeface="Tahoma"/>
              <a:sym typeface="Tahoma"/>
            </a:endParaRPr>
          </a:p>
          <a:p>
            <a:pPr marL="0" lvl="0" indent="0" algn="ctr" rtl="0">
              <a:lnSpc>
                <a:spcPct val="100000"/>
              </a:lnSpc>
              <a:spcBef>
                <a:spcPts val="370"/>
              </a:spcBef>
              <a:spcAft>
                <a:spcPts val="0"/>
              </a:spcAft>
              <a:buNone/>
            </a:pPr>
            <a:r>
              <a:rPr lang="en-US" sz="700">
                <a:latin typeface="Arial"/>
                <a:ea typeface="Arial"/>
                <a:cs typeface="Arial"/>
                <a:sym typeface="Arial"/>
              </a:rPr>
              <a:t>MSE Loss Function</a:t>
            </a:r>
            <a:endParaRPr sz="700">
              <a:latin typeface="Arial"/>
              <a:ea typeface="Arial"/>
              <a:cs typeface="Arial"/>
              <a:sym typeface="Arial"/>
            </a:endParaRPr>
          </a:p>
        </p:txBody>
      </p:sp>
      <p:grpSp>
        <p:nvGrpSpPr>
          <p:cNvPr id="930" name="Google Shape;930;p49"/>
          <p:cNvGrpSpPr/>
          <p:nvPr/>
        </p:nvGrpSpPr>
        <p:grpSpPr>
          <a:xfrm>
            <a:off x="1246349" y="2302389"/>
            <a:ext cx="1150616" cy="401320"/>
            <a:chOff x="1246349" y="2302389"/>
            <a:chExt cx="1150616" cy="401320"/>
          </a:xfrm>
        </p:grpSpPr>
        <p:sp>
          <p:nvSpPr>
            <p:cNvPr id="931" name="Google Shape;931;p49"/>
            <p:cNvSpPr/>
            <p:nvPr/>
          </p:nvSpPr>
          <p:spPr>
            <a:xfrm>
              <a:off x="1246349" y="2345107"/>
              <a:ext cx="315595" cy="315595"/>
            </a:xfrm>
            <a:custGeom>
              <a:avLst/>
              <a:gdLst/>
              <a:ahLst/>
              <a:cxnLst/>
              <a:rect l="l" t="t" r="r" b="b"/>
              <a:pathLst>
                <a:path w="315594" h="315594" extrusionOk="0">
                  <a:moveTo>
                    <a:pt x="157639" y="0"/>
                  </a:move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lnTo>
                    <a:pt x="307243" y="107813"/>
                  </a:lnTo>
                  <a:lnTo>
                    <a:pt x="284864" y="64539"/>
                  </a:lnTo>
                  <a:lnTo>
                    <a:pt x="250740" y="30415"/>
                  </a:lnTo>
                  <a:lnTo>
                    <a:pt x="207466" y="8036"/>
                  </a:lnTo>
                  <a:lnTo>
                    <a:pt x="157639" y="0"/>
                  </a:lnTo>
                  <a:close/>
                </a:path>
              </a:pathLst>
            </a:custGeom>
            <a:solidFill>
              <a:srgbClr val="CCC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2" name="Google Shape;932;p49"/>
            <p:cNvSpPr/>
            <p:nvPr/>
          </p:nvSpPr>
          <p:spPr>
            <a:xfrm>
              <a:off x="1246349" y="2345107"/>
              <a:ext cx="315595" cy="315595"/>
            </a:xfrm>
            <a:custGeom>
              <a:avLst/>
              <a:gdLst/>
              <a:ahLst/>
              <a:cxnLst/>
              <a:rect l="l" t="t" r="r" b="b"/>
              <a:pathLst>
                <a:path w="315594" h="315594" extrusionOk="0">
                  <a:moveTo>
                    <a:pt x="315279" y="157640"/>
                  </a:moveTo>
                  <a:lnTo>
                    <a:pt x="307243" y="107813"/>
                  </a:lnTo>
                  <a:lnTo>
                    <a:pt x="284864" y="64539"/>
                  </a:lnTo>
                  <a:lnTo>
                    <a:pt x="250740" y="30415"/>
                  </a:lnTo>
                  <a:lnTo>
                    <a:pt x="207466" y="8036"/>
                  </a:lnTo>
                  <a:lnTo>
                    <a:pt x="157639" y="0"/>
                  </a:ln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close/>
                </a:path>
              </a:pathLst>
            </a:custGeom>
            <a:noFill/>
            <a:ln w="952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3" name="Google Shape;933;p49"/>
            <p:cNvSpPr/>
            <p:nvPr/>
          </p:nvSpPr>
          <p:spPr>
            <a:xfrm>
              <a:off x="1995645" y="2302389"/>
              <a:ext cx="401320" cy="401320"/>
            </a:xfrm>
            <a:custGeom>
              <a:avLst/>
              <a:gdLst/>
              <a:ahLst/>
              <a:cxnLst/>
              <a:rect l="l" t="t" r="r" b="b"/>
              <a:pathLst>
                <a:path w="401319" h="401319" extrusionOk="0">
                  <a:moveTo>
                    <a:pt x="200358" y="0"/>
                  </a:move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lnTo>
                    <a:pt x="395425" y="154417"/>
                  </a:lnTo>
                  <a:lnTo>
                    <a:pt x="380352" y="112245"/>
                  </a:lnTo>
                  <a:lnTo>
                    <a:pt x="356700" y="75043"/>
                  </a:lnTo>
                  <a:lnTo>
                    <a:pt x="325672" y="44016"/>
                  </a:lnTo>
                  <a:lnTo>
                    <a:pt x="288471" y="20364"/>
                  </a:lnTo>
                  <a:lnTo>
                    <a:pt x="246299" y="5291"/>
                  </a:lnTo>
                  <a:lnTo>
                    <a:pt x="200358" y="0"/>
                  </a:lnTo>
                  <a:close/>
                </a:path>
              </a:pathLst>
            </a:custGeom>
            <a:solidFill>
              <a:srgbClr val="99FF9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4" name="Google Shape;934;p49"/>
            <p:cNvSpPr/>
            <p:nvPr/>
          </p:nvSpPr>
          <p:spPr>
            <a:xfrm>
              <a:off x="1995645" y="2302389"/>
              <a:ext cx="401320" cy="401320"/>
            </a:xfrm>
            <a:custGeom>
              <a:avLst/>
              <a:gdLst/>
              <a:ahLst/>
              <a:cxnLst/>
              <a:rect l="l" t="t" r="r" b="b"/>
              <a:pathLst>
                <a:path w="401319" h="401319" extrusionOk="0">
                  <a:moveTo>
                    <a:pt x="400716" y="200358"/>
                  </a:moveTo>
                  <a:lnTo>
                    <a:pt x="395425" y="154417"/>
                  </a:lnTo>
                  <a:lnTo>
                    <a:pt x="380352" y="112245"/>
                  </a:lnTo>
                  <a:lnTo>
                    <a:pt x="356700" y="75043"/>
                  </a:lnTo>
                  <a:lnTo>
                    <a:pt x="325672" y="44016"/>
                  </a:lnTo>
                  <a:lnTo>
                    <a:pt x="288471" y="20364"/>
                  </a:lnTo>
                  <a:lnTo>
                    <a:pt x="246299" y="5291"/>
                  </a:lnTo>
                  <a:lnTo>
                    <a:pt x="200358" y="0"/>
                  </a:ln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close/>
                </a:path>
              </a:pathLst>
            </a:custGeom>
            <a:noFill/>
            <a:ln w="9525" cap="flat" cmpd="sng">
              <a:solidFill>
                <a:srgbClr val="33FF3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5" name="Google Shape;935;p49"/>
            <p:cNvSpPr/>
            <p:nvPr/>
          </p:nvSpPr>
          <p:spPr>
            <a:xfrm>
              <a:off x="1564159" y="2502747"/>
              <a:ext cx="414020" cy="0"/>
            </a:xfrm>
            <a:custGeom>
              <a:avLst/>
              <a:gdLst/>
              <a:ahLst/>
              <a:cxnLst/>
              <a:rect l="l" t="t" r="r" b="b"/>
              <a:pathLst>
                <a:path w="414019" h="120000" extrusionOk="0">
                  <a:moveTo>
                    <a:pt x="0" y="0"/>
                  </a:moveTo>
                  <a:lnTo>
                    <a:pt x="413771" y="0"/>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6" name="Google Shape;936;p49"/>
            <p:cNvSpPr/>
            <p:nvPr/>
          </p:nvSpPr>
          <p:spPr>
            <a:xfrm>
              <a:off x="1947059" y="2454096"/>
              <a:ext cx="38735" cy="97790"/>
            </a:xfrm>
            <a:custGeom>
              <a:avLst/>
              <a:gdLst/>
              <a:ahLst/>
              <a:cxnLst/>
              <a:rect l="l" t="t" r="r" b="b"/>
              <a:pathLst>
                <a:path w="38735" h="97789" extrusionOk="0">
                  <a:moveTo>
                    <a:pt x="0" y="0"/>
                  </a:moveTo>
                  <a:lnTo>
                    <a:pt x="6755" y="19118"/>
                  </a:lnTo>
                  <a:lnTo>
                    <a:pt x="15950" y="33143"/>
                  </a:lnTo>
                  <a:lnTo>
                    <a:pt x="26786" y="42760"/>
                  </a:lnTo>
                  <a:lnTo>
                    <a:pt x="38464" y="48651"/>
                  </a:lnTo>
                  <a:lnTo>
                    <a:pt x="26786" y="54542"/>
                  </a:lnTo>
                  <a:lnTo>
                    <a:pt x="15950" y="64158"/>
                  </a:lnTo>
                  <a:lnTo>
                    <a:pt x="6755" y="78183"/>
                  </a:lnTo>
                  <a:lnTo>
                    <a:pt x="0" y="97302"/>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37" name="Google Shape;937;p49"/>
          <p:cNvSpPr txBox="1"/>
          <p:nvPr/>
        </p:nvSpPr>
        <p:spPr>
          <a:xfrm>
            <a:off x="1061636" y="1977325"/>
            <a:ext cx="1477010" cy="567055"/>
          </a:xfrm>
          <a:prstGeom prst="rect">
            <a:avLst/>
          </a:prstGeom>
          <a:noFill/>
          <a:ln>
            <a:noFill/>
          </a:ln>
        </p:spPr>
        <p:txBody>
          <a:bodyPr spcFirstLastPara="1" wrap="square" lIns="0" tIns="16500" rIns="0" bIns="0" anchor="t" anchorCtr="0">
            <a:spAutoFit/>
          </a:bodyPr>
          <a:lstStyle/>
          <a:p>
            <a:pPr marL="401320" lvl="0" indent="0" algn="l" rtl="0">
              <a:lnSpc>
                <a:spcPct val="100000"/>
              </a:lnSpc>
              <a:spcBef>
                <a:spcPts val="0"/>
              </a:spcBef>
              <a:spcAft>
                <a:spcPts val="0"/>
              </a:spcAft>
              <a:buNone/>
            </a:pPr>
            <a:r>
              <a:rPr lang="en-US" sz="950" b="1">
                <a:solidFill>
                  <a:srgbClr val="1B1472"/>
                </a:solidFill>
                <a:latin typeface="Arial"/>
                <a:ea typeface="Arial"/>
                <a:cs typeface="Arial"/>
                <a:sym typeface="Arial"/>
              </a:rPr>
              <a:t>4. Learning</a:t>
            </a:r>
            <a:endParaRPr sz="950">
              <a:latin typeface="Arial"/>
              <a:ea typeface="Arial"/>
              <a:cs typeface="Arial"/>
              <a:sym typeface="Arial"/>
            </a:endParaRPr>
          </a:p>
          <a:p>
            <a:pPr marL="0" lvl="0" indent="0" algn="l" rtl="0">
              <a:lnSpc>
                <a:spcPct val="100000"/>
              </a:lnSpc>
              <a:spcBef>
                <a:spcPts val="400"/>
              </a:spcBef>
              <a:spcAft>
                <a:spcPts val="0"/>
              </a:spcAft>
              <a:buNone/>
            </a:pPr>
            <a:endParaRPr sz="950">
              <a:latin typeface="Arial"/>
              <a:ea typeface="Arial"/>
              <a:cs typeface="Arial"/>
              <a:sym typeface="Arial"/>
            </a:endParaRPr>
          </a:p>
          <a:p>
            <a:pPr marL="0" marR="41910" lvl="0" indent="0" algn="ctr" rtl="0">
              <a:lnSpc>
                <a:spcPct val="107500"/>
              </a:lnSpc>
              <a:spcBef>
                <a:spcPts val="0"/>
              </a:spcBef>
              <a:spcAft>
                <a:spcPts val="0"/>
              </a:spcAft>
              <a:buNone/>
            </a:pPr>
            <a:r>
              <a:rPr lang="en-US" sz="800">
                <a:solidFill>
                  <a:srgbClr val="FF4C4C"/>
                </a:solidFill>
                <a:latin typeface="Lucida Sans"/>
                <a:ea typeface="Lucida Sans"/>
                <a:cs typeface="Lucida Sans"/>
                <a:sym typeface="Lucida Sans"/>
              </a:rPr>
              <a:t>—</a:t>
            </a:r>
            <a:r>
              <a:rPr lang="en-US" sz="800" i="1">
                <a:solidFill>
                  <a:srgbClr val="FF4C4C"/>
                </a:solidFill>
                <a:latin typeface="Verdana"/>
                <a:ea typeface="Verdana"/>
                <a:cs typeface="Verdana"/>
                <a:sym typeface="Verdana"/>
              </a:rPr>
              <a:t>η</a:t>
            </a:r>
            <a:r>
              <a:rPr lang="en-US" sz="800">
                <a:solidFill>
                  <a:srgbClr val="FF4C4C"/>
                </a:solidFill>
                <a:latin typeface="Lucida Sans"/>
                <a:ea typeface="Lucida Sans"/>
                <a:cs typeface="Lucida Sans"/>
                <a:sym typeface="Lucida Sans"/>
              </a:rPr>
              <a:t>∇</a:t>
            </a:r>
            <a:r>
              <a:rPr lang="en-US" sz="700" i="1">
                <a:solidFill>
                  <a:srgbClr val="FF4C4C"/>
                </a:solidFill>
                <a:latin typeface="Arial"/>
                <a:ea typeface="Arial"/>
                <a:cs typeface="Arial"/>
                <a:sym typeface="Arial"/>
              </a:rPr>
              <a:t>J</a:t>
            </a:r>
            <a:endParaRPr sz="700">
              <a:latin typeface="Arial"/>
              <a:ea typeface="Arial"/>
              <a:cs typeface="Arial"/>
              <a:sym typeface="Arial"/>
            </a:endParaRPr>
          </a:p>
          <a:p>
            <a:pPr marL="259715" lvl="0" indent="0" algn="l" rtl="0">
              <a:lnSpc>
                <a:spcPct val="70476"/>
              </a:lnSpc>
              <a:spcBef>
                <a:spcPts val="0"/>
              </a:spcBef>
              <a:spcAft>
                <a:spcPts val="0"/>
              </a:spcAft>
              <a:buNone/>
            </a:pP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	</a:t>
            </a: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a:t>
            </a:r>
            <a:r>
              <a:rPr lang="en-US" sz="500">
                <a:latin typeface="Arial"/>
                <a:ea typeface="Arial"/>
                <a:cs typeface="Arial"/>
                <a:sym typeface="Arial"/>
              </a:rPr>
              <a:t>1</a:t>
            </a:r>
            <a:r>
              <a:rPr lang="en-US" sz="600">
                <a:latin typeface="Tahoma"/>
                <a:ea typeface="Tahoma"/>
                <a:cs typeface="Tahoma"/>
                <a:sym typeface="Tahoma"/>
              </a:rPr>
              <a:t>)</a:t>
            </a:r>
            <a:endParaRPr sz="600">
              <a:latin typeface="Tahoma"/>
              <a:ea typeface="Tahoma"/>
              <a:cs typeface="Tahoma"/>
              <a:sym typeface="Tahoma"/>
            </a:endParaRPr>
          </a:p>
        </p:txBody>
      </p:sp>
      <p:grpSp>
        <p:nvGrpSpPr>
          <p:cNvPr id="938" name="Google Shape;938;p49"/>
          <p:cNvGrpSpPr/>
          <p:nvPr/>
        </p:nvGrpSpPr>
        <p:grpSpPr>
          <a:xfrm>
            <a:off x="2525066" y="922336"/>
            <a:ext cx="710510" cy="65405"/>
            <a:chOff x="2525066" y="922336"/>
            <a:chExt cx="710510" cy="65405"/>
          </a:xfrm>
        </p:grpSpPr>
        <p:sp>
          <p:nvSpPr>
            <p:cNvPr id="939" name="Google Shape;939;p49"/>
            <p:cNvSpPr/>
            <p:nvPr/>
          </p:nvSpPr>
          <p:spPr>
            <a:xfrm>
              <a:off x="2525066" y="954727"/>
              <a:ext cx="669925" cy="0"/>
            </a:xfrm>
            <a:custGeom>
              <a:avLst/>
              <a:gdLst/>
              <a:ahLst/>
              <a:cxnLst/>
              <a:rect l="l" t="t" r="r" b="b"/>
              <a:pathLst>
                <a:path w="669925" h="120000" extrusionOk="0">
                  <a:moveTo>
                    <a:pt x="0" y="0"/>
                  </a:moveTo>
                  <a:lnTo>
                    <a:pt x="669397"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0" name="Google Shape;940;p49"/>
            <p:cNvSpPr/>
            <p:nvPr/>
          </p:nvSpPr>
          <p:spPr>
            <a:xfrm>
              <a:off x="3170171" y="922336"/>
              <a:ext cx="65405" cy="65405"/>
            </a:xfrm>
            <a:custGeom>
              <a:avLst/>
              <a:gdLst/>
              <a:ahLst/>
              <a:cxnLst/>
              <a:rect l="l" t="t" r="r" b="b"/>
              <a:pathLst>
                <a:path w="65405" h="65405" extrusionOk="0">
                  <a:moveTo>
                    <a:pt x="0" y="0"/>
                  </a:moveTo>
                  <a:lnTo>
                    <a:pt x="24293" y="32390"/>
                  </a:lnTo>
                  <a:lnTo>
                    <a:pt x="0" y="64781"/>
                  </a:lnTo>
                  <a:lnTo>
                    <a:pt x="64781" y="32390"/>
                  </a:lnTo>
                  <a:lnTo>
                    <a:pt x="0"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1" name="Google Shape;941;p49"/>
          <p:cNvSpPr txBox="1"/>
          <p:nvPr/>
        </p:nvSpPr>
        <p:spPr>
          <a:xfrm>
            <a:off x="2717495" y="796301"/>
            <a:ext cx="325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forward</a:t>
            </a:r>
            <a:endParaRPr sz="700">
              <a:latin typeface="Arial"/>
              <a:ea typeface="Arial"/>
              <a:cs typeface="Arial"/>
              <a:sym typeface="Arial"/>
            </a:endParaRPr>
          </a:p>
        </p:txBody>
      </p:sp>
      <p:grpSp>
        <p:nvGrpSpPr>
          <p:cNvPr id="942" name="Google Shape;942;p49"/>
          <p:cNvGrpSpPr/>
          <p:nvPr/>
        </p:nvGrpSpPr>
        <p:grpSpPr>
          <a:xfrm>
            <a:off x="3927632" y="1409794"/>
            <a:ext cx="65405" cy="530507"/>
            <a:chOff x="3927632" y="1409794"/>
            <a:chExt cx="65405" cy="530507"/>
          </a:xfrm>
        </p:grpSpPr>
        <p:sp>
          <p:nvSpPr>
            <p:cNvPr id="943" name="Google Shape;943;p49"/>
            <p:cNvSpPr/>
            <p:nvPr/>
          </p:nvSpPr>
          <p:spPr>
            <a:xfrm>
              <a:off x="3960023" y="1409794"/>
              <a:ext cx="0" cy="489584"/>
            </a:xfrm>
            <a:custGeom>
              <a:avLst/>
              <a:gdLst/>
              <a:ahLst/>
              <a:cxnLst/>
              <a:rect l="l" t="t" r="r" b="b"/>
              <a:pathLst>
                <a:path w="120000" h="489585" extrusionOk="0">
                  <a:moveTo>
                    <a:pt x="0" y="0"/>
                  </a:moveTo>
                  <a:lnTo>
                    <a:pt x="0" y="489395"/>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4" name="Google Shape;944;p49"/>
            <p:cNvSpPr/>
            <p:nvPr/>
          </p:nvSpPr>
          <p:spPr>
            <a:xfrm>
              <a:off x="3927632" y="1874896"/>
              <a:ext cx="65405" cy="65405"/>
            </a:xfrm>
            <a:custGeom>
              <a:avLst/>
              <a:gdLst/>
              <a:ahLst/>
              <a:cxnLst/>
              <a:rect l="l" t="t" r="r" b="b"/>
              <a:pathLst>
                <a:path w="65404" h="65405" extrusionOk="0">
                  <a:moveTo>
                    <a:pt x="64781" y="0"/>
                  </a:moveTo>
                  <a:lnTo>
                    <a:pt x="32390" y="24293"/>
                  </a:lnTo>
                  <a:lnTo>
                    <a:pt x="0" y="0"/>
                  </a:lnTo>
                  <a:lnTo>
                    <a:pt x="32390" y="64781"/>
                  </a:lnTo>
                  <a:lnTo>
                    <a:pt x="64781"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5" name="Google Shape;945;p49"/>
          <p:cNvSpPr txBox="1"/>
          <p:nvPr/>
        </p:nvSpPr>
        <p:spPr>
          <a:xfrm>
            <a:off x="4000436" y="1591905"/>
            <a:ext cx="375285"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compute</a:t>
            </a:r>
            <a:endParaRPr sz="700">
              <a:latin typeface="Arial"/>
              <a:ea typeface="Arial"/>
              <a:cs typeface="Arial"/>
              <a:sym typeface="Arial"/>
            </a:endParaRPr>
          </a:p>
        </p:txBody>
      </p:sp>
      <p:grpSp>
        <p:nvGrpSpPr>
          <p:cNvPr id="946" name="Google Shape;946;p49"/>
          <p:cNvGrpSpPr/>
          <p:nvPr/>
        </p:nvGrpSpPr>
        <p:grpSpPr>
          <a:xfrm>
            <a:off x="2525066" y="2362354"/>
            <a:ext cx="710414" cy="65405"/>
            <a:chOff x="2525066" y="2362354"/>
            <a:chExt cx="710414" cy="65405"/>
          </a:xfrm>
        </p:grpSpPr>
        <p:sp>
          <p:nvSpPr>
            <p:cNvPr id="947" name="Google Shape;947;p49"/>
            <p:cNvSpPr/>
            <p:nvPr/>
          </p:nvSpPr>
          <p:spPr>
            <a:xfrm>
              <a:off x="2565555" y="2394745"/>
              <a:ext cx="669925" cy="0"/>
            </a:xfrm>
            <a:custGeom>
              <a:avLst/>
              <a:gdLst/>
              <a:ahLst/>
              <a:cxnLst/>
              <a:rect l="l" t="t" r="r" b="b"/>
              <a:pathLst>
                <a:path w="669925" h="120000" extrusionOk="0">
                  <a:moveTo>
                    <a:pt x="669397" y="0"/>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8" name="Google Shape;948;p49"/>
            <p:cNvSpPr/>
            <p:nvPr/>
          </p:nvSpPr>
          <p:spPr>
            <a:xfrm>
              <a:off x="2525066" y="2362354"/>
              <a:ext cx="65405" cy="65405"/>
            </a:xfrm>
            <a:custGeom>
              <a:avLst/>
              <a:gdLst/>
              <a:ahLst/>
              <a:cxnLst/>
              <a:rect l="l" t="t" r="r" b="b"/>
              <a:pathLst>
                <a:path w="65405" h="65405" extrusionOk="0">
                  <a:moveTo>
                    <a:pt x="64781" y="64781"/>
                  </a:moveTo>
                  <a:lnTo>
                    <a:pt x="40488" y="32390"/>
                  </a:lnTo>
                  <a:lnTo>
                    <a:pt x="64781" y="0"/>
                  </a:lnTo>
                  <a:lnTo>
                    <a:pt x="0" y="32390"/>
                  </a:lnTo>
                  <a:lnTo>
                    <a:pt x="64781"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9" name="Google Shape;949;p49"/>
          <p:cNvSpPr txBox="1"/>
          <p:nvPr/>
        </p:nvSpPr>
        <p:spPr>
          <a:xfrm>
            <a:off x="2703639" y="2409887"/>
            <a:ext cx="35306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gradient</a:t>
            </a:r>
            <a:endParaRPr sz="700">
              <a:latin typeface="Arial"/>
              <a:ea typeface="Arial"/>
              <a:cs typeface="Arial"/>
              <a:sym typeface="Arial"/>
            </a:endParaRPr>
          </a:p>
        </p:txBody>
      </p:sp>
      <p:grpSp>
        <p:nvGrpSpPr>
          <p:cNvPr id="950" name="Google Shape;950;p49"/>
          <p:cNvGrpSpPr/>
          <p:nvPr/>
        </p:nvGrpSpPr>
        <p:grpSpPr>
          <a:xfrm>
            <a:off x="1767605" y="1409794"/>
            <a:ext cx="65405" cy="530072"/>
            <a:chOff x="1767605" y="1409794"/>
            <a:chExt cx="65405" cy="530072"/>
          </a:xfrm>
        </p:grpSpPr>
        <p:sp>
          <p:nvSpPr>
            <p:cNvPr id="951" name="Google Shape;951;p49"/>
            <p:cNvSpPr/>
            <p:nvPr/>
          </p:nvSpPr>
          <p:spPr>
            <a:xfrm>
              <a:off x="1799996" y="1450282"/>
              <a:ext cx="0" cy="489584"/>
            </a:xfrm>
            <a:custGeom>
              <a:avLst/>
              <a:gdLst/>
              <a:ahLst/>
              <a:cxnLst/>
              <a:rect l="l" t="t" r="r" b="b"/>
              <a:pathLst>
                <a:path w="120000" h="489585" extrusionOk="0">
                  <a:moveTo>
                    <a:pt x="0" y="489395"/>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2" name="Google Shape;952;p49"/>
            <p:cNvSpPr/>
            <p:nvPr/>
          </p:nvSpPr>
          <p:spPr>
            <a:xfrm>
              <a:off x="1767605" y="1409794"/>
              <a:ext cx="65405" cy="65405"/>
            </a:xfrm>
            <a:custGeom>
              <a:avLst/>
              <a:gdLst/>
              <a:ahLst/>
              <a:cxnLst/>
              <a:rect l="l" t="t" r="r" b="b"/>
              <a:pathLst>
                <a:path w="65405" h="65405" extrusionOk="0">
                  <a:moveTo>
                    <a:pt x="0" y="64781"/>
                  </a:moveTo>
                  <a:lnTo>
                    <a:pt x="32390" y="40488"/>
                  </a:lnTo>
                  <a:lnTo>
                    <a:pt x="64781" y="64781"/>
                  </a:lnTo>
                  <a:lnTo>
                    <a:pt x="32390" y="0"/>
                  </a:lnTo>
                  <a:lnTo>
                    <a:pt x="0"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3" name="Google Shape;953;p49"/>
          <p:cNvSpPr txBox="1"/>
          <p:nvPr/>
        </p:nvSpPr>
        <p:spPr>
          <a:xfrm>
            <a:off x="1481924" y="1603094"/>
            <a:ext cx="27813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iterate</a:t>
            </a:r>
            <a:endParaRPr sz="700">
              <a:latin typeface="Arial"/>
              <a:ea typeface="Arial"/>
              <a:cs typeface="Arial"/>
              <a:sym typeface="Arial"/>
            </a:endParaRPr>
          </a:p>
        </p:txBody>
      </p:sp>
      <p:sp>
        <p:nvSpPr>
          <p:cNvPr id="954" name="Google Shape;954;p49"/>
          <p:cNvSpPr txBox="1"/>
          <p:nvPr/>
        </p:nvSpPr>
        <p:spPr>
          <a:xfrm>
            <a:off x="601776" y="2884473"/>
            <a:ext cx="454914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i="1">
                <a:latin typeface="Arial"/>
                <a:ea typeface="Arial"/>
                <a:cs typeface="Arial"/>
                <a:sym typeface="Arial"/>
              </a:rPr>
              <a:t>This framework extends to more complex models: neural networks, deep learning!</a:t>
            </a:r>
            <a:endParaRPr sz="950">
              <a:latin typeface="Arial"/>
              <a:ea typeface="Arial"/>
              <a:cs typeface="Arial"/>
              <a:sym typeface="Arial"/>
            </a:endParaRPr>
          </a:p>
        </p:txBody>
      </p:sp>
      <p:grpSp>
        <p:nvGrpSpPr>
          <p:cNvPr id="955" name="Google Shape;955;p49"/>
          <p:cNvGrpSpPr/>
          <p:nvPr/>
        </p:nvGrpSpPr>
        <p:grpSpPr>
          <a:xfrm>
            <a:off x="0" y="3109250"/>
            <a:ext cx="5760261" cy="92075"/>
            <a:chOff x="0" y="3109250"/>
            <a:chExt cx="5760261" cy="92075"/>
          </a:xfrm>
        </p:grpSpPr>
        <p:sp>
          <p:nvSpPr>
            <p:cNvPr id="956" name="Google Shape;956;p4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7" name="Google Shape;957;p4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8" name="Google Shape;958;p4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9" name="Google Shape;959;p4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60" name="Google Shape;960;p4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961" name="Google Shape;961;p4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46</a:t>
            </a:r>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5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K</a:t>
            </a:r>
            <a:r>
              <a:rPr lang="en-US" cap="small">
                <a:solidFill>
                  <a:srgbClr val="FFFFFF"/>
                </a:solidFill>
              </a:rPr>
              <a:t>ey</a:t>
            </a:r>
            <a:r>
              <a:rPr lang="en-US">
                <a:solidFill>
                  <a:srgbClr val="FFFFFF"/>
                </a:solidFill>
              </a:rPr>
              <a:t> T</a:t>
            </a:r>
            <a:r>
              <a:rPr lang="en-US" cap="small">
                <a:solidFill>
                  <a:srgbClr val="FFFFFF"/>
                </a:solidFill>
              </a:rPr>
              <a:t>akeaways</a:t>
            </a:r>
            <a:endParaRPr/>
          </a:p>
        </p:txBody>
      </p:sp>
      <p:grpSp>
        <p:nvGrpSpPr>
          <p:cNvPr id="967" name="Google Shape;967;p50"/>
          <p:cNvGrpSpPr/>
          <p:nvPr/>
        </p:nvGrpSpPr>
        <p:grpSpPr>
          <a:xfrm>
            <a:off x="0" y="3109250"/>
            <a:ext cx="5760261" cy="92075"/>
            <a:chOff x="0" y="3109250"/>
            <a:chExt cx="5760261" cy="92075"/>
          </a:xfrm>
        </p:grpSpPr>
        <p:sp>
          <p:nvSpPr>
            <p:cNvPr id="968" name="Google Shape;968;p5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9" name="Google Shape;969;p5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0" name="Google Shape;970;p5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71" name="Google Shape;971;p5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72" name="Google Shape;972;p5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973" name="Google Shape;973;p5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46</a:t>
            </a:r>
            <a:endParaRPr/>
          </a:p>
        </p:txBody>
      </p:sp>
      <p:pic>
        <p:nvPicPr>
          <p:cNvPr id="974" name="Google Shape;974;p50"/>
          <p:cNvPicPr preferRelativeResize="0"/>
          <p:nvPr/>
        </p:nvPicPr>
        <p:blipFill>
          <a:blip r:embed="rId4">
            <a:alphaModFix/>
          </a:blip>
          <a:stretch>
            <a:fillRect/>
          </a:stretch>
        </p:blipFill>
        <p:spPr>
          <a:xfrm>
            <a:off x="152400" y="550235"/>
            <a:ext cx="5461002" cy="2285195"/>
          </a:xfrm>
          <a:prstGeom prst="rect">
            <a:avLst/>
          </a:prstGeom>
          <a:noFill/>
          <a:ln>
            <a:noFill/>
          </a:ln>
        </p:spPr>
      </p:pic>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991"/>
        <p:cNvGrpSpPr/>
        <p:nvPr/>
      </p:nvGrpSpPr>
      <p:grpSpPr>
        <a:xfrm>
          <a:off x="0" y="0"/>
          <a:ext cx="0" cy="0"/>
          <a:chOff x="0" y="0"/>
          <a:chExt cx="0" cy="0"/>
        </a:xfrm>
      </p:grpSpPr>
      <p:pic>
        <p:nvPicPr>
          <p:cNvPr id="992" name="Google Shape;992;p52"/>
          <p:cNvPicPr preferRelativeResize="0"/>
          <p:nvPr/>
        </p:nvPicPr>
        <p:blipFill rotWithShape="1">
          <a:blip r:embed="rId3">
            <a:alphaModFix/>
          </a:blip>
          <a:srcRect/>
          <a:stretch/>
        </p:blipFill>
        <p:spPr>
          <a:xfrm>
            <a:off x="0" y="7"/>
            <a:ext cx="5759865" cy="3239902"/>
          </a:xfrm>
          <a:prstGeom prst="rect">
            <a:avLst/>
          </a:prstGeom>
          <a:noFill/>
          <a:ln>
            <a:noFill/>
          </a:ln>
        </p:spPr>
      </p:pic>
      <p:sp>
        <p:nvSpPr>
          <p:cNvPr id="993" name="Google Shape;993;p5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94" name="Google Shape;994;p5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995" name="Google Shape;995;p5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27</a:t>
            </a:fld>
            <a:r>
              <a:rPr lang="en-US"/>
              <a:t> / 46</a:t>
            </a:r>
            <a:endParaRPr/>
          </a:p>
        </p:txBody>
      </p:sp>
      <p:pic>
        <p:nvPicPr>
          <p:cNvPr id="996" name="Google Shape;996;p52"/>
          <p:cNvPicPr preferRelativeResize="0"/>
          <p:nvPr/>
        </p:nvPicPr>
        <p:blipFill>
          <a:blip r:embed="rId5">
            <a:alphaModFix/>
          </a:blip>
          <a:stretch>
            <a:fillRect/>
          </a:stretch>
        </p:blipFill>
        <p:spPr>
          <a:xfrm>
            <a:off x="0" y="39089"/>
            <a:ext cx="5765801" cy="3003960"/>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3247868A9EF043AAFD763B509A33CB" ma:contentTypeVersion="32" ma:contentTypeDescription="Create a new document." ma:contentTypeScope="" ma:versionID="49e29cc773250fb22efa7541fc8a4712">
  <xsd:schema xmlns:xsd="http://www.w3.org/2001/XMLSchema" xmlns:xs="http://www.w3.org/2001/XMLSchema" xmlns:p="http://schemas.microsoft.com/office/2006/metadata/properties" xmlns:ns2="921d7e3d-ccf6-4c0a-83b2-6e8132303dda" xmlns:ns3="9e209dda-a78e-49a0-9b2f-f7ca81c34b7c" targetNamespace="http://schemas.microsoft.com/office/2006/metadata/properties" ma:root="true" ma:fieldsID="8e323d0c1f05f1d80d7a271d7d64525c" ns2:_="" ns3:_="">
    <xsd:import namespace="921d7e3d-ccf6-4c0a-83b2-6e8132303dda"/>
    <xsd:import namespace="9e209dda-a78e-49a0-9b2f-f7ca81c34b7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1d7e3d-ccf6-4c0a-83b2-6e8132303dda"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e209dda-a78e-49a0-9b2f-f7ca81c34b7c"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0018add-e23d-4441-b071-bb6fc52e56ca}" ma:internalName="TaxCatchAll" ma:showField="CatchAllData" ma:web="9e209dda-a78e-49a0-9b2f-f7ca81c34b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lf_Registration_Enabled xmlns="921d7e3d-ccf6-4c0a-83b2-6e8132303dda" xsi:nil="true"/>
    <DefaultSectionNames xmlns="921d7e3d-ccf6-4c0a-83b2-6e8132303dda" xsi:nil="true"/>
    <Is_Collaboration_Space_Locked xmlns="921d7e3d-ccf6-4c0a-83b2-6e8132303dda" xsi:nil="true"/>
    <Teams_Channel_Section_Location xmlns="921d7e3d-ccf6-4c0a-83b2-6e8132303dda" xsi:nil="true"/>
    <AppVersion xmlns="921d7e3d-ccf6-4c0a-83b2-6e8132303dda" xsi:nil="true"/>
    <LMS_Mappings xmlns="921d7e3d-ccf6-4c0a-83b2-6e8132303dda" xsi:nil="true"/>
    <Invited_Students xmlns="921d7e3d-ccf6-4c0a-83b2-6e8132303dda" xsi:nil="true"/>
    <Math_Settings xmlns="921d7e3d-ccf6-4c0a-83b2-6e8132303dda" xsi:nil="true"/>
    <Templates xmlns="921d7e3d-ccf6-4c0a-83b2-6e8132303dda" xsi:nil="true"/>
    <FolderType xmlns="921d7e3d-ccf6-4c0a-83b2-6e8132303dda" xsi:nil="true"/>
    <Owner xmlns="921d7e3d-ccf6-4c0a-83b2-6e8132303dda">
      <UserInfo>
        <DisplayName/>
        <AccountId xsi:nil="true"/>
        <AccountType/>
      </UserInfo>
    </Owner>
    <Teachers xmlns="921d7e3d-ccf6-4c0a-83b2-6e8132303dda">
      <UserInfo>
        <DisplayName/>
        <AccountId xsi:nil="true"/>
        <AccountType/>
      </UserInfo>
    </Teachers>
    <Students xmlns="921d7e3d-ccf6-4c0a-83b2-6e8132303dda">
      <UserInfo>
        <DisplayName/>
        <AccountId xsi:nil="true"/>
        <AccountType/>
      </UserInfo>
    </Students>
    <Student_Groups xmlns="921d7e3d-ccf6-4c0a-83b2-6e8132303dda">
      <UserInfo>
        <DisplayName/>
        <AccountId xsi:nil="true"/>
        <AccountType/>
      </UserInfo>
    </Student_Groups>
    <Distribution_Groups xmlns="921d7e3d-ccf6-4c0a-83b2-6e8132303dda" xsi:nil="true"/>
    <TeamsChannelId xmlns="921d7e3d-ccf6-4c0a-83b2-6e8132303dda" xsi:nil="true"/>
    <IsNotebookLocked xmlns="921d7e3d-ccf6-4c0a-83b2-6e8132303dda" xsi:nil="true"/>
    <NotebookType xmlns="921d7e3d-ccf6-4c0a-83b2-6e8132303dda" xsi:nil="true"/>
    <CultureName xmlns="921d7e3d-ccf6-4c0a-83b2-6e8132303dda" xsi:nil="true"/>
    <Invited_Teachers xmlns="921d7e3d-ccf6-4c0a-83b2-6e8132303dda" xsi:nil="true"/>
    <Has_Teacher_Only_SectionGroup xmlns="921d7e3d-ccf6-4c0a-83b2-6e8132303dda" xsi:nil="true"/>
    <lcf76f155ced4ddcb4097134ff3c332f xmlns="921d7e3d-ccf6-4c0a-83b2-6e8132303dda">
      <Terms xmlns="http://schemas.microsoft.com/office/infopath/2007/PartnerControls"/>
    </lcf76f155ced4ddcb4097134ff3c332f>
    <TaxCatchAll xmlns="9e209dda-a78e-49a0-9b2f-f7ca81c34b7c" xsi:nil="true"/>
  </documentManagement>
</p:properties>
</file>

<file path=customXml/itemProps1.xml><?xml version="1.0" encoding="utf-8"?>
<ds:datastoreItem xmlns:ds="http://schemas.openxmlformats.org/officeDocument/2006/customXml" ds:itemID="{1C396A68-653B-4419-B744-E5784030405E}"/>
</file>

<file path=customXml/itemProps2.xml><?xml version="1.0" encoding="utf-8"?>
<ds:datastoreItem xmlns:ds="http://schemas.openxmlformats.org/officeDocument/2006/customXml" ds:itemID="{00D286FE-5A22-4903-9C30-BAE9960CCCB9}"/>
</file>

<file path=customXml/itemProps3.xml><?xml version="1.0" encoding="utf-8"?>
<ds:datastoreItem xmlns:ds="http://schemas.openxmlformats.org/officeDocument/2006/customXml" ds:itemID="{6F215A8E-7F7D-40EA-BE7F-252B551E57EA}"/>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143</TotalTime>
  <Words>2204</Words>
  <Application>Microsoft Office PowerPoint</Application>
  <PresentationFormat>Custom</PresentationFormat>
  <Paragraphs>330</Paragraphs>
  <Slides>27</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Verdana</vt:lpstr>
      <vt:lpstr>Cambria Math</vt:lpstr>
      <vt:lpstr>Calibri</vt:lpstr>
      <vt:lpstr>Tahoma</vt:lpstr>
      <vt:lpstr>Segoe UI</vt:lpstr>
      <vt:lpstr>Cambria</vt:lpstr>
      <vt:lpstr>Georgia</vt:lpstr>
      <vt:lpstr>Arial</vt:lpstr>
      <vt:lpstr>Lucida Sans</vt:lpstr>
      <vt:lpstr>Office Theme</vt:lpstr>
      <vt:lpstr>PowerPoint Presentation</vt:lpstr>
      <vt:lpstr>PowerPoint Presentation</vt:lpstr>
      <vt:lpstr>Table of Contents</vt:lpstr>
      <vt:lpstr>Table of Contents</vt:lpstr>
      <vt:lpstr>Numerical Example: Setup</vt:lpstr>
      <vt:lpstr>Numerical Example: Initialization</vt:lpstr>
      <vt:lpstr>PowerPoint Presentation</vt:lpstr>
      <vt:lpstr>Numerical Example: Computing Gradient</vt:lpstr>
      <vt:lpstr>Numerical Example: Weight Update</vt:lpstr>
      <vt:lpstr>Numerical Example: New Loss</vt:lpstr>
      <vt:lpstr>Table of Contents</vt:lpstr>
      <vt:lpstr>Model Evaluation: Training vs Test Error</vt:lpstr>
      <vt:lpstr>Evaluation Metrics</vt:lpstr>
      <vt:lpstr>R2 Score (Coefficient of Determination)</vt:lpstr>
      <vt:lpstr>Table of Contents</vt:lpstr>
      <vt:lpstr>Perceptron Demo Python Code</vt:lpstr>
      <vt:lpstr>Table of Contents</vt:lpstr>
      <vt:lpstr>Tips for Implementation</vt:lpstr>
      <vt:lpstr>More Practical Tips</vt:lpstr>
      <vt:lpstr>PowerPoint Presentation</vt:lpstr>
      <vt:lpstr>PowerPoint Presentation</vt:lpstr>
      <vt:lpstr>PowerPoint Presentation</vt:lpstr>
      <vt:lpstr>Debugging Checklist</vt:lpstr>
      <vt:lpstr>Table of Contents</vt:lpstr>
      <vt:lpstr>Summary: Putting It All Together</vt:lpstr>
      <vt:lpstr>Key Takeaways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Aakash Goel (DSAI)</cp:lastModifiedBy>
  <cp:revision>20</cp:revision>
  <dcterms:modified xsi:type="dcterms:W3CDTF">2026-02-27T12:21:06Z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0x010100483247868A9EF043AAFD763B509A33CB</vt:lpwstr>
  </property>
</Properties>
</file>